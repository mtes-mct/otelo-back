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omments/comment2.xml" ContentType="application/vnd.openxmlformats-officedocument.presentationml.comment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omments/comment3.xml" ContentType="application/vnd.openxmlformats-officedocument.presentationml.comments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7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uc bercegol" initials="" lastIdx="1" clrIdx="0"/>
  <p:cmAuthor id="1" name="Kévin Gallet" initials="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782ED91-6AAA-4FC9-A8D7-22FAF3BB82A8}">
  <a:tblStyle styleId="{8782ED91-6AAA-4FC9-A8D7-22FAF3BB82A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759"/>
    <p:restoredTop sz="94687"/>
  </p:normalViewPr>
  <p:slideViewPr>
    <p:cSldViewPr snapToGrid="0">
      <p:cViewPr varScale="1">
        <p:scale>
          <a:sx n="193" d="100"/>
          <a:sy n="193" d="100"/>
        </p:scale>
        <p:origin x="208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5-10-07T22:38:16.276" idx="1">
    <p:pos x="6000" y="0"/>
    <p:text>Comparer les projections des scenarios - potentiellement scenario bas-décélaration // haut-accélération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10-07T13:33:33.704" idx="1">
    <p:pos x="6000" y="0"/>
    <p:text>Reprendre les paramétrage des scenarios choisis</p:tex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10-07T13:54:53.338" idx="2">
    <p:pos x="6000" y="0"/>
    <p:text>Phase 3 à mettre que si elle existe (en fonction de l'horizon de projection)</p:tex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" b="0" i="0" u="none" strike="noStrike" cap="none"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44fd065450_0_3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g344fd065450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44fd065450_1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g344fd065450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44fd065450_1_7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g344fd065450_1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44fd065450_1_27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g344fd065450_1_2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44fd065450_1_5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g344fd065450_1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851d7b12f9_2_8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g3851d7b12f9_2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851d7b12f9_2_8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g3851d7b12f9_2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851d7b12f9_2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851d7b12f9_2_10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44fd065450_1_16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g344fd065450_1_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44fd065450_1_24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g344fd065450_1_2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851d7b12f9_2_12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g3851d7b12f9_2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44fd065450_1_27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g344fd065450_1_2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44fd065450_1_14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g344fd065450_1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44fd065450_1_41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g344fd065450_1_4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44fd065450_1_48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g344fd065450_1_4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44fd065450_1_29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g344fd065450_1_2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44fd065450_1_28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g344fd065450_1_2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44fd065450_1_36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g344fd065450_1_3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44fd065450_1_35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g344fd065450_1_3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44fd065450_1_61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g344fd065450_1_6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44fd065450_1_62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g344fd065450_1_6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44fd065450_1_54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g344fd065450_1_5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44fd065450_1_49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g344fd065450_1_4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44fd065450_1_52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g344fd065450_1_5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44fd065450_1_57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g344fd065450_1_5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44fd065450_1_56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g344fd065450_1_5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724eb1bdc4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g3724eb1bdc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851d7b12f9_2_7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g3851d7b12f9_2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0" type="tx">
  <p:cSld name="TITLE_AND_BODY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8559801" y="4783454"/>
            <a:ext cx="127001" cy="12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" name="Google Shape;11;p2" title="otelo-logo-hd-alternative1.png"/>
          <p:cNvPicPr preferRelativeResize="0"/>
          <p:nvPr/>
        </p:nvPicPr>
        <p:blipFill rotWithShape="1">
          <a:blip r:embed="rId2">
            <a:alphaModFix/>
          </a:blip>
          <a:srcRect l="7214" t="26251" r="6078" b="34857"/>
          <a:stretch/>
        </p:blipFill>
        <p:spPr>
          <a:xfrm>
            <a:off x="113825" y="4733400"/>
            <a:ext cx="1830635" cy="23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0 1">
  <p:cSld name="TITLE_AND_BODY_1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body" idx="1"/>
          </p:nvPr>
        </p:nvSpPr>
        <p:spPr>
          <a:xfrm>
            <a:off x="2709800" y="1384950"/>
            <a:ext cx="51252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8559801" y="4783454"/>
            <a:ext cx="1269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5" name="Google Shape;15;p3"/>
          <p:cNvCxnSpPr/>
          <p:nvPr/>
        </p:nvCxnSpPr>
        <p:spPr>
          <a:xfrm>
            <a:off x="2065183" y="0"/>
            <a:ext cx="0" cy="5141700"/>
          </a:xfrm>
          <a:prstGeom prst="straightConnector1">
            <a:avLst/>
          </a:prstGeom>
          <a:noFill/>
          <a:ln w="127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6" name="Google Shape;16;p3" title="otelo-logo-hd-alternative1.png"/>
          <p:cNvPicPr preferRelativeResize="0"/>
          <p:nvPr/>
        </p:nvPicPr>
        <p:blipFill rotWithShape="1">
          <a:blip r:embed="rId2">
            <a:alphaModFix/>
          </a:blip>
          <a:srcRect l="7214" t="26251" r="6078" b="34857"/>
          <a:stretch/>
        </p:blipFill>
        <p:spPr>
          <a:xfrm>
            <a:off x="113825" y="4733400"/>
            <a:ext cx="1830635" cy="23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825" y="62804"/>
            <a:ext cx="1037625" cy="951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" name="Google Shape;18;p3"/>
          <p:cNvGrpSpPr/>
          <p:nvPr/>
        </p:nvGrpSpPr>
        <p:grpSpPr>
          <a:xfrm>
            <a:off x="113825" y="1080753"/>
            <a:ext cx="1122300" cy="839400"/>
            <a:chOff x="235775" y="4026900"/>
            <a:chExt cx="1122300" cy="839400"/>
          </a:xfrm>
        </p:grpSpPr>
        <p:sp>
          <p:nvSpPr>
            <p:cNvPr id="19" name="Google Shape;19;p3"/>
            <p:cNvSpPr/>
            <p:nvPr/>
          </p:nvSpPr>
          <p:spPr>
            <a:xfrm>
              <a:off x="235775" y="4026900"/>
              <a:ext cx="1122300" cy="8394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rgbClr val="06009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0" name="Google Shape;20;p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44008" y="4518538"/>
              <a:ext cx="936893" cy="27316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21;p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20604" y="4178039"/>
              <a:ext cx="423606" cy="14413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" name="Google Shape;22;p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44000" y="4055487"/>
              <a:ext cx="389260" cy="38926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0 1 2">
  <p:cSld name="TITLE_AND_BODY_1_2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559801" y="4783454"/>
            <a:ext cx="1269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5" name="Google Shape;25;p4"/>
          <p:cNvCxnSpPr/>
          <p:nvPr/>
        </p:nvCxnSpPr>
        <p:spPr>
          <a:xfrm>
            <a:off x="2065183" y="0"/>
            <a:ext cx="0" cy="5141700"/>
          </a:xfrm>
          <a:prstGeom prst="straightConnector1">
            <a:avLst/>
          </a:prstGeom>
          <a:noFill/>
          <a:ln w="127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6" name="Google Shape;26;p4" descr="Kit logo Cerema | Cerema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571" y="181873"/>
            <a:ext cx="859174" cy="25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 title="otelo-logo-hd-alternative1.png"/>
          <p:cNvPicPr preferRelativeResize="0"/>
          <p:nvPr/>
        </p:nvPicPr>
        <p:blipFill rotWithShape="1">
          <a:blip r:embed="rId3">
            <a:alphaModFix/>
          </a:blip>
          <a:srcRect l="7214" t="26251" r="6078" b="34857"/>
          <a:stretch/>
        </p:blipFill>
        <p:spPr>
          <a:xfrm>
            <a:off x="113825" y="4733400"/>
            <a:ext cx="1830635" cy="23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559801" y="4783454"/>
            <a:ext cx="127001" cy="12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2"/>
        </a:solid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body" idx="1"/>
          </p:nvPr>
        </p:nvSpPr>
        <p:spPr>
          <a:xfrm>
            <a:off x="4927125" y="1088825"/>
            <a:ext cx="3632700" cy="25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cxnSp>
        <p:nvCxnSpPr>
          <p:cNvPr id="32" name="Google Shape;32;p6"/>
          <p:cNvCxnSpPr/>
          <p:nvPr/>
        </p:nvCxnSpPr>
        <p:spPr>
          <a:xfrm rot="10800000">
            <a:off x="4432666" y="1104846"/>
            <a:ext cx="0" cy="2590800"/>
          </a:xfrm>
          <a:prstGeom prst="straightConnector1">
            <a:avLst/>
          </a:prstGeom>
          <a:noFill/>
          <a:ln w="12700" cap="flat" cmpd="sng">
            <a:solidFill>
              <a:schemeClr val="lt1">
                <a:alpha val="36860"/>
              </a:scheme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3" name="Google Shape;33;p6"/>
          <p:cNvSpPr txBox="1">
            <a:spLocks noGrp="1"/>
          </p:cNvSpPr>
          <p:nvPr>
            <p:ph type="title"/>
          </p:nvPr>
        </p:nvSpPr>
        <p:spPr>
          <a:xfrm>
            <a:off x="1646300" y="1088825"/>
            <a:ext cx="2225100" cy="25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900"/>
              <a:buFont typeface="Arial"/>
              <a:buNone/>
              <a:defRPr sz="49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sldNum" idx="12"/>
          </p:nvPr>
        </p:nvSpPr>
        <p:spPr>
          <a:xfrm>
            <a:off x="8559801" y="4783454"/>
            <a:ext cx="126900" cy="1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5" name="Google Shape;35;p6" title="otelo-logo-hd-alternative1.png"/>
          <p:cNvPicPr preferRelativeResize="0"/>
          <p:nvPr/>
        </p:nvPicPr>
        <p:blipFill rotWithShape="1">
          <a:blip r:embed="rId2">
            <a:alphaModFix/>
          </a:blip>
          <a:srcRect l="7214" t="26251" r="6078" b="34857"/>
          <a:stretch/>
        </p:blipFill>
        <p:spPr>
          <a:xfrm>
            <a:off x="113825" y="4733400"/>
            <a:ext cx="1830635" cy="23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0 1 1">
  <p:cSld name="TITLE_AND_BODY_1_1">
    <p:bg>
      <p:bgPr>
        <a:solidFill>
          <a:schemeClr val="dk2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20562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2709800" y="2344050"/>
            <a:ext cx="5277600" cy="4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ldNum" idx="12"/>
          </p:nvPr>
        </p:nvSpPr>
        <p:spPr>
          <a:xfrm>
            <a:off x="8559801" y="4783454"/>
            <a:ext cx="1269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0" name="Google Shape;40;p7" title="otelo-logo-hd-alternative1.png"/>
          <p:cNvPicPr preferRelativeResize="0"/>
          <p:nvPr/>
        </p:nvPicPr>
        <p:blipFill rotWithShape="1">
          <a:blip r:embed="rId2">
            <a:alphaModFix/>
          </a:blip>
          <a:srcRect l="7214" t="26251" r="6078" b="34857"/>
          <a:stretch/>
        </p:blipFill>
        <p:spPr>
          <a:xfrm>
            <a:off x="113825" y="4733400"/>
            <a:ext cx="1830635" cy="23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825" y="62804"/>
            <a:ext cx="1037625" cy="951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" name="Google Shape;42;p7"/>
          <p:cNvGrpSpPr/>
          <p:nvPr/>
        </p:nvGrpSpPr>
        <p:grpSpPr>
          <a:xfrm>
            <a:off x="113825" y="1080753"/>
            <a:ext cx="1122300" cy="839400"/>
            <a:chOff x="235775" y="4026900"/>
            <a:chExt cx="1122300" cy="839400"/>
          </a:xfrm>
        </p:grpSpPr>
        <p:sp>
          <p:nvSpPr>
            <p:cNvPr id="43" name="Google Shape;43;p7"/>
            <p:cNvSpPr/>
            <p:nvPr/>
          </p:nvSpPr>
          <p:spPr>
            <a:xfrm>
              <a:off x="235775" y="4026900"/>
              <a:ext cx="1122300" cy="8394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rgbClr val="06009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44" name="Google Shape;44;p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44008" y="4518538"/>
              <a:ext cx="936893" cy="27316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" name="Google Shape;45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20604" y="4178039"/>
              <a:ext cx="423606" cy="14413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" name="Google Shape;46;p7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44000" y="4055487"/>
              <a:ext cx="389260" cy="38926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8"/>
          <p:cNvSpPr txBox="1">
            <a:spLocks noGrp="1"/>
          </p:cNvSpPr>
          <p:nvPr>
            <p:ph type="title"/>
          </p:nvPr>
        </p:nvSpPr>
        <p:spPr>
          <a:xfrm>
            <a:off x="457200" y="205741"/>
            <a:ext cx="8229600" cy="2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body" idx="1"/>
          </p:nvPr>
        </p:nvSpPr>
        <p:spPr>
          <a:xfrm>
            <a:off x="457200" y="1183005"/>
            <a:ext cx="8229600" cy="2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sldNum" idx="12"/>
          </p:nvPr>
        </p:nvSpPr>
        <p:spPr>
          <a:xfrm>
            <a:off x="8559801" y="4783454"/>
            <a:ext cx="127001" cy="12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9"/>
          <p:cNvSpPr txBox="1">
            <a:spLocks noGrp="1"/>
          </p:cNvSpPr>
          <p:nvPr>
            <p:ph type="title"/>
          </p:nvPr>
        </p:nvSpPr>
        <p:spPr>
          <a:xfrm>
            <a:off x="457200" y="205741"/>
            <a:ext cx="8229600" cy="2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body" idx="1"/>
          </p:nvPr>
        </p:nvSpPr>
        <p:spPr>
          <a:xfrm>
            <a:off x="457200" y="1183005"/>
            <a:ext cx="3977641" cy="2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sldNum" idx="12"/>
          </p:nvPr>
        </p:nvSpPr>
        <p:spPr>
          <a:xfrm>
            <a:off x="8559801" y="4783454"/>
            <a:ext cx="127001" cy="12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 txBox="1">
            <a:spLocks noGrp="1"/>
          </p:cNvSpPr>
          <p:nvPr>
            <p:ph type="title"/>
          </p:nvPr>
        </p:nvSpPr>
        <p:spPr>
          <a:xfrm>
            <a:off x="457200" y="205741"/>
            <a:ext cx="8229600" cy="2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sldNum" idx="12"/>
          </p:nvPr>
        </p:nvSpPr>
        <p:spPr>
          <a:xfrm>
            <a:off x="8559801" y="4783454"/>
            <a:ext cx="127001" cy="12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05741"/>
            <a:ext cx="8229600" cy="2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59801" y="4783454"/>
            <a:ext cx="127001" cy="12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comments" Target="../comments/commen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3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zerologementvacant.beta.gouv.fr/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2" name="Google Shape;62;p11"/>
          <p:cNvCxnSpPr/>
          <p:nvPr/>
        </p:nvCxnSpPr>
        <p:spPr>
          <a:xfrm>
            <a:off x="2065183" y="0"/>
            <a:ext cx="0" cy="5141700"/>
          </a:xfrm>
          <a:prstGeom prst="straightConnector1">
            <a:avLst/>
          </a:prstGeom>
          <a:noFill/>
          <a:ln w="12700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3" name="Google Shape;63;p11"/>
          <p:cNvSpPr txBox="1">
            <a:spLocks noGrp="1"/>
          </p:cNvSpPr>
          <p:nvPr>
            <p:ph type="body" idx="1"/>
          </p:nvPr>
        </p:nvSpPr>
        <p:spPr>
          <a:xfrm>
            <a:off x="2709800" y="1384625"/>
            <a:ext cx="5125200" cy="231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 dirty="0" err="1"/>
              <a:t>{{documentType}}</a:t>
            </a:r>
            <a:r>
              <a:rPr lang="en-US" sz="2000" dirty="0"/>
              <a:t> {{period}}</a:t>
            </a:r>
            <a:endParaRPr sz="2000" i="1" dirty="0"/>
          </a:p>
        </p:txBody>
      </p:sp>
      <p:sp>
        <p:nvSpPr>
          <p:cNvPr id="64" name="Google Shape;64;p11"/>
          <p:cNvSpPr txBox="1">
            <a:spLocks noGrp="1"/>
          </p:cNvSpPr>
          <p:nvPr>
            <p:ph type="body" idx="4294967295"/>
          </p:nvPr>
        </p:nvSpPr>
        <p:spPr>
          <a:xfrm>
            <a:off x="2709800" y="595850"/>
            <a:ext cx="5277600" cy="45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u="sng" dirty="0"/>
              <a:t>EPCI </a:t>
            </a:r>
            <a:r>
              <a:rPr lang="en-US" sz="2400" b="1" i="1" u="sng" dirty="0" err="1"/>
              <a:t>{{selectedEpciName}}</a:t>
            </a:r>
            <a:endParaRPr sz="2400" b="1" i="1" u="sng" dirty="0"/>
          </a:p>
        </p:txBody>
      </p:sp>
      <p:sp>
        <p:nvSpPr>
          <p:cNvPr id="65" name="Google Shape;65;p11"/>
          <p:cNvSpPr txBox="1">
            <a:spLocks noGrp="1"/>
          </p:cNvSpPr>
          <p:nvPr>
            <p:ph type="body" idx="4294967295"/>
          </p:nvPr>
        </p:nvSpPr>
        <p:spPr>
          <a:xfrm>
            <a:off x="2709800" y="1851000"/>
            <a:ext cx="5125200" cy="231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Date : {{date}}</a:t>
            </a:r>
            <a:endParaRPr sz="2000" dirty="0"/>
          </a:p>
        </p:txBody>
      </p:sp>
      <p:grpSp>
        <p:nvGrpSpPr>
          <p:cNvPr id="66" name="Google Shape;66;p11"/>
          <p:cNvGrpSpPr/>
          <p:nvPr/>
        </p:nvGrpSpPr>
        <p:grpSpPr>
          <a:xfrm>
            <a:off x="4724074" y="2622206"/>
            <a:ext cx="3901513" cy="2088553"/>
            <a:chOff x="3078800" y="1741450"/>
            <a:chExt cx="5546650" cy="2969225"/>
          </a:xfrm>
        </p:grpSpPr>
        <p:pic>
          <p:nvPicPr>
            <p:cNvPr id="67" name="Google Shape;67;p11" title="Capture d’écran 2025-07-28 à 11.40.43.png"/>
            <p:cNvPicPr preferRelativeResize="0"/>
            <p:nvPr/>
          </p:nvPicPr>
          <p:blipFill rotWithShape="1">
            <a:blip r:embed="rId3">
              <a:alphaModFix/>
            </a:blip>
            <a:srcRect t="1487"/>
            <a:stretch/>
          </p:blipFill>
          <p:spPr>
            <a:xfrm>
              <a:off x="3078800" y="1818400"/>
              <a:ext cx="5546650" cy="28922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" name="Google Shape;68;p11"/>
            <p:cNvSpPr/>
            <p:nvPr/>
          </p:nvSpPr>
          <p:spPr>
            <a:xfrm>
              <a:off x="4348825" y="1741450"/>
              <a:ext cx="255600" cy="255600"/>
            </a:xfrm>
            <a:prstGeom prst="ellipse">
              <a:avLst/>
            </a:prstGeom>
            <a:solidFill>
              <a:srgbClr val="000091"/>
            </a:solidFill>
            <a:ln>
              <a:noFill/>
            </a:ln>
          </p:spPr>
          <p:txBody>
            <a:bodyPr spcFirstLastPara="1" wrap="square" lIns="64300" tIns="64300" rIns="64300" bIns="643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84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" name="Google Shape;69;p11"/>
            <p:cNvSpPr/>
            <p:nvPr/>
          </p:nvSpPr>
          <p:spPr>
            <a:xfrm>
              <a:off x="4241450" y="1799158"/>
              <a:ext cx="152400" cy="152400"/>
            </a:xfrm>
            <a:prstGeom prst="ellipse">
              <a:avLst/>
            </a:prstGeom>
            <a:solidFill>
              <a:srgbClr val="000091"/>
            </a:solidFill>
            <a:ln>
              <a:noFill/>
            </a:ln>
          </p:spPr>
          <p:txBody>
            <a:bodyPr spcFirstLastPara="1" wrap="square" lIns="64300" tIns="64300" rIns="64300" bIns="643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84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2"/>
          <p:cNvSpPr txBox="1">
            <a:spLocks noGrp="1"/>
          </p:cNvSpPr>
          <p:nvPr>
            <p:ph type="body" idx="1"/>
          </p:nvPr>
        </p:nvSpPr>
        <p:spPr>
          <a:xfrm>
            <a:off x="4928650" y="661950"/>
            <a:ext cx="3632700" cy="3819600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</a:pPr>
            <a:r>
              <a:rPr lang="en-US" sz="1600" dirty="0" err="1"/>
              <a:t>Synthèse</a:t>
            </a:r>
            <a:br>
              <a:rPr lang="en-US" sz="1600" dirty="0"/>
            </a:br>
            <a:r>
              <a:rPr lang="en-US" sz="1400" b="0" i="1" dirty="0" err="1"/>
              <a:t>L’essentiel</a:t>
            </a:r>
            <a:r>
              <a:rPr lang="en-US" sz="1400" b="0" i="1" dirty="0"/>
              <a:t> </a:t>
            </a:r>
            <a:r>
              <a:rPr lang="en-US" sz="1400" b="0" i="1" dirty="0" err="1"/>
              <a:t>à</a:t>
            </a:r>
            <a:r>
              <a:rPr lang="en-US" sz="1400" b="0" i="1" dirty="0"/>
              <a:t> </a:t>
            </a:r>
            <a:r>
              <a:rPr lang="en-US" sz="1400" b="0" i="1" dirty="0" err="1"/>
              <a:t>retenir</a:t>
            </a:r>
            <a:endParaRPr sz="1400" b="0" i="1" dirty="0"/>
          </a:p>
          <a:p>
            <a:pPr marL="457200" lvl="0" indent="-228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rPr lang="en-US" sz="1600" dirty="0" err="1"/>
              <a:t>Méthodologie</a:t>
            </a:r>
            <a:r>
              <a:rPr lang="en-US" sz="1600" dirty="0"/>
              <a:t> : </a:t>
            </a:r>
            <a:r>
              <a:rPr lang="en-US" sz="1600" dirty="0" err="1"/>
              <a:t>l'outil</a:t>
            </a:r>
            <a:r>
              <a:rPr lang="en-US" sz="1600" dirty="0"/>
              <a:t> </a:t>
            </a:r>
            <a:r>
              <a:rPr lang="en-US" sz="1600" dirty="0" err="1"/>
              <a:t>Otelo</a:t>
            </a:r>
            <a:br>
              <a:rPr lang="en-US" sz="1600" dirty="0"/>
            </a:br>
            <a:r>
              <a:rPr lang="en-US" sz="1400" b="0" i="1" dirty="0"/>
              <a:t>Comment </a:t>
            </a:r>
            <a:r>
              <a:rPr lang="en-US" sz="1400" b="0" i="1" dirty="0" err="1"/>
              <a:t>sont</a:t>
            </a:r>
            <a:r>
              <a:rPr lang="en-US" sz="1400" b="0" i="1" dirty="0"/>
              <a:t> </a:t>
            </a:r>
            <a:r>
              <a:rPr lang="en-US" sz="1400" b="0" i="1" dirty="0" err="1"/>
              <a:t>calculés</a:t>
            </a:r>
            <a:r>
              <a:rPr lang="en-US" sz="1400" b="0" i="1" dirty="0"/>
              <a:t> </a:t>
            </a:r>
            <a:r>
              <a:rPr lang="en-US" sz="1400" b="0" i="1" dirty="0" err="1"/>
              <a:t>vos</a:t>
            </a:r>
            <a:r>
              <a:rPr lang="en-US" sz="1400" b="0" i="1" dirty="0"/>
              <a:t> </a:t>
            </a:r>
            <a:r>
              <a:rPr lang="en-US" sz="1400" b="0" i="1" dirty="0" err="1"/>
              <a:t>besoins</a:t>
            </a:r>
            <a:r>
              <a:rPr lang="en-US" sz="1400" b="0" i="1" dirty="0"/>
              <a:t> </a:t>
            </a:r>
            <a:r>
              <a:rPr lang="en-US" sz="1400" b="0" i="1" dirty="0" err="1"/>
              <a:t>en</a:t>
            </a:r>
            <a:r>
              <a:rPr lang="en-US" sz="1400" b="0" i="1" dirty="0"/>
              <a:t> </a:t>
            </a:r>
            <a:r>
              <a:rPr lang="en-US" sz="1400" b="0" i="1" dirty="0" err="1"/>
              <a:t>logement</a:t>
            </a:r>
            <a:r>
              <a:rPr lang="en-US" sz="1400" b="0" i="1" dirty="0"/>
              <a:t> ?</a:t>
            </a:r>
            <a:endParaRPr sz="1400" b="0" i="1" dirty="0"/>
          </a:p>
          <a:p>
            <a:pPr marL="457200" lvl="0" indent="-228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rPr lang="en-US" sz="1600" dirty="0"/>
              <a:t>Les </a:t>
            </a:r>
            <a:r>
              <a:rPr lang="en-US" sz="1600" dirty="0" err="1"/>
              <a:t>données</a:t>
            </a:r>
            <a:r>
              <a:rPr lang="en-US" sz="1600" dirty="0"/>
              <a:t> de </a:t>
            </a:r>
            <a:r>
              <a:rPr lang="en-US" sz="1600" dirty="0" err="1"/>
              <a:t>cadrage</a:t>
            </a:r>
            <a:br>
              <a:rPr lang="en-US" sz="1600" dirty="0"/>
            </a:br>
            <a:r>
              <a:rPr lang="en-US" sz="1400" b="0" i="1" dirty="0"/>
              <a:t>Quelle </a:t>
            </a:r>
            <a:r>
              <a:rPr lang="en-US" sz="1400" b="0" i="1" dirty="0" err="1"/>
              <a:t>est</a:t>
            </a:r>
            <a:r>
              <a:rPr lang="en-US" sz="1400" b="0" i="1" dirty="0"/>
              <a:t> la </a:t>
            </a:r>
            <a:r>
              <a:rPr lang="en-US" sz="1400" b="0" i="1" dirty="0" err="1"/>
              <a:t>dynamique</a:t>
            </a:r>
            <a:r>
              <a:rPr lang="en-US" sz="1400" b="0" i="1" dirty="0"/>
              <a:t> de </a:t>
            </a:r>
            <a:r>
              <a:rPr lang="en-US" sz="1400" b="0" i="1" dirty="0" err="1"/>
              <a:t>mon</a:t>
            </a:r>
            <a:r>
              <a:rPr lang="en-US" sz="1400" b="0" i="1" dirty="0"/>
              <a:t> </a:t>
            </a:r>
            <a:r>
              <a:rPr lang="en-US" sz="1400" b="0" i="1" dirty="0" err="1"/>
              <a:t>territoire</a:t>
            </a:r>
            <a:r>
              <a:rPr lang="en-US" sz="1400" b="0" i="1" dirty="0"/>
              <a:t> ?</a:t>
            </a:r>
            <a:endParaRPr sz="1400" b="0" i="1" dirty="0"/>
          </a:p>
          <a:p>
            <a:pPr marL="457200" lvl="0" indent="-228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rPr lang="en-US" sz="1600" dirty="0"/>
              <a:t>Les</a:t>
            </a:r>
            <a:r>
              <a:rPr lang="en-US" sz="1600" dirty="0" err="1"/>
              <a:t> {{nb}} scénarios</a:t>
            </a:r>
            <a:r>
              <a:rPr lang="en-US" sz="1600" dirty="0"/>
              <a:t> </a:t>
            </a:r>
            <a:r>
              <a:rPr lang="en-US" sz="1600" dirty="0" err="1"/>
              <a:t>étudiés</a:t>
            </a:r>
            <a:br>
              <a:rPr lang="en-US" sz="1600" dirty="0"/>
            </a:br>
            <a:r>
              <a:rPr lang="en-US" sz="1400" b="0" i="1" dirty="0" err="1"/>
              <a:t>Paramètres</a:t>
            </a:r>
            <a:r>
              <a:rPr lang="en-US" sz="1400" b="0" i="1" dirty="0"/>
              <a:t> et </a:t>
            </a:r>
            <a:r>
              <a:rPr lang="en-US" sz="1400" b="0" i="1" dirty="0" err="1"/>
              <a:t>hypothèses</a:t>
            </a:r>
            <a:r>
              <a:rPr lang="en-US" sz="1400" b="0" i="1" dirty="0"/>
              <a:t> </a:t>
            </a:r>
            <a:r>
              <a:rPr lang="en-US" sz="1400" b="0" i="1" dirty="0" err="1"/>
              <a:t>testées</a:t>
            </a:r>
            <a:endParaRPr sz="1400" b="0" i="1" dirty="0"/>
          </a:p>
          <a:p>
            <a:pPr marL="457200" lvl="0" indent="-228600" algn="l" rtl="0">
              <a:lnSpc>
                <a:spcPct val="100000"/>
              </a:lnSpc>
              <a:spcBef>
                <a:spcPts val="1800"/>
              </a:spcBef>
              <a:spcAft>
                <a:spcPts val="1800"/>
              </a:spcAft>
              <a:buClr>
                <a:schemeClr val="lt1"/>
              </a:buClr>
              <a:buSzPts val="1400"/>
              <a:buNone/>
            </a:pPr>
            <a:r>
              <a:rPr lang="en-US" sz="1600" dirty="0" err="1"/>
              <a:t>Décryptage</a:t>
            </a:r>
            <a:r>
              <a:rPr lang="en-US" sz="1600" dirty="0"/>
              <a:t> et justification du </a:t>
            </a:r>
            <a:r>
              <a:rPr lang="en-US" sz="1600" dirty="0" err="1"/>
              <a:t>scénario</a:t>
            </a:r>
            <a:r>
              <a:rPr lang="en-US" sz="1600" dirty="0"/>
              <a:t> </a:t>
            </a:r>
            <a:r>
              <a:rPr lang="en-US" sz="1600" dirty="0" err="1"/>
              <a:t>privilégié</a:t>
            </a:r>
            <a:br>
              <a:rPr lang="en-US" sz="1600" dirty="0"/>
            </a:br>
            <a:r>
              <a:rPr lang="en-US" sz="1400" b="0" i="1" dirty="0" err="1"/>
              <a:t>Scénario {{privilegedScenario}}</a:t>
            </a:r>
            <a:endParaRPr sz="1400" b="0" i="1" dirty="0"/>
          </a:p>
        </p:txBody>
      </p:sp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>
            <a:off x="1646300" y="1088825"/>
            <a:ext cx="2225100" cy="2590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Ordre du jour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"/>
          <p:cNvSpPr txBox="1">
            <a:spLocks noGrp="1"/>
          </p:cNvSpPr>
          <p:nvPr>
            <p:ph type="body" idx="1"/>
          </p:nvPr>
        </p:nvSpPr>
        <p:spPr>
          <a:xfrm>
            <a:off x="2709800" y="2344050"/>
            <a:ext cx="5277600" cy="455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Synthèse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"/>
          <p:cNvSpPr txBox="1"/>
          <p:nvPr/>
        </p:nvSpPr>
        <p:spPr>
          <a:xfrm>
            <a:off x="2333831" y="369174"/>
            <a:ext cx="3659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262626"/>
                </a:solidFill>
              </a:rPr>
              <a:t>L’essentiel à retenir</a:t>
            </a:r>
            <a:endParaRPr sz="2400" b="1">
              <a:solidFill>
                <a:srgbClr val="262626"/>
              </a:solidFill>
            </a:endParaRPr>
          </a:p>
        </p:txBody>
      </p:sp>
      <p:sp>
        <p:nvSpPr>
          <p:cNvPr id="86" name="Google Shape;86;p14"/>
          <p:cNvSpPr/>
          <p:nvPr/>
        </p:nvSpPr>
        <p:spPr>
          <a:xfrm>
            <a:off x="2333813" y="1430013"/>
            <a:ext cx="3170100" cy="2738700"/>
          </a:xfrm>
          <a:prstGeom prst="rect">
            <a:avLst/>
          </a:prstGeom>
          <a:solidFill>
            <a:srgbClr val="CED1FF">
              <a:alpha val="27840"/>
            </a:srgbClr>
          </a:solidFill>
          <a:ln>
            <a:noFill/>
          </a:ln>
        </p:spPr>
        <p:txBody>
          <a:bodyPr spcFirstLastPara="1" wrap="square" lIns="45700" tIns="182875" rIns="45700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1" dirty="0">
                <a:solidFill>
                  <a:schemeClr val="dk1"/>
                </a:solidFill>
              </a:rPr>
              <a:t>Sur la </a:t>
            </a:r>
            <a:r>
              <a:rPr lang="en-US" b="1" i="1" dirty="0" err="1">
                <a:solidFill>
                  <a:schemeClr val="dk1"/>
                </a:solidFill>
              </a:rPr>
              <a:t>période</a:t>
            </a:r>
            <a:r>
              <a:rPr lang="en-US" b="1" i="1" dirty="0">
                <a:solidFill>
                  <a:schemeClr val="dk1"/>
                </a:solidFill>
              </a:rPr>
              <a:t> {{start}}-{{end}}</a:t>
            </a:r>
            <a:endParaRPr b="1" i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b="1" i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1" dirty="0" err="1">
                <a:solidFill>
                  <a:schemeClr val="dk1"/>
                </a:solidFill>
              </a:rPr>
              <a:t>{{nbSupp}} logements</a:t>
            </a:r>
            <a:r>
              <a:rPr lang="en-US" sz="1200" b="1" i="1" dirty="0">
                <a:solidFill>
                  <a:schemeClr val="dk1"/>
                </a:solidFill>
              </a:rPr>
              <a:t> </a:t>
            </a:r>
            <a:r>
              <a:rPr lang="en-US" sz="1200" b="1" dirty="0" err="1">
                <a:solidFill>
                  <a:schemeClr val="dk1"/>
                </a:solidFill>
              </a:rPr>
              <a:t>supplémentaires</a:t>
            </a:r>
            <a:r>
              <a:rPr lang="en-US" sz="1200" b="1" dirty="0">
                <a:solidFill>
                  <a:schemeClr val="dk1"/>
                </a:solidFill>
              </a:rPr>
              <a:t> </a:t>
            </a:r>
            <a:r>
              <a:rPr lang="en-US" sz="1200" b="1" dirty="0" err="1">
                <a:solidFill>
                  <a:schemeClr val="dk1"/>
                </a:solidFill>
              </a:rPr>
              <a:t>attendus</a:t>
            </a:r>
            <a:r>
              <a:rPr lang="en-US" sz="1200" b="1" dirty="0">
                <a:solidFill>
                  <a:schemeClr val="dk1"/>
                </a:solidFill>
              </a:rPr>
              <a:t> sur le </a:t>
            </a:r>
            <a:r>
              <a:rPr lang="en-US" sz="1200" b="1" dirty="0" err="1">
                <a:solidFill>
                  <a:schemeClr val="dk1"/>
                </a:solidFill>
              </a:rPr>
              <a:t>territoire</a:t>
            </a:r>
            <a:r>
              <a:rPr lang="en-US" sz="1200" b="1" dirty="0">
                <a:solidFill>
                  <a:schemeClr val="dk1"/>
                </a:solidFill>
              </a:rPr>
              <a:t> :</a:t>
            </a:r>
            <a:endParaRPr sz="120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b="1" dirty="0">
              <a:solidFill>
                <a:schemeClr val="dk1"/>
              </a:solidFill>
            </a:endParaRPr>
          </a:p>
          <a:p>
            <a:pPr marL="342900" marR="148107" lvl="0" indent="-2413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 i="1" dirty="0" err="1">
                <a:solidFill>
                  <a:schemeClr val="dk1"/>
                </a:solidFill>
              </a:rPr>
              <a:t>{{nbNew}}</a:t>
            </a:r>
            <a:r>
              <a:rPr lang="en-US" sz="1100" b="1" dirty="0" err="1">
                <a:solidFill>
                  <a:schemeClr val="dk1"/>
                </a:solidFill>
              </a:rPr>
              <a:t> logements</a:t>
            </a:r>
            <a:r>
              <a:rPr lang="en-US" sz="1100" b="1" dirty="0">
                <a:solidFill>
                  <a:schemeClr val="dk1"/>
                </a:solidFill>
              </a:rPr>
              <a:t> </a:t>
            </a:r>
            <a:r>
              <a:rPr lang="en-US" sz="1100" b="1" dirty="0" err="1">
                <a:solidFill>
                  <a:schemeClr val="dk1"/>
                </a:solidFill>
              </a:rPr>
              <a:t>neufs</a:t>
            </a:r>
            <a:r>
              <a:rPr lang="en-US" sz="1100" dirty="0">
                <a:solidFill>
                  <a:schemeClr val="dk1"/>
                </a:solidFill>
              </a:rPr>
              <a:t> par an </a:t>
            </a:r>
            <a:r>
              <a:rPr lang="en-US" sz="1100" dirty="0" err="1">
                <a:solidFill>
                  <a:schemeClr val="dk1"/>
                </a:solidFill>
              </a:rPr>
              <a:t>à</a:t>
            </a:r>
            <a:r>
              <a:rPr lang="en-US" sz="1100" dirty="0">
                <a:solidFill>
                  <a:schemeClr val="dk1"/>
                </a:solidFill>
              </a:rPr>
              <a:t> </a:t>
            </a:r>
            <a:r>
              <a:rPr lang="en-US" sz="1100" dirty="0" err="1">
                <a:solidFill>
                  <a:schemeClr val="dk1"/>
                </a:solidFill>
              </a:rPr>
              <a:t>construire</a:t>
            </a:r>
            <a:r>
              <a:rPr lang="en-US" sz="1100" dirty="0">
                <a:solidFill>
                  <a:schemeClr val="dk1"/>
                </a:solidFill>
              </a:rPr>
              <a:t> sur </a:t>
            </a:r>
            <a:r>
              <a:rPr lang="en-US" sz="1100" i="1" dirty="0">
                <a:solidFill>
                  <a:schemeClr val="dk1"/>
                </a:solidFill>
              </a:rPr>
              <a:t>la </a:t>
            </a:r>
            <a:r>
              <a:rPr lang="en-US" sz="1100" i="1" dirty="0" err="1">
                <a:solidFill>
                  <a:schemeClr val="dk1"/>
                </a:solidFill>
              </a:rPr>
              <a:t>période</a:t>
            </a:r>
            <a:r>
              <a:rPr lang="en-US" sz="1100" i="1" dirty="0">
                <a:solidFill>
                  <a:schemeClr val="dk1"/>
                </a:solidFill>
              </a:rPr>
              <a:t>.</a:t>
            </a:r>
            <a:endParaRPr sz="1100" i="1" dirty="0">
              <a:solidFill>
                <a:schemeClr val="dk1"/>
              </a:solidFill>
            </a:endParaRPr>
          </a:p>
          <a:p>
            <a:pPr marL="0" marR="148107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i="1" dirty="0">
              <a:solidFill>
                <a:schemeClr val="dk1"/>
              </a:solidFill>
            </a:endParaRPr>
          </a:p>
          <a:p>
            <a:pPr marL="342900" marR="148107" lvl="0" indent="-241300" algn="l" rtl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 dirty="0" err="1">
                <a:solidFill>
                  <a:schemeClr val="dk1"/>
                </a:solidFill>
              </a:rPr>
              <a:t>{{nb}} logements</a:t>
            </a:r>
            <a:r>
              <a:rPr lang="en-US" sz="1100" b="1" dirty="0">
                <a:solidFill>
                  <a:schemeClr val="dk1"/>
                </a:solidFill>
              </a:rPr>
              <a:t> </a:t>
            </a:r>
            <a:r>
              <a:rPr lang="en-US" sz="1100" dirty="0" err="1">
                <a:solidFill>
                  <a:schemeClr val="dk1"/>
                </a:solidFill>
              </a:rPr>
              <a:t>à</a:t>
            </a:r>
            <a:r>
              <a:rPr lang="en-US" sz="1100" dirty="0">
                <a:solidFill>
                  <a:schemeClr val="dk1"/>
                </a:solidFill>
              </a:rPr>
              <a:t> mobiliser </a:t>
            </a:r>
            <a:r>
              <a:rPr lang="en-US" sz="1100" dirty="0" err="1">
                <a:solidFill>
                  <a:schemeClr val="dk1"/>
                </a:solidFill>
              </a:rPr>
              <a:t>à</a:t>
            </a:r>
            <a:r>
              <a:rPr lang="en-US" sz="1100" dirty="0">
                <a:solidFill>
                  <a:schemeClr val="dk1"/>
                </a:solidFill>
              </a:rPr>
              <a:t> </a:t>
            </a:r>
            <a:r>
              <a:rPr lang="en-US" sz="1100" dirty="0" err="1">
                <a:solidFill>
                  <a:schemeClr val="dk1"/>
                </a:solidFill>
              </a:rPr>
              <a:t>partir</a:t>
            </a:r>
            <a:r>
              <a:rPr lang="en-US" sz="1100" dirty="0">
                <a:solidFill>
                  <a:schemeClr val="dk1"/>
                </a:solidFill>
              </a:rPr>
              <a:t> du parc </a:t>
            </a:r>
            <a:r>
              <a:rPr lang="en-US" sz="1100" dirty="0" err="1">
                <a:solidFill>
                  <a:schemeClr val="dk1"/>
                </a:solidFill>
              </a:rPr>
              <a:t>existant</a:t>
            </a:r>
            <a:r>
              <a:rPr lang="en-US" sz="1100" dirty="0">
                <a:solidFill>
                  <a:schemeClr val="dk1"/>
                </a:solidFill>
              </a:rPr>
              <a:t>.</a:t>
            </a:r>
            <a:endParaRPr sz="1100" dirty="0"/>
          </a:p>
        </p:txBody>
      </p:sp>
      <p:sp>
        <p:nvSpPr>
          <p:cNvPr id="87" name="Google Shape;87;p14"/>
          <p:cNvSpPr txBox="1"/>
          <p:nvPr/>
        </p:nvSpPr>
        <p:spPr>
          <a:xfrm>
            <a:off x="2333825" y="946500"/>
            <a:ext cx="31701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r>
              <a:rPr lang="en-US" b="1">
                <a:solidFill>
                  <a:schemeClr val="dk2"/>
                </a:solidFill>
              </a:rPr>
              <a:t>Le besoin en logements supplémentaires</a:t>
            </a:r>
            <a:endParaRPr>
              <a:solidFill>
                <a:srgbClr val="060091"/>
              </a:solidFill>
            </a:endParaRPr>
          </a:p>
        </p:txBody>
      </p:sp>
      <p:sp>
        <p:nvSpPr>
          <p:cNvPr id="88" name="Google Shape;88;p14"/>
          <p:cNvSpPr txBox="1"/>
          <p:nvPr/>
        </p:nvSpPr>
        <p:spPr>
          <a:xfrm>
            <a:off x="5702150" y="1054200"/>
            <a:ext cx="3170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r>
              <a:rPr lang="en-US" b="1">
                <a:solidFill>
                  <a:schemeClr val="dk2"/>
                </a:solidFill>
              </a:rPr>
              <a:t>Pourquoi ces besoins ?</a:t>
            </a:r>
            <a:endParaRPr>
              <a:solidFill>
                <a:srgbClr val="060091"/>
              </a:solidFill>
            </a:endParaRPr>
          </a:p>
        </p:txBody>
      </p:sp>
      <p:sp>
        <p:nvSpPr>
          <p:cNvPr id="89" name="Google Shape;89;p14"/>
          <p:cNvSpPr/>
          <p:nvPr/>
        </p:nvSpPr>
        <p:spPr>
          <a:xfrm>
            <a:off x="5702150" y="1430013"/>
            <a:ext cx="3170100" cy="2738700"/>
          </a:xfrm>
          <a:prstGeom prst="rect">
            <a:avLst/>
          </a:prstGeom>
          <a:solidFill>
            <a:srgbClr val="CED1FF">
              <a:alpha val="27840"/>
            </a:srgbClr>
          </a:solidFill>
          <a:ln>
            <a:noFill/>
          </a:ln>
        </p:spPr>
        <p:txBody>
          <a:bodyPr spcFirstLastPara="1" wrap="square" lIns="45700" tIns="182875" rIns="45700" bIns="45700" anchor="ctr" anchorCtr="0">
            <a:noAutofit/>
          </a:bodyPr>
          <a:lstStyle/>
          <a:p>
            <a:pPr marL="342900" marR="148107" lvl="0" indent="-2413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 i="1" dirty="0" err="1">
                <a:solidFill>
                  <a:schemeClr val="dk1"/>
                </a:solidFill>
              </a:rPr>
              <a:t>{{percentMenages}}</a:t>
            </a:r>
            <a:r>
              <a:rPr lang="en-US" sz="1100" b="1" i="1" dirty="0">
                <a:solidFill>
                  <a:schemeClr val="dk1"/>
                </a:solidFill>
              </a:rPr>
              <a:t>%</a:t>
            </a:r>
            <a:r>
              <a:rPr lang="en-US" sz="1100" b="1" dirty="0">
                <a:solidFill>
                  <a:schemeClr val="dk1"/>
                </a:solidFill>
              </a:rPr>
              <a:t> </a:t>
            </a:r>
            <a:r>
              <a:rPr lang="en-US" sz="1100" b="1" dirty="0" err="1">
                <a:solidFill>
                  <a:schemeClr val="dk1"/>
                </a:solidFill>
              </a:rPr>
              <a:t>lié</a:t>
            </a:r>
            <a:r>
              <a:rPr lang="en-US" sz="1100" b="1" dirty="0">
                <a:solidFill>
                  <a:schemeClr val="dk1"/>
                </a:solidFill>
              </a:rPr>
              <a:t> </a:t>
            </a:r>
            <a:r>
              <a:rPr lang="en-US" sz="1100" b="1" dirty="0" err="1">
                <a:solidFill>
                  <a:schemeClr val="dk1"/>
                </a:solidFill>
              </a:rPr>
              <a:t>à</a:t>
            </a:r>
            <a:r>
              <a:rPr lang="en-US" sz="1100" b="1" dirty="0">
                <a:solidFill>
                  <a:schemeClr val="dk1"/>
                </a:solidFill>
              </a:rPr>
              <a:t> la </a:t>
            </a:r>
            <a:r>
              <a:rPr lang="en-US" sz="1100" b="1" dirty="0" err="1">
                <a:solidFill>
                  <a:schemeClr val="dk1"/>
                </a:solidFill>
              </a:rPr>
              <a:t>croissance</a:t>
            </a:r>
            <a:r>
              <a:rPr lang="en-US" sz="1100" b="1" dirty="0">
                <a:solidFill>
                  <a:schemeClr val="dk1"/>
                </a:solidFill>
              </a:rPr>
              <a:t> du </a:t>
            </a:r>
            <a:r>
              <a:rPr lang="en-US" sz="1100" b="1" dirty="0" err="1">
                <a:solidFill>
                  <a:schemeClr val="dk1"/>
                </a:solidFill>
              </a:rPr>
              <a:t>nombre</a:t>
            </a:r>
            <a:r>
              <a:rPr lang="en-US" sz="1100" b="1" dirty="0">
                <a:solidFill>
                  <a:schemeClr val="dk1"/>
                </a:solidFill>
              </a:rPr>
              <a:t> de ménages </a:t>
            </a:r>
            <a:r>
              <a:rPr lang="en-US" sz="1100" dirty="0">
                <a:solidFill>
                  <a:schemeClr val="dk1"/>
                </a:solidFill>
              </a:rPr>
              <a:t>(</a:t>
            </a:r>
            <a:r>
              <a:rPr lang="en-US" sz="1100" i="1" dirty="0" err="1">
                <a:solidFill>
                  <a:schemeClr val="dk1"/>
                </a:solidFill>
              </a:rPr>
              <a:t>{{nbMenages}}</a:t>
            </a:r>
            <a:r>
              <a:rPr lang="en-US" sz="1100" i="1" dirty="0">
                <a:solidFill>
                  <a:schemeClr val="dk1"/>
                </a:solidFill>
              </a:rPr>
              <a:t> ménages </a:t>
            </a:r>
            <a:r>
              <a:rPr lang="en-US" sz="1100" dirty="0" err="1">
                <a:solidFill>
                  <a:schemeClr val="dk1"/>
                </a:solidFill>
              </a:rPr>
              <a:t>attendus</a:t>
            </a:r>
            <a:r>
              <a:rPr lang="en-US" sz="1100" dirty="0">
                <a:solidFill>
                  <a:schemeClr val="dk1"/>
                </a:solidFill>
              </a:rPr>
              <a:t>).</a:t>
            </a:r>
            <a:endParaRPr sz="1100" dirty="0">
              <a:solidFill>
                <a:schemeClr val="dk1"/>
              </a:solidFill>
            </a:endParaRPr>
          </a:p>
          <a:p>
            <a:pPr marL="0" marR="148107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dirty="0">
              <a:solidFill>
                <a:schemeClr val="dk1"/>
              </a:solidFill>
            </a:endParaRPr>
          </a:p>
          <a:p>
            <a:pPr marL="342900" marR="148107" lvl="0" indent="-2413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 i="1" dirty="0" err="1">
                <a:solidFill>
                  <a:schemeClr val="dk1"/>
                </a:solidFill>
              </a:rPr>
              <a:t>{{percentBadHousing}}</a:t>
            </a:r>
            <a:r>
              <a:rPr lang="en-US" sz="1100" b="1" i="1" dirty="0">
                <a:solidFill>
                  <a:schemeClr val="dk1"/>
                </a:solidFill>
              </a:rPr>
              <a:t>%</a:t>
            </a:r>
            <a:r>
              <a:rPr lang="en-US" sz="1100" b="1" dirty="0">
                <a:solidFill>
                  <a:schemeClr val="dk1"/>
                </a:solidFill>
              </a:rPr>
              <a:t> </a:t>
            </a:r>
            <a:r>
              <a:rPr lang="en-US" sz="1100" b="1" dirty="0" err="1">
                <a:solidFill>
                  <a:schemeClr val="dk1"/>
                </a:solidFill>
              </a:rPr>
              <a:t>lié</a:t>
            </a:r>
            <a:r>
              <a:rPr lang="en-US" sz="1100" b="1" dirty="0">
                <a:solidFill>
                  <a:schemeClr val="dk1"/>
                </a:solidFill>
              </a:rPr>
              <a:t> au mal-</a:t>
            </a:r>
            <a:r>
              <a:rPr lang="en-US" sz="1100" b="1" dirty="0" err="1">
                <a:solidFill>
                  <a:schemeClr val="dk1"/>
                </a:solidFill>
              </a:rPr>
              <a:t>logement</a:t>
            </a:r>
            <a:r>
              <a:rPr lang="en-US" sz="1100" dirty="0">
                <a:solidFill>
                  <a:schemeClr val="dk1"/>
                </a:solidFill>
              </a:rPr>
              <a:t> : </a:t>
            </a:r>
            <a:r>
              <a:rPr lang="en-US" sz="1100" dirty="0" err="1">
                <a:solidFill>
                  <a:schemeClr val="dk1"/>
                </a:solidFill>
              </a:rPr>
              <a:t>résorption</a:t>
            </a:r>
            <a:r>
              <a:rPr lang="en-US" sz="1100" dirty="0">
                <a:solidFill>
                  <a:schemeClr val="dk1"/>
                </a:solidFill>
              </a:rPr>
              <a:t> de </a:t>
            </a:r>
            <a:r>
              <a:rPr lang="en-US" sz="1100" i="1" dirty="0" err="1">
                <a:solidFill>
                  <a:schemeClr val="dk1"/>
                </a:solidFill>
              </a:rPr>
              <a:t>{{nbResorption}}</a:t>
            </a:r>
            <a:r>
              <a:rPr lang="en-US" sz="1100" i="1" dirty="0">
                <a:solidFill>
                  <a:schemeClr val="dk1"/>
                </a:solidFill>
              </a:rPr>
              <a:t> situations de mal-</a:t>
            </a:r>
            <a:r>
              <a:rPr lang="en-US" sz="1100" i="1" dirty="0" err="1">
                <a:solidFill>
                  <a:schemeClr val="dk1"/>
                </a:solidFill>
              </a:rPr>
              <a:t>logement</a:t>
            </a:r>
            <a:r>
              <a:rPr lang="en-US" sz="1100" dirty="0">
                <a:solidFill>
                  <a:schemeClr val="dk1"/>
                </a:solidFill>
              </a:rPr>
              <a:t> </a:t>
            </a:r>
            <a:r>
              <a:rPr lang="en-US" sz="1100" dirty="0" err="1">
                <a:solidFill>
                  <a:schemeClr val="dk1"/>
                </a:solidFill>
              </a:rPr>
              <a:t>d’ici {{peakYear}}</a:t>
            </a:r>
            <a:r>
              <a:rPr lang="en-US" sz="1100" i="1" dirty="0">
                <a:solidFill>
                  <a:schemeClr val="dk1"/>
                </a:solidFill>
              </a:rPr>
              <a:t>.</a:t>
            </a:r>
            <a:endParaRPr sz="1100" i="1" dirty="0">
              <a:solidFill>
                <a:schemeClr val="dk1"/>
              </a:solidFill>
            </a:endParaRPr>
          </a:p>
          <a:p>
            <a:pPr marL="0" marR="148107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i="1" dirty="0">
              <a:solidFill>
                <a:schemeClr val="dk1"/>
              </a:solidFill>
            </a:endParaRPr>
          </a:p>
          <a:p>
            <a:pPr marL="342900" marR="148107" lvl="0" indent="-241300" algn="l" rtl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 i="1" dirty="0">
                <a:solidFill>
                  <a:schemeClr val="dk1"/>
                </a:solidFill>
              </a:rPr>
              <a:t>{{percentFluidity}}%</a:t>
            </a:r>
            <a:r>
              <a:rPr lang="en-US" sz="1100" b="1" dirty="0">
                <a:solidFill>
                  <a:schemeClr val="dk1"/>
                </a:solidFill>
              </a:rPr>
              <a:t> </a:t>
            </a:r>
            <a:r>
              <a:rPr lang="en-US" sz="1100" b="1" dirty="0" err="1">
                <a:solidFill>
                  <a:schemeClr val="dk1"/>
                </a:solidFill>
              </a:rPr>
              <a:t>lié</a:t>
            </a:r>
            <a:r>
              <a:rPr lang="en-US" sz="1100" b="1" dirty="0">
                <a:solidFill>
                  <a:schemeClr val="dk1"/>
                </a:solidFill>
              </a:rPr>
              <a:t> </a:t>
            </a:r>
            <a:r>
              <a:rPr lang="en-US" sz="1100" b="1" dirty="0" err="1">
                <a:solidFill>
                  <a:schemeClr val="dk1"/>
                </a:solidFill>
              </a:rPr>
              <a:t>à</a:t>
            </a:r>
            <a:r>
              <a:rPr lang="en-US" sz="1100" b="1" dirty="0">
                <a:solidFill>
                  <a:schemeClr val="dk1"/>
                </a:solidFill>
              </a:rPr>
              <a:t> la </a:t>
            </a:r>
            <a:r>
              <a:rPr lang="en-US" sz="1100" b="1" dirty="0" err="1">
                <a:solidFill>
                  <a:schemeClr val="dk1"/>
                </a:solidFill>
              </a:rPr>
              <a:t>fluidité</a:t>
            </a:r>
            <a:r>
              <a:rPr lang="en-US" sz="1100" dirty="0">
                <a:solidFill>
                  <a:schemeClr val="dk1"/>
                </a:solidFill>
              </a:rPr>
              <a:t> : </a:t>
            </a:r>
            <a:r>
              <a:rPr lang="en-US" sz="1100" dirty="0" err="1">
                <a:solidFill>
                  <a:schemeClr val="dk1"/>
                </a:solidFill>
              </a:rPr>
              <a:t>maintien</a:t>
            </a:r>
            <a:r>
              <a:rPr lang="en-US" sz="1100" dirty="0">
                <a:solidFill>
                  <a:schemeClr val="dk1"/>
                </a:solidFill>
              </a:rPr>
              <a:t> d'un </a:t>
            </a:r>
            <a:r>
              <a:rPr lang="en-US" sz="1100" dirty="0" err="1">
                <a:solidFill>
                  <a:schemeClr val="dk1"/>
                </a:solidFill>
              </a:rPr>
              <a:t>marché</a:t>
            </a:r>
            <a:r>
              <a:rPr lang="en-US" sz="1100" dirty="0">
                <a:solidFill>
                  <a:schemeClr val="dk1"/>
                </a:solidFill>
              </a:rPr>
              <a:t> </a:t>
            </a:r>
            <a:r>
              <a:rPr lang="en-US" sz="1100" dirty="0" err="1">
                <a:solidFill>
                  <a:schemeClr val="dk1"/>
                </a:solidFill>
              </a:rPr>
              <a:t>équilibré</a:t>
            </a:r>
            <a:r>
              <a:rPr lang="en-US" sz="1100" dirty="0">
                <a:solidFill>
                  <a:schemeClr val="dk1"/>
                </a:solidFill>
              </a:rPr>
              <a:t>.</a:t>
            </a:r>
            <a:endParaRPr sz="1100" dirty="0">
              <a:solidFill>
                <a:schemeClr val="dk1"/>
              </a:solidFill>
            </a:endParaRPr>
          </a:p>
        </p:txBody>
      </p:sp>
      <p:sp>
        <p:nvSpPr>
          <p:cNvPr id="90" name="Google Shape;90;p14"/>
          <p:cNvSpPr/>
          <p:nvPr/>
        </p:nvSpPr>
        <p:spPr>
          <a:xfrm>
            <a:off x="2600325" y="4236750"/>
            <a:ext cx="6267300" cy="7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450" tIns="26450" rIns="26450" bIns="2645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1" dirty="0">
                <a:solidFill>
                  <a:schemeClr val="dk1"/>
                </a:solidFill>
              </a:rPr>
              <a:t>💡Le </a:t>
            </a:r>
            <a:r>
              <a:rPr lang="en-US" sz="1200" b="1" dirty="0" err="1">
                <a:solidFill>
                  <a:schemeClr val="dk1"/>
                </a:solidFill>
              </a:rPr>
              <a:t>scénario</a:t>
            </a:r>
            <a:r>
              <a:rPr lang="en-US" sz="1200" b="1" dirty="0">
                <a:solidFill>
                  <a:schemeClr val="dk1"/>
                </a:solidFill>
              </a:rPr>
              <a:t> </a:t>
            </a:r>
            <a:r>
              <a:rPr lang="en-US" sz="1200" b="1" dirty="0" err="1">
                <a:solidFill>
                  <a:schemeClr val="dk1"/>
                </a:solidFill>
              </a:rPr>
              <a:t>recommandé</a:t>
            </a:r>
            <a:r>
              <a:rPr lang="en-US" sz="1200" b="1" dirty="0">
                <a:solidFill>
                  <a:schemeClr val="dk1"/>
                </a:solidFill>
              </a:rPr>
              <a:t> : "🟣</a:t>
            </a:r>
            <a:r>
              <a:rPr lang="en-US" sz="1200" b="1" dirty="0" err="1">
                <a:solidFill>
                  <a:schemeClr val="dk1"/>
                </a:solidFill>
              </a:rPr>
              <a:t> {{privilegedScenario}}</a:t>
            </a:r>
            <a:r>
              <a:rPr lang="en-US" sz="1200" b="1" dirty="0">
                <a:solidFill>
                  <a:schemeClr val="dk1"/>
                </a:solidFill>
              </a:rPr>
              <a:t>"</a:t>
            </a:r>
            <a:endParaRPr sz="12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i="1" dirty="0">
                <a:solidFill>
                  <a:schemeClr val="dk1"/>
                </a:solidFill>
              </a:rPr>
              <a:t>jeu de </a:t>
            </a:r>
            <a:r>
              <a:rPr lang="en-US" sz="1100" i="1" dirty="0" err="1">
                <a:solidFill>
                  <a:schemeClr val="dk1"/>
                </a:solidFill>
              </a:rPr>
              <a:t>paramètres</a:t>
            </a:r>
            <a:r>
              <a:rPr lang="en-US" sz="1100" i="1" dirty="0">
                <a:solidFill>
                  <a:schemeClr val="dk1"/>
                </a:solidFill>
              </a:rPr>
              <a:t> </a:t>
            </a:r>
            <a:r>
              <a:rPr lang="en-US" sz="1100" i="1" dirty="0" err="1">
                <a:solidFill>
                  <a:schemeClr val="dk1"/>
                </a:solidFill>
              </a:rPr>
              <a:t>retenu</a:t>
            </a:r>
            <a:r>
              <a:rPr lang="en-US" sz="1100" i="1" dirty="0">
                <a:solidFill>
                  <a:schemeClr val="dk1"/>
                </a:solidFill>
              </a:rPr>
              <a:t> par </a:t>
            </a:r>
            <a:r>
              <a:rPr lang="en-US" sz="1100" i="1" dirty="0" err="1">
                <a:solidFill>
                  <a:schemeClr val="dk1"/>
                </a:solidFill>
              </a:rPr>
              <a:t>{{orgName}}</a:t>
            </a:r>
            <a:endParaRPr sz="405" dirty="0">
              <a:solidFill>
                <a:srgbClr val="CED1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91;p14">
            <a:extLst>
              <a:ext uri="{FF2B5EF4-FFF2-40B4-BE49-F238E27FC236}">
                <a16:creationId xmlns:a16="http://schemas.microsoft.com/office/drawing/2014/main" id="{E21772DC-88F2-207E-2A88-1BE235EE6CEB}"/>
              </a:ext>
            </a:extLst>
          </p:cNvPr>
          <p:cNvSpPr txBox="1">
            <a:spLocks/>
          </p:cNvSpPr>
          <p:nvPr/>
        </p:nvSpPr>
        <p:spPr>
          <a:xfrm>
            <a:off x="355025" y="484524"/>
            <a:ext cx="1535700" cy="346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/>
            <a:r>
              <a:rPr lang="en-US" sz="1100" i="1" dirty="0"/>
              <a:t>EPCI </a:t>
            </a:r>
            <a:r>
              <a:rPr lang="en-US" sz="1100" i="1" dirty="0" err="1"/>
              <a:t>{{layoutEpciName}}</a:t>
            </a:r>
            <a:r>
              <a:rPr lang="en-US" sz="1100" i="1" dirty="0"/>
              <a:t> / BH </a:t>
            </a:r>
            <a:r>
              <a:rPr lang="en-US" sz="1100" i="1" dirty="0" err="1"/>
              <a:t>{{layoutBassinName}}</a:t>
            </a:r>
          </a:p>
        </p:txBody>
      </p:sp>
      <p:sp>
        <p:nvSpPr>
          <p:cNvPr id="3" name="Google Shape;92;p14">
            <a:extLst>
              <a:ext uri="{FF2B5EF4-FFF2-40B4-BE49-F238E27FC236}">
                <a16:creationId xmlns:a16="http://schemas.microsoft.com/office/drawing/2014/main" id="{702820A7-A4EF-4C14-464B-B29F8DE1C386}"/>
              </a:ext>
            </a:extLst>
          </p:cNvPr>
          <p:cNvSpPr txBox="1">
            <a:spLocks/>
          </p:cNvSpPr>
          <p:nvPr/>
        </p:nvSpPr>
        <p:spPr>
          <a:xfrm>
            <a:off x="355025" y="1017925"/>
            <a:ext cx="1535700" cy="733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/>
            <a:r>
              <a:rPr lang="en-US" sz="1100" dirty="0"/>
              <a:t>Estimation sur la </a:t>
            </a:r>
            <a:r>
              <a:rPr lang="en-US" sz="1100" dirty="0" err="1"/>
              <a:t>période {{layoutStart}} - {{layoutEnd}}</a:t>
            </a:r>
            <a:r>
              <a:rPr lang="en-US" sz="1100" dirty="0"/>
              <a:t> pour le</a:t>
            </a:r>
            <a:r>
              <a:rPr lang="en-US" sz="1100" dirty="0" err="1"/>
              <a:t> {{layoutDocumentType}}</a:t>
            </a:r>
            <a:endParaRPr lang="en-US" sz="1100" i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>
            <a:spLocks noGrp="1"/>
          </p:cNvSpPr>
          <p:nvPr>
            <p:ph type="body" idx="1"/>
          </p:nvPr>
        </p:nvSpPr>
        <p:spPr>
          <a:xfrm>
            <a:off x="2709800" y="2344050"/>
            <a:ext cx="5277600" cy="455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 Méthodologie : l’outil Otelo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/>
        </p:nvSpPr>
        <p:spPr>
          <a:xfrm>
            <a:off x="2370696" y="369175"/>
            <a:ext cx="6230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rial"/>
              <a:buNone/>
            </a:pPr>
            <a:r>
              <a:rPr lang="en-US" sz="2400" b="1" dirty="0" err="1">
                <a:solidFill>
                  <a:srgbClr val="262626"/>
                </a:solidFill>
              </a:rPr>
              <a:t>L’outil</a:t>
            </a:r>
            <a:r>
              <a:rPr lang="en-US" sz="2400" b="1" dirty="0">
                <a:solidFill>
                  <a:srgbClr val="262626"/>
                </a:solidFill>
              </a:rPr>
              <a:t> </a:t>
            </a:r>
            <a:r>
              <a:rPr lang="en-US" sz="2400" b="1" dirty="0" err="1">
                <a:solidFill>
                  <a:srgbClr val="262626"/>
                </a:solidFill>
              </a:rPr>
              <a:t>Otelo</a:t>
            </a:r>
            <a:r>
              <a:rPr lang="en-US" sz="2400" b="1" dirty="0">
                <a:solidFill>
                  <a:srgbClr val="262626"/>
                </a:solidFill>
              </a:rPr>
              <a:t> pour </a:t>
            </a:r>
            <a:r>
              <a:rPr lang="en-US" sz="2400" b="1">
                <a:solidFill>
                  <a:srgbClr val="262626"/>
                </a:solidFill>
              </a:rPr>
              <a:t>{{territory}}</a:t>
            </a:r>
            <a:endParaRPr sz="2400" b="1" dirty="0">
              <a:solidFill>
                <a:srgbClr val="262626"/>
              </a:solidFill>
            </a:endParaRPr>
          </a:p>
        </p:txBody>
      </p:sp>
      <p:sp>
        <p:nvSpPr>
          <p:cNvPr id="103" name="Google Shape;103;p16"/>
          <p:cNvSpPr/>
          <p:nvPr/>
        </p:nvSpPr>
        <p:spPr>
          <a:xfrm>
            <a:off x="2076525" y="2134450"/>
            <a:ext cx="6712500" cy="2828100"/>
          </a:xfrm>
          <a:prstGeom prst="rect">
            <a:avLst/>
          </a:prstGeom>
          <a:solidFill>
            <a:srgbClr val="696AF5"/>
          </a:solidFill>
          <a:ln>
            <a:noFill/>
          </a:ln>
        </p:spPr>
        <p:txBody>
          <a:bodyPr spcFirstLastPara="1" wrap="square" lIns="79675" tIns="79675" rIns="79675" bIns="796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0"/>
              <a:buFont typeface="Arial"/>
              <a:buNone/>
            </a:pPr>
            <a:endParaRPr sz="122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4" name="Google Shape;104;p16"/>
          <p:cNvGrpSpPr/>
          <p:nvPr/>
        </p:nvGrpSpPr>
        <p:grpSpPr>
          <a:xfrm>
            <a:off x="2991715" y="1799407"/>
            <a:ext cx="475363" cy="475176"/>
            <a:chOff x="3912667" y="4991665"/>
            <a:chExt cx="1869300" cy="1869300"/>
          </a:xfrm>
        </p:grpSpPr>
        <p:sp>
          <p:nvSpPr>
            <p:cNvPr id="105" name="Google Shape;105;p16"/>
            <p:cNvSpPr/>
            <p:nvPr/>
          </p:nvSpPr>
          <p:spPr>
            <a:xfrm>
              <a:off x="3912667" y="4991665"/>
              <a:ext cx="1869300" cy="18693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87160" dist="16602" dir="5400000" algn="bl" rotWithShape="0">
                <a:srgbClr val="000000">
                  <a:alpha val="20780"/>
                </a:srgbClr>
              </a:outerShdw>
            </a:effectLst>
          </p:spPr>
          <p:txBody>
            <a:bodyPr spcFirstLastPara="1" wrap="square" lIns="79675" tIns="39825" rIns="79675" bIns="39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183"/>
                <a:buFont typeface="Arial"/>
                <a:buNone/>
              </a:pPr>
              <a:endParaRPr sz="4183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16"/>
            <p:cNvSpPr/>
            <p:nvPr/>
          </p:nvSpPr>
          <p:spPr>
            <a:xfrm>
              <a:off x="4483180" y="5717448"/>
              <a:ext cx="728132" cy="440266"/>
            </a:xfrm>
            <a:custGeom>
              <a:avLst/>
              <a:gdLst/>
              <a:ahLst/>
              <a:cxnLst/>
              <a:rect l="l" t="t" r="r" b="b"/>
              <a:pathLst>
                <a:path w="728132" h="440266" extrusionOk="0">
                  <a:moveTo>
                    <a:pt x="0" y="152400"/>
                  </a:moveTo>
                  <a:lnTo>
                    <a:pt x="287866" y="440266"/>
                  </a:lnTo>
                  <a:lnTo>
                    <a:pt x="728132" y="0"/>
                  </a:lnTo>
                </a:path>
              </a:pathLst>
            </a:custGeom>
            <a:solidFill>
              <a:srgbClr val="FFFFFF"/>
            </a:solidFill>
            <a:ln w="249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9675" tIns="39825" rIns="79675" bIns="39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183"/>
                <a:buFont typeface="Arial"/>
                <a:buNone/>
              </a:pPr>
              <a:endParaRPr sz="4183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7" name="Google Shape;107;p16"/>
          <p:cNvGrpSpPr/>
          <p:nvPr/>
        </p:nvGrpSpPr>
        <p:grpSpPr>
          <a:xfrm>
            <a:off x="5248063" y="1799407"/>
            <a:ext cx="475363" cy="475176"/>
            <a:chOff x="3912667" y="4991665"/>
            <a:chExt cx="1869300" cy="1869300"/>
          </a:xfrm>
        </p:grpSpPr>
        <p:sp>
          <p:nvSpPr>
            <p:cNvPr id="108" name="Google Shape;108;p16"/>
            <p:cNvSpPr/>
            <p:nvPr/>
          </p:nvSpPr>
          <p:spPr>
            <a:xfrm>
              <a:off x="3912667" y="4991665"/>
              <a:ext cx="1869300" cy="18693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87160" dist="16602" dir="5400000" algn="bl" rotWithShape="0">
                <a:srgbClr val="000000">
                  <a:alpha val="20780"/>
                </a:srgbClr>
              </a:outerShdw>
            </a:effectLst>
          </p:spPr>
          <p:txBody>
            <a:bodyPr spcFirstLastPara="1" wrap="square" lIns="79675" tIns="39825" rIns="79675" bIns="39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183"/>
                <a:buFont typeface="Arial"/>
                <a:buNone/>
              </a:pPr>
              <a:endParaRPr sz="4183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16"/>
            <p:cNvSpPr/>
            <p:nvPr/>
          </p:nvSpPr>
          <p:spPr>
            <a:xfrm>
              <a:off x="4483180" y="5717448"/>
              <a:ext cx="728132" cy="440266"/>
            </a:xfrm>
            <a:custGeom>
              <a:avLst/>
              <a:gdLst/>
              <a:ahLst/>
              <a:cxnLst/>
              <a:rect l="l" t="t" r="r" b="b"/>
              <a:pathLst>
                <a:path w="728132" h="440266" extrusionOk="0">
                  <a:moveTo>
                    <a:pt x="0" y="152400"/>
                  </a:moveTo>
                  <a:lnTo>
                    <a:pt x="287866" y="440266"/>
                  </a:lnTo>
                  <a:lnTo>
                    <a:pt x="728132" y="0"/>
                  </a:lnTo>
                </a:path>
              </a:pathLst>
            </a:custGeom>
            <a:solidFill>
              <a:srgbClr val="FFFFFF"/>
            </a:solidFill>
            <a:ln w="249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9675" tIns="39825" rIns="79675" bIns="39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183"/>
                <a:buFont typeface="Arial"/>
                <a:buNone/>
              </a:pPr>
              <a:endParaRPr sz="4183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0" name="Google Shape;110;p16"/>
          <p:cNvGrpSpPr/>
          <p:nvPr/>
        </p:nvGrpSpPr>
        <p:grpSpPr>
          <a:xfrm>
            <a:off x="7504411" y="1799407"/>
            <a:ext cx="475363" cy="475176"/>
            <a:chOff x="3912667" y="4991665"/>
            <a:chExt cx="1869300" cy="1869300"/>
          </a:xfrm>
        </p:grpSpPr>
        <p:sp>
          <p:nvSpPr>
            <p:cNvPr id="111" name="Google Shape;111;p16"/>
            <p:cNvSpPr/>
            <p:nvPr/>
          </p:nvSpPr>
          <p:spPr>
            <a:xfrm>
              <a:off x="3912667" y="4991665"/>
              <a:ext cx="1869300" cy="18693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87160" dist="16602" dir="5400000" algn="bl" rotWithShape="0">
                <a:srgbClr val="000000">
                  <a:alpha val="20780"/>
                </a:srgbClr>
              </a:outerShdw>
            </a:effectLst>
          </p:spPr>
          <p:txBody>
            <a:bodyPr spcFirstLastPara="1" wrap="square" lIns="79675" tIns="39825" rIns="79675" bIns="39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183"/>
                <a:buFont typeface="Arial"/>
                <a:buNone/>
              </a:pPr>
              <a:endParaRPr sz="4183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16"/>
            <p:cNvSpPr/>
            <p:nvPr/>
          </p:nvSpPr>
          <p:spPr>
            <a:xfrm>
              <a:off x="4483180" y="5717448"/>
              <a:ext cx="728132" cy="440266"/>
            </a:xfrm>
            <a:custGeom>
              <a:avLst/>
              <a:gdLst/>
              <a:ahLst/>
              <a:cxnLst/>
              <a:rect l="l" t="t" r="r" b="b"/>
              <a:pathLst>
                <a:path w="728132" h="440266" extrusionOk="0">
                  <a:moveTo>
                    <a:pt x="0" y="152400"/>
                  </a:moveTo>
                  <a:lnTo>
                    <a:pt x="287866" y="440266"/>
                  </a:lnTo>
                  <a:lnTo>
                    <a:pt x="728132" y="0"/>
                  </a:lnTo>
                </a:path>
              </a:pathLst>
            </a:custGeom>
            <a:solidFill>
              <a:srgbClr val="FFFFFF"/>
            </a:solidFill>
            <a:ln w="249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9675" tIns="39825" rIns="79675" bIns="39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183"/>
                <a:buFont typeface="Arial"/>
                <a:buNone/>
              </a:pPr>
              <a:endParaRPr sz="4183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3" name="Google Shape;113;p16"/>
          <p:cNvSpPr txBox="1"/>
          <p:nvPr/>
        </p:nvSpPr>
        <p:spPr>
          <a:xfrm>
            <a:off x="4491500" y="2364275"/>
            <a:ext cx="1882500" cy="25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675" tIns="79675" rIns="79675" bIns="79675" anchor="t" anchorCtr="0">
            <a:noAutofit/>
          </a:bodyPr>
          <a:lstStyle/>
          <a:p>
            <a:pPr marL="0" lvl="0" indent="0" algn="ctr" rtl="0">
              <a:spcBef>
                <a:spcPts val="523"/>
              </a:spcBef>
              <a:spcAft>
                <a:spcPts val="0"/>
              </a:spcAft>
              <a:buNone/>
            </a:pPr>
            <a:r>
              <a:rPr lang="en-US" sz="1220" b="1" u="sng" dirty="0">
                <a:solidFill>
                  <a:schemeClr val="lt1"/>
                </a:solidFill>
              </a:rPr>
              <a:t>Vos </a:t>
            </a:r>
            <a:r>
              <a:rPr lang="en-US" sz="1220" b="1" u="sng" dirty="0" err="1">
                <a:solidFill>
                  <a:schemeClr val="lt1"/>
                </a:solidFill>
              </a:rPr>
              <a:t>paramètres</a:t>
            </a:r>
            <a:r>
              <a:rPr lang="en-US" sz="1220" b="1" u="sng" dirty="0">
                <a:solidFill>
                  <a:schemeClr val="lt1"/>
                </a:solidFill>
              </a:rPr>
              <a:t> </a:t>
            </a:r>
            <a:endParaRPr sz="1220" b="1" u="sng" dirty="0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523"/>
              </a:spcBef>
              <a:spcAft>
                <a:spcPts val="0"/>
              </a:spcAft>
              <a:buNone/>
            </a:pPr>
            <a:endParaRPr sz="820" b="1" dirty="0">
              <a:solidFill>
                <a:schemeClr val="lt1"/>
              </a:solidFill>
            </a:endParaRPr>
          </a:p>
          <a:p>
            <a:pPr marL="78433" lvl="0" indent="-138209" algn="l" rtl="0">
              <a:spcBef>
                <a:spcPts val="523"/>
              </a:spcBef>
              <a:spcAft>
                <a:spcPts val="0"/>
              </a:spcAft>
              <a:buClr>
                <a:schemeClr val="lt1"/>
              </a:buClr>
              <a:buSzPts val="1000"/>
              <a:buChar char="➔"/>
            </a:pPr>
            <a:r>
              <a:rPr lang="en-US" sz="1000" dirty="0" err="1">
                <a:solidFill>
                  <a:schemeClr val="lt1"/>
                </a:solidFill>
              </a:rPr>
              <a:t>Évolution</a:t>
            </a:r>
            <a:r>
              <a:rPr lang="en-US" sz="1000" dirty="0">
                <a:solidFill>
                  <a:schemeClr val="lt1"/>
                </a:solidFill>
              </a:rPr>
              <a:t> </a:t>
            </a:r>
            <a:r>
              <a:rPr lang="en-US" sz="1000" dirty="0" err="1">
                <a:solidFill>
                  <a:schemeClr val="lt1"/>
                </a:solidFill>
              </a:rPr>
              <a:t>en</a:t>
            </a:r>
            <a:r>
              <a:rPr lang="en-US" sz="1000" dirty="0">
                <a:solidFill>
                  <a:schemeClr val="lt1"/>
                </a:solidFill>
              </a:rPr>
              <a:t> </a:t>
            </a:r>
            <a:r>
              <a:rPr lang="en-US" sz="1000" dirty="0" err="1">
                <a:solidFill>
                  <a:schemeClr val="lt1"/>
                </a:solidFill>
              </a:rPr>
              <a:t>nombre</a:t>
            </a:r>
            <a:r>
              <a:rPr lang="en-US" sz="1000" dirty="0">
                <a:solidFill>
                  <a:schemeClr val="lt1"/>
                </a:solidFill>
              </a:rPr>
              <a:t> </a:t>
            </a:r>
            <a:r>
              <a:rPr lang="en-US" sz="1000" dirty="0" err="1">
                <a:solidFill>
                  <a:schemeClr val="lt1"/>
                </a:solidFill>
              </a:rPr>
              <a:t>d’habitants</a:t>
            </a:r>
            <a:r>
              <a:rPr lang="en-US" sz="1000" dirty="0">
                <a:solidFill>
                  <a:schemeClr val="lt1"/>
                </a:solidFill>
              </a:rPr>
              <a:t> et de ménages</a:t>
            </a:r>
            <a:endParaRPr sz="1000" i="1" dirty="0">
              <a:solidFill>
                <a:schemeClr val="lt1"/>
              </a:solidFill>
            </a:endParaRPr>
          </a:p>
          <a:p>
            <a:pPr marL="78433" lvl="0" indent="-138209" algn="l" rtl="0">
              <a:spcBef>
                <a:spcPts val="523"/>
              </a:spcBef>
              <a:spcAft>
                <a:spcPts val="0"/>
              </a:spcAft>
              <a:buClr>
                <a:schemeClr val="lt1"/>
              </a:buClr>
              <a:buSzPts val="1000"/>
              <a:buChar char="➔"/>
            </a:pPr>
            <a:r>
              <a:rPr lang="en-US" sz="1000" dirty="0">
                <a:solidFill>
                  <a:schemeClr val="lt1"/>
                </a:solidFill>
              </a:rPr>
              <a:t>Un </a:t>
            </a:r>
            <a:r>
              <a:rPr lang="en-US" sz="1000" dirty="0" err="1">
                <a:solidFill>
                  <a:schemeClr val="lt1"/>
                </a:solidFill>
              </a:rPr>
              <a:t>objectif</a:t>
            </a:r>
            <a:r>
              <a:rPr lang="en-US" sz="1000" dirty="0">
                <a:solidFill>
                  <a:schemeClr val="lt1"/>
                </a:solidFill>
              </a:rPr>
              <a:t> de </a:t>
            </a:r>
            <a:r>
              <a:rPr lang="en-US" sz="1000" dirty="0" err="1">
                <a:solidFill>
                  <a:schemeClr val="lt1"/>
                </a:solidFill>
              </a:rPr>
              <a:t>réduction</a:t>
            </a:r>
            <a:r>
              <a:rPr lang="en-US" sz="1000" dirty="0">
                <a:solidFill>
                  <a:schemeClr val="lt1"/>
                </a:solidFill>
              </a:rPr>
              <a:t> de la part des </a:t>
            </a:r>
            <a:r>
              <a:rPr lang="en-US" sz="1000" dirty="0" err="1">
                <a:solidFill>
                  <a:schemeClr val="lt1"/>
                </a:solidFill>
              </a:rPr>
              <a:t>logements</a:t>
            </a:r>
            <a:r>
              <a:rPr lang="en-US" sz="1000" dirty="0">
                <a:solidFill>
                  <a:schemeClr val="lt1"/>
                </a:solidFill>
              </a:rPr>
              <a:t> </a:t>
            </a:r>
            <a:r>
              <a:rPr lang="en-US" sz="1000" dirty="0" err="1">
                <a:solidFill>
                  <a:schemeClr val="lt1"/>
                </a:solidFill>
              </a:rPr>
              <a:t>vacants</a:t>
            </a:r>
            <a:r>
              <a:rPr lang="en-US" sz="1000" dirty="0">
                <a:solidFill>
                  <a:schemeClr val="lt1"/>
                </a:solidFill>
              </a:rPr>
              <a:t> de plus de 2 ans.</a:t>
            </a:r>
            <a:endParaRPr sz="1000" dirty="0">
              <a:solidFill>
                <a:schemeClr val="lt1"/>
              </a:solidFill>
            </a:endParaRPr>
          </a:p>
          <a:p>
            <a:pPr marL="78433" lvl="0" indent="-138209" algn="l" rtl="0">
              <a:spcBef>
                <a:spcPts val="523"/>
              </a:spcBef>
              <a:spcAft>
                <a:spcPts val="0"/>
              </a:spcAft>
              <a:buClr>
                <a:schemeClr val="lt1"/>
              </a:buClr>
              <a:buSzPts val="1000"/>
              <a:buChar char="➔"/>
            </a:pPr>
            <a:r>
              <a:rPr lang="en-US" sz="1000" dirty="0">
                <a:solidFill>
                  <a:schemeClr val="lt1"/>
                </a:solidFill>
              </a:rPr>
              <a:t>Un </a:t>
            </a:r>
            <a:r>
              <a:rPr lang="en-US" sz="1000" dirty="0" err="1">
                <a:solidFill>
                  <a:schemeClr val="lt1"/>
                </a:solidFill>
              </a:rPr>
              <a:t>objectif</a:t>
            </a:r>
            <a:r>
              <a:rPr lang="en-US" sz="1000" dirty="0">
                <a:solidFill>
                  <a:schemeClr val="lt1"/>
                </a:solidFill>
              </a:rPr>
              <a:t> de </a:t>
            </a:r>
            <a:r>
              <a:rPr lang="en-US" sz="1000" dirty="0" err="1">
                <a:solidFill>
                  <a:schemeClr val="lt1"/>
                </a:solidFill>
              </a:rPr>
              <a:t>taux</a:t>
            </a:r>
            <a:r>
              <a:rPr lang="en-US" sz="1000" dirty="0">
                <a:solidFill>
                  <a:schemeClr val="lt1"/>
                </a:solidFill>
              </a:rPr>
              <a:t> de </a:t>
            </a:r>
            <a:r>
              <a:rPr lang="en-US" sz="1000" dirty="0" err="1">
                <a:solidFill>
                  <a:schemeClr val="lt1"/>
                </a:solidFill>
              </a:rPr>
              <a:t>résidences</a:t>
            </a:r>
            <a:r>
              <a:rPr lang="en-US" sz="1000" dirty="0">
                <a:solidFill>
                  <a:schemeClr val="lt1"/>
                </a:solidFill>
              </a:rPr>
              <a:t> </a:t>
            </a:r>
            <a:r>
              <a:rPr lang="en-US" sz="1000" dirty="0" err="1">
                <a:solidFill>
                  <a:schemeClr val="lt1"/>
                </a:solidFill>
              </a:rPr>
              <a:t>secondaires</a:t>
            </a:r>
            <a:r>
              <a:rPr lang="en-US" sz="1000" dirty="0">
                <a:solidFill>
                  <a:schemeClr val="lt1"/>
                </a:solidFill>
              </a:rPr>
              <a:t>.</a:t>
            </a:r>
            <a:endParaRPr sz="1000" i="1" dirty="0">
              <a:solidFill>
                <a:schemeClr val="lt1"/>
              </a:solidFill>
            </a:endParaRPr>
          </a:p>
          <a:p>
            <a:pPr marL="78433" lvl="0" indent="-138209" algn="l" rtl="0">
              <a:spcBef>
                <a:spcPts val="523"/>
              </a:spcBef>
              <a:spcAft>
                <a:spcPts val="523"/>
              </a:spcAft>
              <a:buClr>
                <a:schemeClr val="lt1"/>
              </a:buClr>
              <a:buSzPts val="1000"/>
              <a:buChar char="➔"/>
            </a:pPr>
            <a:r>
              <a:rPr lang="en-US" sz="1000" dirty="0" err="1">
                <a:solidFill>
                  <a:schemeClr val="lt1"/>
                </a:solidFill>
              </a:rPr>
              <a:t>Résorption</a:t>
            </a:r>
            <a:r>
              <a:rPr lang="en-US" sz="1000" dirty="0">
                <a:solidFill>
                  <a:schemeClr val="lt1"/>
                </a:solidFill>
              </a:rPr>
              <a:t> du mal-</a:t>
            </a:r>
            <a:r>
              <a:rPr lang="en-US" sz="1000" dirty="0" err="1">
                <a:solidFill>
                  <a:schemeClr val="lt1"/>
                </a:solidFill>
              </a:rPr>
              <a:t>logement</a:t>
            </a:r>
            <a:r>
              <a:rPr lang="en-US" sz="1000" dirty="0">
                <a:solidFill>
                  <a:schemeClr val="lt1"/>
                </a:solidFill>
              </a:rPr>
              <a:t>.</a:t>
            </a:r>
            <a:endParaRPr sz="1220" b="1" i="1" dirty="0">
              <a:solidFill>
                <a:srgbClr val="FFFFFF"/>
              </a:solidFill>
            </a:endParaRPr>
          </a:p>
        </p:txBody>
      </p:sp>
      <p:cxnSp>
        <p:nvCxnSpPr>
          <p:cNvPr id="114" name="Google Shape;114;p16"/>
          <p:cNvCxnSpPr/>
          <p:nvPr/>
        </p:nvCxnSpPr>
        <p:spPr>
          <a:xfrm>
            <a:off x="4306025" y="2474226"/>
            <a:ext cx="0" cy="2307000"/>
          </a:xfrm>
          <a:prstGeom prst="straightConnector1">
            <a:avLst/>
          </a:prstGeom>
          <a:noFill/>
          <a:ln w="83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5" name="Google Shape;115;p16"/>
          <p:cNvSpPr txBox="1"/>
          <p:nvPr/>
        </p:nvSpPr>
        <p:spPr>
          <a:xfrm>
            <a:off x="6744900" y="2364275"/>
            <a:ext cx="1882500" cy="25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675" tIns="79675" rIns="79675" bIns="79675" anchor="t" anchorCtr="0">
            <a:noAutofit/>
          </a:bodyPr>
          <a:lstStyle/>
          <a:p>
            <a:pPr marL="0" lvl="0" indent="0" algn="ctr" rtl="0">
              <a:spcBef>
                <a:spcPts val="523"/>
              </a:spcBef>
              <a:spcAft>
                <a:spcPts val="0"/>
              </a:spcAft>
              <a:buClr>
                <a:srgbClr val="000000"/>
              </a:buClr>
              <a:buSzPts val="959"/>
              <a:buFont typeface="Arial"/>
              <a:buNone/>
            </a:pPr>
            <a:r>
              <a:rPr lang="en-US" sz="1220" b="1" u="sng">
                <a:solidFill>
                  <a:srgbClr val="FFFFFF"/>
                </a:solidFill>
              </a:rPr>
              <a:t>Les résultats d’Otelo</a:t>
            </a:r>
            <a:endParaRPr sz="1220" b="1" u="sng">
              <a:solidFill>
                <a:srgbClr val="FFFFFF"/>
              </a:solidFill>
            </a:endParaRPr>
          </a:p>
          <a:p>
            <a:pPr marL="0" lvl="0" indent="0" algn="just" rtl="0">
              <a:spcBef>
                <a:spcPts val="523"/>
              </a:spcBef>
              <a:spcAft>
                <a:spcPts val="0"/>
              </a:spcAft>
              <a:buClr>
                <a:srgbClr val="000000"/>
              </a:buClr>
              <a:buSzPts val="959"/>
              <a:buFont typeface="Arial"/>
              <a:buNone/>
            </a:pPr>
            <a:endParaRPr sz="820" b="1">
              <a:solidFill>
                <a:srgbClr val="FFFFFF"/>
              </a:solidFill>
            </a:endParaRPr>
          </a:p>
          <a:p>
            <a:pPr marL="78433" lvl="0" indent="-138209" algn="l" rtl="0">
              <a:spcBef>
                <a:spcPts val="523"/>
              </a:spcBef>
              <a:spcAft>
                <a:spcPts val="0"/>
              </a:spcAft>
              <a:buClr>
                <a:schemeClr val="lt1"/>
              </a:buClr>
              <a:buSzPts val="1000"/>
              <a:buChar char="➔"/>
            </a:pPr>
            <a:r>
              <a:rPr lang="en-US" sz="1000" b="1">
                <a:solidFill>
                  <a:schemeClr val="lt1"/>
                </a:solidFill>
              </a:rPr>
              <a:t>Besoins en logements supplémentaires :</a:t>
            </a:r>
            <a:endParaRPr sz="1000" b="1">
              <a:solidFill>
                <a:schemeClr val="lt1"/>
              </a:solidFill>
            </a:endParaRPr>
          </a:p>
          <a:p>
            <a:pPr marL="228600" lvl="1" indent="-120650" algn="l" rtl="0">
              <a:spcBef>
                <a:spcPts val="523"/>
              </a:spcBef>
              <a:spcAft>
                <a:spcPts val="0"/>
              </a:spcAft>
              <a:buClr>
                <a:schemeClr val="lt1"/>
              </a:buClr>
              <a:buSzPts val="1000"/>
              <a:buChar char="◆"/>
            </a:pPr>
            <a:r>
              <a:rPr lang="en-US" sz="1000">
                <a:solidFill>
                  <a:schemeClr val="lt1"/>
                </a:solidFill>
              </a:rPr>
              <a:t>Nombre de </a:t>
            </a:r>
            <a:r>
              <a:rPr lang="en-US" sz="1000" b="1">
                <a:solidFill>
                  <a:schemeClr val="lt1"/>
                </a:solidFill>
              </a:rPr>
              <a:t>constructions neuves</a:t>
            </a:r>
            <a:r>
              <a:rPr lang="en-US" sz="1000">
                <a:solidFill>
                  <a:schemeClr val="lt1"/>
                </a:solidFill>
              </a:rPr>
              <a:t> nécessaires.</a:t>
            </a:r>
            <a:endParaRPr sz="1000">
              <a:solidFill>
                <a:schemeClr val="lt1"/>
              </a:solidFill>
            </a:endParaRPr>
          </a:p>
          <a:p>
            <a:pPr marL="228600" lvl="1" indent="-120650" algn="l" rtl="0">
              <a:spcBef>
                <a:spcPts val="523"/>
              </a:spcBef>
              <a:spcAft>
                <a:spcPts val="523"/>
              </a:spcAft>
              <a:buClr>
                <a:schemeClr val="lt1"/>
              </a:buClr>
              <a:buSzPts val="1000"/>
              <a:buChar char="◆"/>
            </a:pPr>
            <a:r>
              <a:rPr lang="en-US" sz="1000">
                <a:solidFill>
                  <a:schemeClr val="lt1"/>
                </a:solidFill>
              </a:rPr>
              <a:t>Nombre de </a:t>
            </a:r>
            <a:r>
              <a:rPr lang="en-US" sz="1000" b="1">
                <a:solidFill>
                  <a:schemeClr val="lt1"/>
                </a:solidFill>
              </a:rPr>
              <a:t>logements vacants à remettre sur le marché</a:t>
            </a:r>
            <a:r>
              <a:rPr lang="en-US" sz="1000">
                <a:solidFill>
                  <a:schemeClr val="lt1"/>
                </a:solidFill>
              </a:rPr>
              <a:t>.</a:t>
            </a:r>
            <a:endParaRPr sz="1000">
              <a:solidFill>
                <a:srgbClr val="FFFFFF"/>
              </a:solidFill>
            </a:endParaRPr>
          </a:p>
        </p:txBody>
      </p:sp>
      <p:sp>
        <p:nvSpPr>
          <p:cNvPr id="116" name="Google Shape;116;p16"/>
          <p:cNvSpPr txBox="1"/>
          <p:nvPr/>
        </p:nvSpPr>
        <p:spPr>
          <a:xfrm>
            <a:off x="2370700" y="1113213"/>
            <a:ext cx="6230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Otelo est un </a:t>
            </a:r>
            <a:r>
              <a:rPr lang="en-US" sz="1200" b="1">
                <a:solidFill>
                  <a:schemeClr val="dk1"/>
                </a:solidFill>
              </a:rPr>
              <a:t>outil numérique d'aide à la décision </a:t>
            </a:r>
            <a:r>
              <a:rPr lang="en-US" sz="1200">
                <a:solidFill>
                  <a:schemeClr val="dk1"/>
                </a:solidFill>
              </a:rPr>
              <a:t>développé par la DGALN et le Cerema. Il permet </a:t>
            </a:r>
            <a:r>
              <a:rPr lang="en-US" sz="1200" b="1">
                <a:solidFill>
                  <a:schemeClr val="dk1"/>
                </a:solidFill>
              </a:rPr>
              <a:t>d’estimer précisément les besoins en logement des collectivités </a:t>
            </a:r>
            <a:r>
              <a:rPr lang="en-US" sz="1200">
                <a:solidFill>
                  <a:schemeClr val="dk1"/>
                </a:solidFill>
              </a:rPr>
              <a:t>afin de prendre des décisions éclairées en matière d’aménagement du
                                territoire.</a:t>
            </a:r>
            <a:endParaRPr sz="1200"/>
          </a:p>
        </p:txBody>
      </p:sp>
      <p:sp>
        <p:nvSpPr>
          <p:cNvPr id="117" name="Google Shape;117;p16"/>
          <p:cNvSpPr txBox="1"/>
          <p:nvPr/>
        </p:nvSpPr>
        <p:spPr>
          <a:xfrm>
            <a:off x="2238050" y="2364225"/>
            <a:ext cx="1882500" cy="25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675" tIns="79675" rIns="79675" bIns="79675" anchor="t" anchorCtr="0">
            <a:noAutofit/>
          </a:bodyPr>
          <a:lstStyle/>
          <a:p>
            <a:pPr marL="0" lvl="0" indent="0" algn="ctr" rtl="0">
              <a:spcBef>
                <a:spcPts val="523"/>
              </a:spcBef>
              <a:spcAft>
                <a:spcPts val="0"/>
              </a:spcAft>
              <a:buClr>
                <a:srgbClr val="000000"/>
              </a:buClr>
              <a:buSzPts val="959"/>
              <a:buFont typeface="Arial"/>
              <a:buNone/>
            </a:pPr>
            <a:r>
              <a:rPr lang="en-US" sz="1220" b="1" u="sng" dirty="0">
                <a:solidFill>
                  <a:srgbClr val="FFFFFF"/>
                </a:solidFill>
              </a:rPr>
              <a:t>La </a:t>
            </a:r>
            <a:r>
              <a:rPr lang="en-US" sz="1220" b="1" u="sng" dirty="0" err="1">
                <a:solidFill>
                  <a:srgbClr val="FFFFFF"/>
                </a:solidFill>
              </a:rPr>
              <a:t>méthode</a:t>
            </a:r>
            <a:r>
              <a:rPr lang="en-US" sz="1220" b="1" u="sng" dirty="0">
                <a:solidFill>
                  <a:srgbClr val="FFFFFF"/>
                </a:solidFill>
              </a:rPr>
              <a:t> de </a:t>
            </a:r>
            <a:r>
              <a:rPr lang="en-US" sz="1220" b="1" u="sng" dirty="0" err="1">
                <a:solidFill>
                  <a:srgbClr val="FFFFFF"/>
                </a:solidFill>
              </a:rPr>
              <a:t>calcul</a:t>
            </a:r>
            <a:endParaRPr sz="1220" b="1" u="sng" dirty="0"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523"/>
              </a:spcBef>
              <a:spcAft>
                <a:spcPts val="0"/>
              </a:spcAft>
              <a:buClr>
                <a:srgbClr val="000000"/>
              </a:buClr>
              <a:buSzPts val="959"/>
              <a:buFont typeface="Arial"/>
              <a:buNone/>
            </a:pPr>
            <a:endParaRPr sz="820" b="1" dirty="0">
              <a:solidFill>
                <a:srgbClr val="FFFFFF"/>
              </a:solidFill>
            </a:endParaRPr>
          </a:p>
          <a:p>
            <a:pPr marL="78433" marR="0" lvl="0" indent="-138209" algn="l" rtl="0">
              <a:lnSpc>
                <a:spcPct val="100000"/>
              </a:lnSpc>
              <a:spcBef>
                <a:spcPts val="523"/>
              </a:spcBef>
              <a:spcAft>
                <a:spcPts val="0"/>
              </a:spcAft>
              <a:buClr>
                <a:srgbClr val="FFFFFF"/>
              </a:buClr>
              <a:buSzPts val="1000"/>
              <a:buChar char="➔"/>
            </a:pPr>
            <a:r>
              <a:rPr lang="en-US" sz="1000" b="1" dirty="0" err="1">
                <a:solidFill>
                  <a:srgbClr val="FFFFFF"/>
                </a:solidFill>
              </a:rPr>
              <a:t>Otelo</a:t>
            </a:r>
            <a:r>
              <a:rPr lang="en-US" sz="1000" b="1" dirty="0">
                <a:solidFill>
                  <a:srgbClr val="FFFFFF"/>
                </a:solidFill>
              </a:rPr>
              <a:t> </a:t>
            </a:r>
            <a:r>
              <a:rPr lang="en-US" sz="1000" b="1" dirty="0" err="1">
                <a:solidFill>
                  <a:srgbClr val="FFFFFF"/>
                </a:solidFill>
              </a:rPr>
              <a:t>analyse</a:t>
            </a:r>
            <a:r>
              <a:rPr lang="en-US" sz="1000" b="1" dirty="0">
                <a:solidFill>
                  <a:srgbClr val="FFFFFF"/>
                </a:solidFill>
              </a:rPr>
              <a:t> 2 types de </a:t>
            </a:r>
            <a:r>
              <a:rPr lang="en-US" sz="1000" b="1" dirty="0" err="1">
                <a:solidFill>
                  <a:srgbClr val="FFFFFF"/>
                </a:solidFill>
              </a:rPr>
              <a:t>besoins</a:t>
            </a:r>
            <a:r>
              <a:rPr lang="en-US" sz="1000" b="1" dirty="0">
                <a:solidFill>
                  <a:srgbClr val="FFFFFF"/>
                </a:solidFill>
              </a:rPr>
              <a:t> </a:t>
            </a:r>
            <a:r>
              <a:rPr lang="en-US" sz="1000" b="1" dirty="0" err="1">
                <a:solidFill>
                  <a:srgbClr val="FFFFFF"/>
                </a:solidFill>
              </a:rPr>
              <a:t>complémentaires</a:t>
            </a:r>
            <a:r>
              <a:rPr lang="en-US" sz="1000" b="1" dirty="0">
                <a:solidFill>
                  <a:srgbClr val="FFFFFF"/>
                </a:solidFill>
              </a:rPr>
              <a:t> :</a:t>
            </a:r>
            <a:endParaRPr sz="1000" b="1" dirty="0">
              <a:solidFill>
                <a:srgbClr val="FFFFFF"/>
              </a:solidFill>
            </a:endParaRPr>
          </a:p>
          <a:p>
            <a:pPr marL="228600" marR="0" lvl="1" indent="-120650" algn="l" rtl="0">
              <a:lnSpc>
                <a:spcPct val="100000"/>
              </a:lnSpc>
              <a:spcBef>
                <a:spcPts val="523"/>
              </a:spcBef>
              <a:spcAft>
                <a:spcPts val="0"/>
              </a:spcAft>
              <a:buClr>
                <a:srgbClr val="FFFFFF"/>
              </a:buClr>
              <a:buSzPts val="1000"/>
              <a:buChar char="◆"/>
            </a:pPr>
            <a:r>
              <a:rPr lang="en-US" sz="1000" b="1" dirty="0" err="1">
                <a:solidFill>
                  <a:srgbClr val="FFFFFF"/>
                </a:solidFill>
              </a:rPr>
              <a:t>Besoins</a:t>
            </a:r>
            <a:r>
              <a:rPr lang="en-US" sz="1000" b="1" dirty="0">
                <a:solidFill>
                  <a:srgbClr val="FFFFFF"/>
                </a:solidFill>
              </a:rPr>
              <a:t> </a:t>
            </a:r>
            <a:r>
              <a:rPr lang="en-US" sz="1000" b="1" dirty="0" err="1">
                <a:solidFill>
                  <a:srgbClr val="FFFFFF"/>
                </a:solidFill>
              </a:rPr>
              <a:t>futurs</a:t>
            </a:r>
            <a:r>
              <a:rPr lang="en-US" sz="1000" dirty="0">
                <a:solidFill>
                  <a:srgbClr val="FFFFFF"/>
                </a:solidFill>
              </a:rPr>
              <a:t> : </a:t>
            </a:r>
            <a:r>
              <a:rPr lang="en-US" sz="1000" dirty="0" err="1">
                <a:solidFill>
                  <a:srgbClr val="FFFFFF"/>
                </a:solidFill>
              </a:rPr>
              <a:t>logements</a:t>
            </a:r>
            <a:r>
              <a:rPr lang="en-US" sz="1000" dirty="0">
                <a:solidFill>
                  <a:srgbClr val="FFFFFF"/>
                </a:solidFill>
              </a:rPr>
              <a:t> pour les nouveaux ménages qui </a:t>
            </a:r>
            <a:r>
              <a:rPr lang="en-US" sz="1000" dirty="0" err="1">
                <a:solidFill>
                  <a:srgbClr val="FFFFFF"/>
                </a:solidFill>
              </a:rPr>
              <a:t>vont</a:t>
            </a:r>
            <a:r>
              <a:rPr lang="en-US" sz="1000" dirty="0">
                <a:solidFill>
                  <a:srgbClr val="FFFFFF"/>
                </a:solidFill>
              </a:rPr>
              <a:t> se former.</a:t>
            </a:r>
            <a:endParaRPr sz="1000" dirty="0">
              <a:solidFill>
                <a:srgbClr val="FFFFFF"/>
              </a:solidFill>
            </a:endParaRPr>
          </a:p>
          <a:p>
            <a:pPr marL="228600" marR="0" lvl="1" indent="-120650" algn="l" rtl="0">
              <a:lnSpc>
                <a:spcPct val="100000"/>
              </a:lnSpc>
              <a:spcBef>
                <a:spcPts val="523"/>
              </a:spcBef>
              <a:spcAft>
                <a:spcPts val="523"/>
              </a:spcAft>
              <a:buClr>
                <a:srgbClr val="FFFFFF"/>
              </a:buClr>
              <a:buSzPts val="1000"/>
              <a:buChar char="◆"/>
            </a:pPr>
            <a:r>
              <a:rPr lang="en-US" sz="1000" b="1" dirty="0" err="1">
                <a:solidFill>
                  <a:srgbClr val="FFFFFF"/>
                </a:solidFill>
              </a:rPr>
              <a:t>Besoins</a:t>
            </a:r>
            <a:r>
              <a:rPr lang="en-US" sz="1000" b="1" dirty="0">
                <a:solidFill>
                  <a:srgbClr val="FFFFFF"/>
                </a:solidFill>
              </a:rPr>
              <a:t> </a:t>
            </a:r>
            <a:r>
              <a:rPr lang="en-US" sz="1000" b="1" dirty="0" err="1">
                <a:solidFill>
                  <a:srgbClr val="FFFFFF"/>
                </a:solidFill>
              </a:rPr>
              <a:t>actuels</a:t>
            </a:r>
            <a:r>
              <a:rPr lang="en-US" sz="1000" dirty="0">
                <a:solidFill>
                  <a:srgbClr val="FFFFFF"/>
                </a:solidFill>
              </a:rPr>
              <a:t> : </a:t>
            </a:r>
            <a:r>
              <a:rPr lang="en-US" sz="1000" dirty="0" err="1">
                <a:solidFill>
                  <a:srgbClr val="FFFFFF"/>
                </a:solidFill>
              </a:rPr>
              <a:t>logements</a:t>
            </a:r>
            <a:r>
              <a:rPr lang="en-US" sz="1000" dirty="0">
                <a:solidFill>
                  <a:srgbClr val="FFFFFF"/>
                </a:solidFill>
              </a:rPr>
              <a:t> pour </a:t>
            </a:r>
            <a:r>
              <a:rPr lang="en-US" sz="1000" dirty="0" err="1">
                <a:solidFill>
                  <a:srgbClr val="FFFFFF"/>
                </a:solidFill>
              </a:rPr>
              <a:t>résoudre</a:t>
            </a:r>
            <a:r>
              <a:rPr lang="en-US" sz="1000" dirty="0">
                <a:solidFill>
                  <a:srgbClr val="FFFFFF"/>
                </a:solidFill>
              </a:rPr>
              <a:t> les situations de mal-</a:t>
            </a:r>
            <a:r>
              <a:rPr lang="en-US" sz="1000" dirty="0" err="1">
                <a:solidFill>
                  <a:srgbClr val="FFFFFF"/>
                </a:solidFill>
              </a:rPr>
              <a:t>logement</a:t>
            </a:r>
            <a:r>
              <a:rPr lang="en-US" sz="1000" dirty="0">
                <a:solidFill>
                  <a:srgbClr val="FFFFFF"/>
                </a:solidFill>
              </a:rPr>
              <a:t> </a:t>
            </a:r>
            <a:r>
              <a:rPr lang="en-US" sz="1000" dirty="0" err="1">
                <a:solidFill>
                  <a:srgbClr val="FFFFFF"/>
                </a:solidFill>
              </a:rPr>
              <a:t>existantes</a:t>
            </a:r>
            <a:r>
              <a:rPr lang="en-US" sz="1000" dirty="0">
                <a:solidFill>
                  <a:srgbClr val="FFFFFF"/>
                </a:solidFill>
              </a:rPr>
              <a:t>.</a:t>
            </a:r>
            <a:endParaRPr sz="1000" dirty="0">
              <a:solidFill>
                <a:srgbClr val="FFFFFF"/>
              </a:solidFill>
            </a:endParaRPr>
          </a:p>
        </p:txBody>
      </p:sp>
      <p:cxnSp>
        <p:nvCxnSpPr>
          <p:cNvPr id="120" name="Google Shape;120;p16"/>
          <p:cNvCxnSpPr/>
          <p:nvPr/>
        </p:nvCxnSpPr>
        <p:spPr>
          <a:xfrm>
            <a:off x="6544400" y="2474226"/>
            <a:ext cx="0" cy="2307000"/>
          </a:xfrm>
          <a:prstGeom prst="straightConnector1">
            <a:avLst/>
          </a:prstGeom>
          <a:noFill/>
          <a:ln w="83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" name="Google Shape;91;p14">
            <a:extLst>
              <a:ext uri="{FF2B5EF4-FFF2-40B4-BE49-F238E27FC236}">
                <a16:creationId xmlns:a16="http://schemas.microsoft.com/office/drawing/2014/main" id="{0FB46CCA-AA96-7DF5-027D-FF66A112092E}"/>
              </a:ext>
            </a:extLst>
          </p:cNvPr>
          <p:cNvSpPr txBox="1">
            <a:spLocks/>
          </p:cNvSpPr>
          <p:nvPr/>
        </p:nvSpPr>
        <p:spPr>
          <a:xfrm>
            <a:off x="355025" y="484524"/>
            <a:ext cx="1535700" cy="346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/>
            <a:r>
              <a:rPr lang="en-US" sz="1100" i="1" dirty="0"/>
              <a:t>EPCI </a:t>
            </a:r>
            <a:r>
              <a:rPr lang="en-US" sz="1100" i="1" dirty="0" err="1"/>
              <a:t>{{layoutEpciName}}</a:t>
            </a:r>
            <a:r>
              <a:rPr lang="en-US" sz="1100" i="1" dirty="0"/>
              <a:t> / BH </a:t>
            </a:r>
            <a:r>
              <a:rPr lang="en-US" sz="1100" i="1" dirty="0" err="1"/>
              <a:t>{{layoutBassinName}}</a:t>
            </a:r>
          </a:p>
        </p:txBody>
      </p:sp>
      <p:sp>
        <p:nvSpPr>
          <p:cNvPr id="5" name="Google Shape;92;p14">
            <a:extLst>
              <a:ext uri="{FF2B5EF4-FFF2-40B4-BE49-F238E27FC236}">
                <a16:creationId xmlns:a16="http://schemas.microsoft.com/office/drawing/2014/main" id="{F75BE5EC-91BD-5E7F-2B50-FDAB07620020}"/>
              </a:ext>
            </a:extLst>
          </p:cNvPr>
          <p:cNvSpPr txBox="1">
            <a:spLocks/>
          </p:cNvSpPr>
          <p:nvPr/>
        </p:nvSpPr>
        <p:spPr>
          <a:xfrm>
            <a:off x="355025" y="1017925"/>
            <a:ext cx="1535700" cy="733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/>
            <a:r>
              <a:rPr lang="en-US" sz="1100" dirty="0"/>
              <a:t>Estimation sur la </a:t>
            </a:r>
            <a:r>
              <a:rPr lang="en-US" sz="1100" dirty="0" err="1"/>
              <a:t>période {{layoutStart}}</a:t>
            </a:r>
            <a:r>
              <a:rPr lang="en-US" sz="1100" dirty="0"/>
              <a:t> – </a:t>
            </a:r>
            <a:r>
              <a:rPr lang="en-US" sz="1100" dirty="0" err="1"/>
              <a:t>{{layoutEnd}}</a:t>
            </a:r>
            <a:r>
              <a:rPr lang="en-US" sz="1100" dirty="0"/>
              <a:t> pour le </a:t>
            </a:r>
            <a:r>
              <a:rPr lang="en-US" sz="1100" dirty="0" err="1"/>
              <a:t>{{layoutDocumentType}}</a:t>
            </a:r>
            <a:endParaRPr lang="en-US" sz="1100" i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 txBox="1">
            <a:spLocks noGrp="1"/>
          </p:cNvSpPr>
          <p:nvPr>
            <p:ph type="body" idx="1"/>
          </p:nvPr>
        </p:nvSpPr>
        <p:spPr>
          <a:xfrm>
            <a:off x="2709800" y="2344050"/>
            <a:ext cx="5277600" cy="455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 Les données de cadrage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8"/>
          <p:cNvSpPr txBox="1"/>
          <p:nvPr/>
        </p:nvSpPr>
        <p:spPr>
          <a:xfrm>
            <a:off x="2600446" y="184525"/>
            <a:ext cx="62673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262626"/>
                </a:solidFill>
              </a:rPr>
              <a:t>Comparaison entre la construction récente et l’évolution de la population</a:t>
            </a:r>
            <a:endParaRPr sz="1200" i="1">
              <a:solidFill>
                <a:srgbClr val="262626"/>
              </a:solidFill>
            </a:endParaRPr>
          </a:p>
        </p:txBody>
      </p:sp>
      <p:sp>
        <p:nvSpPr>
          <p:cNvPr id="2" name="Google Shape;91;p14">
            <a:extLst>
              <a:ext uri="{FF2B5EF4-FFF2-40B4-BE49-F238E27FC236}">
                <a16:creationId xmlns:a16="http://schemas.microsoft.com/office/drawing/2014/main" id="{AD9DD880-1E8B-101C-3917-FED770FA8999}"/>
              </a:ext>
            </a:extLst>
          </p:cNvPr>
          <p:cNvSpPr txBox="1">
            <a:spLocks/>
          </p:cNvSpPr>
          <p:nvPr/>
        </p:nvSpPr>
        <p:spPr>
          <a:xfrm>
            <a:off x="355025" y="484524"/>
            <a:ext cx="1535700" cy="346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/>
            <a:r>
              <a:rPr lang="en-US" sz="1100" i="1"/>
              <a:t>EPCI {{layoutEpciName}} / BH {{layoutBassinName}}</a:t>
            </a:r>
            <a:endParaRPr lang="en-US" sz="1100" i="1" dirty="0"/>
          </a:p>
        </p:txBody>
      </p:sp>
      <p:sp>
        <p:nvSpPr>
          <p:cNvPr id="3" name="Google Shape;92;p14">
            <a:extLst>
              <a:ext uri="{FF2B5EF4-FFF2-40B4-BE49-F238E27FC236}">
                <a16:creationId xmlns:a16="http://schemas.microsoft.com/office/drawing/2014/main" id="{8619A1E2-864C-0AE1-6AB8-18EAC0EAB41E}"/>
              </a:ext>
            </a:extLst>
          </p:cNvPr>
          <p:cNvSpPr txBox="1">
            <a:spLocks/>
          </p:cNvSpPr>
          <p:nvPr/>
        </p:nvSpPr>
        <p:spPr>
          <a:xfrm>
            <a:off x="355025" y="1017925"/>
            <a:ext cx="1535700" cy="733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/>
            <a:r>
              <a:rPr lang="en-US" sz="1100"/>
              <a:t>Estimation sur la période {{layoutStart}} – {{layoutEnd}} pour le {{layoutDocumentType}}</a:t>
            </a:r>
            <a:endParaRPr lang="en-US" sz="1100" i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9"/>
          <p:cNvSpPr txBox="1"/>
          <p:nvPr/>
        </p:nvSpPr>
        <p:spPr>
          <a:xfrm>
            <a:off x="2469158" y="369175"/>
            <a:ext cx="6267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262626"/>
                </a:solidFill>
              </a:rPr>
              <a:t>L’évolution du parc de logements</a:t>
            </a:r>
            <a:endParaRPr sz="1200" i="1">
              <a:solidFill>
                <a:srgbClr val="262626"/>
              </a:solidFill>
            </a:endParaRPr>
          </a:p>
        </p:txBody>
      </p:sp>
      <p:pic>
        <p:nvPicPr>
          <p:cNvPr id="138" name="Google Shape;138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90976" y="1017925"/>
            <a:ext cx="4623651" cy="3853024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9"/>
          <p:cNvSpPr/>
          <p:nvPr/>
        </p:nvSpPr>
        <p:spPr>
          <a:xfrm>
            <a:off x="4173675" y="2898650"/>
            <a:ext cx="2501400" cy="1210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Ne pas automatiser dans un premier temps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91;p14">
            <a:extLst>
              <a:ext uri="{FF2B5EF4-FFF2-40B4-BE49-F238E27FC236}">
                <a16:creationId xmlns:a16="http://schemas.microsoft.com/office/drawing/2014/main" id="{F5F5EB2E-2833-5180-460C-4EB54C9A4D0D}"/>
              </a:ext>
            </a:extLst>
          </p:cNvPr>
          <p:cNvSpPr txBox="1">
            <a:spLocks/>
          </p:cNvSpPr>
          <p:nvPr/>
        </p:nvSpPr>
        <p:spPr>
          <a:xfrm>
            <a:off x="355025" y="484524"/>
            <a:ext cx="1535700" cy="346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/>
            <a:r>
              <a:rPr lang="en-US" sz="1100" i="1"/>
              <a:t>EPCI {{layoutEpciName}} / BH {{layoutBassinName}}</a:t>
            </a:r>
            <a:endParaRPr lang="en-US" sz="1100" i="1" dirty="0"/>
          </a:p>
        </p:txBody>
      </p:sp>
      <p:sp>
        <p:nvSpPr>
          <p:cNvPr id="3" name="Google Shape;92;p14">
            <a:extLst>
              <a:ext uri="{FF2B5EF4-FFF2-40B4-BE49-F238E27FC236}">
                <a16:creationId xmlns:a16="http://schemas.microsoft.com/office/drawing/2014/main" id="{26316708-287E-4AAD-D84F-6B3BE805B2D7}"/>
              </a:ext>
            </a:extLst>
          </p:cNvPr>
          <p:cNvSpPr txBox="1">
            <a:spLocks/>
          </p:cNvSpPr>
          <p:nvPr/>
        </p:nvSpPr>
        <p:spPr>
          <a:xfrm>
            <a:off x="355025" y="1017925"/>
            <a:ext cx="1535700" cy="733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/>
            <a:r>
              <a:rPr lang="en-US" sz="1100"/>
              <a:t>Estimation sur la période {{layoutStart}} – {{layoutEnd}} pour le {{layoutDocumentType}}</a:t>
            </a:r>
            <a:endParaRPr lang="en-US" sz="1100" i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0"/>
          <p:cNvSpPr txBox="1"/>
          <p:nvPr/>
        </p:nvSpPr>
        <p:spPr>
          <a:xfrm>
            <a:off x="2552821" y="184525"/>
            <a:ext cx="62673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262626"/>
                </a:solidFill>
              </a:rPr>
              <a:t>Les trois scénarios de population du modèle OMPHALE</a:t>
            </a:r>
            <a:endParaRPr sz="1200" i="1">
              <a:solidFill>
                <a:srgbClr val="262626"/>
              </a:solidFill>
            </a:endParaRPr>
          </a:p>
        </p:txBody>
      </p:sp>
      <p:pic>
        <p:nvPicPr>
          <p:cNvPr id="147" name="Google Shape;147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4325" y="1609950"/>
            <a:ext cx="5021750" cy="30684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0" name="Google Shape;150;p20"/>
          <p:cNvGraphicFramePr/>
          <p:nvPr>
            <p:extLst>
              <p:ext uri="{D42A27DB-BD31-4B8C-83A1-F6EECF244321}">
                <p14:modId xmlns:p14="http://schemas.microsoft.com/office/powerpoint/2010/main" val="496623650"/>
              </p:ext>
            </p:extLst>
          </p:nvPr>
        </p:nvGraphicFramePr>
        <p:xfrm>
          <a:off x="5438700" y="1310800"/>
          <a:ext cx="3495725" cy="3068400"/>
        </p:xfrm>
        <a:graphic>
          <a:graphicData uri="http://schemas.openxmlformats.org/drawingml/2006/table">
            <a:tbl>
              <a:tblPr>
                <a:noFill/>
                <a:tableStyleId>{8782ED91-6AAA-4FC9-A8D7-22FAF3BB82A8}</a:tableStyleId>
              </a:tblPr>
              <a:tblGrid>
                <a:gridCol w="1059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0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7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7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644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/>
                    </a:p>
                  </a:txBody>
                  <a:tcPr marL="68575" marR="68575" marT="91425" marB="91425"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u="sng"/>
                        <a:t>Evolution annuelle moyenne (en %)</a:t>
                      </a:r>
                      <a:endParaRPr b="1" u="sng"/>
                    </a:p>
                  </a:txBody>
                  <a:tcPr marL="68575" marR="68575" marT="0" marB="0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350">
                <a:tc>
                  <a:txBody>
                    <a:bodyPr/>
                    <a:lstStyle/>
                    <a:p>
                      <a:pPr marL="0" lvl="0" indent="0" algn="just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1"/>
                        <a:t>Périodes</a:t>
                      </a:r>
                      <a:endParaRPr sz="1200" b="1" i="1"/>
                    </a:p>
                  </a:txBody>
                  <a:tcPr marL="68575" marR="68575" marT="0" marB="91425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i="1"/>
                        <a:t>2021 - 2030</a:t>
                      </a:r>
                      <a:endParaRPr sz="1200" i="1"/>
                    </a:p>
                  </a:txBody>
                  <a:tcPr marL="68575" marR="68575" marT="0" marB="91425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i="1"/>
                        <a:t>2030 - 2040</a:t>
                      </a:r>
                      <a:endParaRPr sz="1200" i="1"/>
                    </a:p>
                  </a:txBody>
                  <a:tcPr marL="68575" marR="68575" marT="0" marB="91425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i="1"/>
                        <a:t>2040 - 2050</a:t>
                      </a:r>
                      <a:endParaRPr sz="1200" i="1"/>
                    </a:p>
                  </a:txBody>
                  <a:tcPr marL="68575" marR="68575" marT="0" marB="91425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6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i="1" dirty="0"/>
                        <a:t>Pop. </a:t>
                      </a:r>
                      <a:r>
                        <a:rPr lang="en-US" sz="1200" i="1" dirty="0" err="1"/>
                        <a:t>basse</a:t>
                      </a:r>
                      <a:endParaRPr sz="1200" i="1" dirty="0"/>
                    </a:p>
                  </a:txBody>
                  <a:tcPr marL="68575" marR="68575" marT="0" marB="91425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/>
                        <a:t>{{pb1}}</a:t>
                      </a:r>
                      <a:endParaRPr sz="1200" dirty="0"/>
                    </a:p>
                  </a:txBody>
                  <a:tcPr marL="68575" marR="68575" marT="0" marB="91425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/>
                        <a:t>{{pb2}}</a:t>
                      </a:r>
                      <a:endParaRPr sz="1200" dirty="0"/>
                    </a:p>
                  </a:txBody>
                  <a:tcPr marL="68575" marR="68575" marT="0" marB="91425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/>
                        <a:t>{{pb3}}</a:t>
                      </a:r>
                      <a:endParaRPr sz="1200" dirty="0"/>
                    </a:p>
                  </a:txBody>
                  <a:tcPr marL="68575" marR="68575" marT="0" marB="91425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6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i="1" dirty="0">
                          <a:solidFill>
                            <a:schemeClr val="tx1"/>
                          </a:solidFill>
                        </a:rPr>
                        <a:t>Pop. centrale</a:t>
                      </a:r>
                      <a:endParaRPr sz="1200" i="1" dirty="0">
                        <a:solidFill>
                          <a:schemeClr val="tx1"/>
                        </a:solidFill>
                      </a:endParaRPr>
                    </a:p>
                  </a:txBody>
                  <a:tcPr marL="68575" marR="68575" marT="0" marB="91425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/>
                        <a:t>{{pc1}}</a:t>
                      </a:r>
                      <a:endParaRPr sz="1200" dirty="0">
                        <a:solidFill>
                          <a:schemeClr val="tx1"/>
                        </a:solidFill>
                      </a:endParaRPr>
                    </a:p>
                  </a:txBody>
                  <a:tcPr marL="68575" marR="68575" marT="0" marB="91425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{{pc2}}</a:t>
                      </a:r>
                      <a:endParaRPr sz="1200" dirty="0">
                        <a:solidFill>
                          <a:schemeClr val="tx1"/>
                        </a:solidFill>
                      </a:endParaRPr>
                    </a:p>
                  </a:txBody>
                  <a:tcPr marL="68575" marR="68575" marT="0" marB="91425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{{pc3}}</a:t>
                      </a:r>
                      <a:endParaRPr sz="1200" dirty="0">
                        <a:solidFill>
                          <a:schemeClr val="tx1"/>
                        </a:solidFill>
                      </a:endParaRPr>
                    </a:p>
                  </a:txBody>
                  <a:tcPr marL="68575" marR="68575" marT="0" marB="91425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6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i="1" dirty="0"/>
                        <a:t>Pop. haute</a:t>
                      </a:r>
                      <a:endParaRPr sz="1200" i="1" dirty="0"/>
                    </a:p>
                  </a:txBody>
                  <a:tcPr marL="68575" marR="68575" marT="0" marB="91425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/>
                        <a:t>{{ph1}}</a:t>
                      </a:r>
                      <a:endParaRPr sz="1200" dirty="0"/>
                    </a:p>
                  </a:txBody>
                  <a:tcPr marL="68575" marR="68575" marT="0" marB="91425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/>
                        <a:t>{{ph2}}</a:t>
                      </a:r>
                      <a:endParaRPr sz="1200" dirty="0"/>
                    </a:p>
                  </a:txBody>
                  <a:tcPr marL="68575" marR="68575" marT="0" marB="91425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{{ph3}}</a:t>
                      </a:r>
                      <a:endParaRPr sz="1200" dirty="0"/>
                    </a:p>
                  </a:txBody>
                  <a:tcPr marL="68575" marR="68575" marT="0" marB="91425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Google Shape;91;p14">
            <a:extLst>
              <a:ext uri="{FF2B5EF4-FFF2-40B4-BE49-F238E27FC236}">
                <a16:creationId xmlns:a16="http://schemas.microsoft.com/office/drawing/2014/main" id="{32A8B432-5E1E-6A8E-4277-770204E64AFD}"/>
              </a:ext>
            </a:extLst>
          </p:cNvPr>
          <p:cNvSpPr txBox="1">
            <a:spLocks/>
          </p:cNvSpPr>
          <p:nvPr/>
        </p:nvSpPr>
        <p:spPr>
          <a:xfrm>
            <a:off x="355025" y="484524"/>
            <a:ext cx="1535700" cy="346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/>
            <a:r>
              <a:rPr lang="en-US" sz="1100" i="1" dirty="0"/>
              <a:t>EPCI </a:t>
            </a:r>
            <a:r>
              <a:rPr lang="en-US" sz="1100" i="1" dirty="0" err="1"/>
              <a:t>{{layoutEpciName}}</a:t>
            </a:r>
            <a:r>
              <a:rPr lang="en-US" sz="1100" i="1" dirty="0"/>
              <a:t> / BH </a:t>
            </a:r>
            <a:r>
              <a:rPr lang="en-US" sz="1100" i="1" dirty="0" err="1"/>
              <a:t>{{layoutBassinName}}</a:t>
            </a:r>
          </a:p>
        </p:txBody>
      </p:sp>
      <p:sp>
        <p:nvSpPr>
          <p:cNvPr id="3" name="Google Shape;92;p14">
            <a:extLst>
              <a:ext uri="{FF2B5EF4-FFF2-40B4-BE49-F238E27FC236}">
                <a16:creationId xmlns:a16="http://schemas.microsoft.com/office/drawing/2014/main" id="{710A8A66-2EAC-AB57-3729-844C42590DA2}"/>
              </a:ext>
            </a:extLst>
          </p:cNvPr>
          <p:cNvSpPr txBox="1">
            <a:spLocks/>
          </p:cNvSpPr>
          <p:nvPr/>
        </p:nvSpPr>
        <p:spPr>
          <a:xfrm>
            <a:off x="355025" y="1017925"/>
            <a:ext cx="1535700" cy="733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/>
            <a:r>
              <a:rPr lang="en-US" sz="1100" dirty="0"/>
              <a:t>Estimation sur la </a:t>
            </a:r>
            <a:r>
              <a:rPr lang="en-US" sz="1100" dirty="0" err="1"/>
              <a:t>période</a:t>
            </a:r>
            <a:r>
              <a:rPr lang="en-US" sz="1100" dirty="0"/>
              <a:t> </a:t>
            </a:r>
            <a:r>
              <a:rPr lang="en-US" sz="1100" dirty="0" err="1"/>
              <a:t>{{layoutStart}}</a:t>
            </a:r>
            <a:r>
              <a:rPr lang="en-US" sz="1100" dirty="0"/>
              <a:t> – </a:t>
            </a:r>
            <a:r>
              <a:rPr lang="en-US" sz="1100" dirty="0" err="1"/>
              <a:t>{{layoutEnd}}</a:t>
            </a:r>
            <a:r>
              <a:rPr lang="en-US" sz="1100" dirty="0"/>
              <a:t> pour le </a:t>
            </a:r>
            <a:r>
              <a:rPr lang="en-US" sz="1100" dirty="0" err="1"/>
              <a:t>{{layoutDocumentType}}</a:t>
            </a:r>
            <a:endParaRPr lang="en-US" sz="1100" i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1"/>
          <p:cNvSpPr txBox="1"/>
          <p:nvPr/>
        </p:nvSpPr>
        <p:spPr>
          <a:xfrm>
            <a:off x="2600446" y="209550"/>
            <a:ext cx="62673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262626"/>
                </a:solidFill>
              </a:rPr>
              <a:t>Les projections d’évolution du nombre de ménages</a:t>
            </a:r>
            <a:endParaRPr sz="1200" i="1">
              <a:solidFill>
                <a:srgbClr val="262626"/>
              </a:solidFill>
            </a:endParaRPr>
          </a:p>
        </p:txBody>
      </p:sp>
      <p:pic>
        <p:nvPicPr>
          <p:cNvPr id="158" name="Google Shape;158;p21"/>
          <p:cNvPicPr preferRelativeResize="0"/>
          <p:nvPr/>
        </p:nvPicPr>
        <p:blipFill>
          <a:blip r:embed="rId3"/>
          <a:srcRect/>
          <a:stretch/>
        </p:blipFill>
        <p:spPr>
          <a:xfrm>
            <a:off x="234325" y="1846391"/>
            <a:ext cx="5067925" cy="287165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9" name="Google Shape;159;p21"/>
          <p:cNvGraphicFramePr/>
          <p:nvPr>
            <p:extLst>
              <p:ext uri="{D42A27DB-BD31-4B8C-83A1-F6EECF244321}">
                <p14:modId xmlns:p14="http://schemas.microsoft.com/office/powerpoint/2010/main" val="691776630"/>
              </p:ext>
            </p:extLst>
          </p:nvPr>
        </p:nvGraphicFramePr>
        <p:xfrm>
          <a:off x="5630600" y="872063"/>
          <a:ext cx="3406750" cy="4143875"/>
        </p:xfrm>
        <a:graphic>
          <a:graphicData uri="http://schemas.openxmlformats.org/drawingml/2006/table">
            <a:tbl>
              <a:tblPr>
                <a:noFill/>
                <a:tableStyleId>{8782ED91-6AAA-4FC9-A8D7-22FAF3BB82A8}</a:tableStyleId>
              </a:tblPr>
              <a:tblGrid>
                <a:gridCol w="1193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4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4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4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37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 </a:t>
                      </a:r>
                      <a:endParaRPr/>
                    </a:p>
                  </a:txBody>
                  <a:tcPr marL="68575" marR="68575" marT="0" marB="0" anchor="ctr"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sng"/>
                        <a:t>Evolution annuelle moyenne (en %)</a:t>
                      </a:r>
                      <a:endParaRPr sz="1200" b="1" u="sng"/>
                    </a:p>
                  </a:txBody>
                  <a:tcPr marL="68575" marR="68575" marT="0" marB="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900">
                <a:tc>
                  <a:txBody>
                    <a:bodyPr/>
                    <a:lstStyle/>
                    <a:p>
                      <a:pPr marL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1"/>
                        <a:t>Périodes</a:t>
                      </a:r>
                      <a:endParaRPr sz="1100" b="1" i="1"/>
                    </a:p>
                  </a:txBody>
                  <a:tcPr marL="68575" marR="68575" marT="0" marB="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i="1"/>
                        <a:t>2021 - 2030</a:t>
                      </a:r>
                      <a:endParaRPr sz="1100" i="1"/>
                    </a:p>
                  </a:txBody>
                  <a:tcPr marL="68575" marR="68575" marT="0" marB="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i="1"/>
                        <a:t>2030 - 2040</a:t>
                      </a:r>
                      <a:endParaRPr sz="1100" i="1"/>
                    </a:p>
                  </a:txBody>
                  <a:tcPr marL="68575" marR="68575" marT="0" marB="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i="1"/>
                        <a:t>2040 - 2050</a:t>
                      </a:r>
                      <a:endParaRPr sz="1100" i="1"/>
                    </a:p>
                  </a:txBody>
                  <a:tcPr marL="68575" marR="68575" marT="0" marB="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04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i="1"/>
                        <a:t>Pop. Centrale - Décohabitation accélérée</a:t>
                      </a:r>
                      <a:endParaRPr sz="1000" i="1"/>
                    </a:p>
                  </a:txBody>
                  <a:tcPr marL="68575" marR="68575" marT="0" marB="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/>
                        <a:t>{{pcA1}}</a:t>
                      </a:r>
                      <a:endParaRPr sz="1200" dirty="0"/>
                    </a:p>
                  </a:txBody>
                  <a:tcPr marL="68575" marR="68575" marT="0" marB="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/>
                        <a:t>{{pcA2}}</a:t>
                      </a:r>
                    </a:p>
                  </a:txBody>
                  <a:tcPr marL="68575" marR="68575" marT="0" marB="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/>
                        <a:t>{{pcA3}}</a:t>
                      </a:r>
                    </a:p>
                  </a:txBody>
                  <a:tcPr marL="68575" marR="68575" marT="0" marB="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04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i="1" dirty="0">
                          <a:solidFill>
                            <a:schemeClr val="tx1"/>
                          </a:solidFill>
                        </a:rPr>
                        <a:t>Pop. Centrale - </a:t>
                      </a:r>
                      <a:r>
                        <a:rPr lang="en-US" sz="1000" i="1" dirty="0" err="1">
                          <a:solidFill>
                            <a:schemeClr val="tx1"/>
                          </a:solidFill>
                        </a:rPr>
                        <a:t>Décohabitation</a:t>
                      </a:r>
                      <a:r>
                        <a:rPr lang="en-US" sz="1000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000" i="1" dirty="0" err="1">
                          <a:solidFill>
                            <a:schemeClr val="tx1"/>
                          </a:solidFill>
                        </a:rPr>
                        <a:t>tendancielle</a:t>
                      </a:r>
                      <a:endParaRPr sz="1000" i="1" dirty="0">
                        <a:solidFill>
                          <a:schemeClr val="tx1"/>
                        </a:solidFill>
                      </a:endParaRPr>
                    </a:p>
                  </a:txBody>
                  <a:tcPr marL="68575" marR="68575" marT="0" marB="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/>
                        <a:t>{{pcT1}}</a:t>
                      </a:r>
                    </a:p>
                  </a:txBody>
                  <a:tcPr marL="68575" marR="68575" marT="0" marB="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/>
                        <a:t>{{pcT2}}</a:t>
                      </a:r>
                    </a:p>
                  </a:txBody>
                  <a:tcPr marL="68575" marR="68575" marT="0" marB="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/>
                        <a:t>{{pcT3}}</a:t>
                      </a:r>
                    </a:p>
                  </a:txBody>
                  <a:tcPr marL="68575" marR="68575" marT="0" marB="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04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i="1"/>
                        <a:t>Pop. Centrale - Décohabitation décélérée</a:t>
                      </a:r>
                      <a:endParaRPr sz="1000" i="1"/>
                    </a:p>
                  </a:txBody>
                  <a:tcPr marL="68575" marR="68575" marT="0" marB="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/>
                        <a:t>{{pcD1}}</a:t>
                      </a:r>
                    </a:p>
                  </a:txBody>
                  <a:tcPr marL="68575" marR="68575" marT="0" marB="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/>
                        <a:t>{{pcD2}}</a:t>
                      </a:r>
                    </a:p>
                  </a:txBody>
                  <a:tcPr marL="68575" marR="68575" marT="0" marB="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/>
                        <a:t>{{pcD3}}</a:t>
                      </a:r>
                    </a:p>
                  </a:txBody>
                  <a:tcPr marL="68575" marR="68575" marT="0" marB="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04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i="1"/>
                        <a:t>Pop. Haute - Décohabitation tendancielle</a:t>
                      </a:r>
                      <a:endParaRPr sz="1000" i="1"/>
                    </a:p>
                  </a:txBody>
                  <a:tcPr marL="68575" marR="68575" marT="0" marB="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/>
                        <a:t>{{phT1}}</a:t>
                      </a:r>
                      <a:endParaRPr sz="1200" dirty="0"/>
                    </a:p>
                  </a:txBody>
                  <a:tcPr marL="68575" marR="68575" marT="0" marB="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/>
                        <a:t>{{phT2}}</a:t>
                      </a:r>
                    </a:p>
                  </a:txBody>
                  <a:tcPr marL="68575" marR="68575" marT="0" marB="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/>
                        <a:t>{{phT3}}</a:t>
                      </a:r>
                    </a:p>
                  </a:txBody>
                  <a:tcPr marL="68575" marR="68575" marT="0" marB="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04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i="1"/>
                        <a:t>Pop. Basse - Décohabitation tendancielle</a:t>
                      </a:r>
                      <a:endParaRPr sz="1000" i="1"/>
                    </a:p>
                  </a:txBody>
                  <a:tcPr marL="68575" marR="68575" marT="0" marB="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/>
                        <a:t>{{pbT1}}</a:t>
                      </a:r>
                    </a:p>
                  </a:txBody>
                  <a:tcPr marL="68575" marR="68575" marT="0" marB="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/>
                        <a:t>{{pbT2}}</a:t>
                      </a:r>
                    </a:p>
                  </a:txBody>
                  <a:tcPr marL="68575" marR="68575" marT="0" marB="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/>
                        <a:t>{{pbT3}}</a:t>
                      </a:r>
                    </a:p>
                  </a:txBody>
                  <a:tcPr marL="68575" marR="68575" marT="0" marB="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Google Shape;91;p14">
            <a:extLst>
              <a:ext uri="{FF2B5EF4-FFF2-40B4-BE49-F238E27FC236}">
                <a16:creationId xmlns:a16="http://schemas.microsoft.com/office/drawing/2014/main" id="{210AD738-62E3-87E6-2468-773D0087FAEB}"/>
              </a:ext>
            </a:extLst>
          </p:cNvPr>
          <p:cNvSpPr txBox="1">
            <a:spLocks/>
          </p:cNvSpPr>
          <p:nvPr/>
        </p:nvSpPr>
        <p:spPr>
          <a:xfrm>
            <a:off x="355025" y="484524"/>
            <a:ext cx="1535700" cy="346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/>
            <a:r>
              <a:rPr lang="en-US" sz="1100" i="1" dirty="0"/>
              <a:t>EPCI </a:t>
            </a:r>
            <a:r>
              <a:rPr lang="en-US" sz="1100" i="1" dirty="0" err="1"/>
              <a:t>{{layoutEpciName}}</a:t>
            </a:r>
            <a:r>
              <a:rPr lang="en-US" sz="1100" i="1" dirty="0"/>
              <a:t> / BH </a:t>
            </a:r>
            <a:r>
              <a:rPr lang="en-US" sz="1100" i="1" dirty="0" err="1"/>
              <a:t>{{layoutBassinName}}</a:t>
            </a:r>
          </a:p>
        </p:txBody>
      </p:sp>
      <p:sp>
        <p:nvSpPr>
          <p:cNvPr id="6" name="Google Shape;92;p14">
            <a:extLst>
              <a:ext uri="{FF2B5EF4-FFF2-40B4-BE49-F238E27FC236}">
                <a16:creationId xmlns:a16="http://schemas.microsoft.com/office/drawing/2014/main" id="{E646B48C-896E-D64B-4F60-3A381FF5048B}"/>
              </a:ext>
            </a:extLst>
          </p:cNvPr>
          <p:cNvSpPr txBox="1">
            <a:spLocks/>
          </p:cNvSpPr>
          <p:nvPr/>
        </p:nvSpPr>
        <p:spPr>
          <a:xfrm>
            <a:off x="355025" y="1017925"/>
            <a:ext cx="1535700" cy="733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/>
            <a:r>
              <a:rPr lang="en-US" sz="1100" dirty="0"/>
              <a:t>Estimation sur la </a:t>
            </a:r>
            <a:r>
              <a:rPr lang="en-US" sz="1100" dirty="0" err="1"/>
              <a:t>période</a:t>
            </a:r>
            <a:r>
              <a:rPr lang="en-US" sz="1100" dirty="0"/>
              <a:t> </a:t>
            </a:r>
            <a:r>
              <a:rPr lang="en-US" sz="1100" dirty="0" err="1"/>
              <a:t>{{layoutStart}}</a:t>
            </a:r>
            <a:r>
              <a:rPr lang="en-US" sz="1100" dirty="0"/>
              <a:t> – </a:t>
            </a:r>
            <a:r>
              <a:rPr lang="en-US" sz="1100" dirty="0" err="1"/>
              <a:t>{{layoutEnd}}</a:t>
            </a:r>
            <a:r>
              <a:rPr lang="en-US" sz="1100" dirty="0"/>
              <a:t> pour le </a:t>
            </a:r>
            <a:r>
              <a:rPr lang="en-US" sz="1100" dirty="0" err="1"/>
              <a:t>{{layoutDocumentType}}</a:t>
            </a:r>
            <a:endParaRPr lang="en-US" sz="1100" i="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2"/>
          <p:cNvSpPr txBox="1"/>
          <p:nvPr/>
        </p:nvSpPr>
        <p:spPr>
          <a:xfrm>
            <a:off x="2577096" y="184525"/>
            <a:ext cx="62673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262626"/>
                </a:solidFill>
              </a:rPr>
              <a:t>Indicateurs : Répartition des situations</a:t>
            </a:r>
            <a:endParaRPr sz="2400" b="1">
              <a:solidFill>
                <a:srgbClr val="262626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262626"/>
                </a:solidFill>
              </a:rPr>
              <a:t>de mal-logements par type </a:t>
            </a:r>
            <a:endParaRPr sz="2400" b="1">
              <a:solidFill>
                <a:srgbClr val="262626"/>
              </a:solidFill>
            </a:endParaRPr>
          </a:p>
        </p:txBody>
      </p:sp>
      <p:pic>
        <p:nvPicPr>
          <p:cNvPr id="165" name="Google Shape;165;p22"/>
          <p:cNvPicPr preferRelativeResize="0"/>
          <p:nvPr/>
        </p:nvPicPr>
        <p:blipFill>
          <a:blip r:embed="rId3"/>
          <a:srcRect l="1139" r="1139"/>
          <a:stretch/>
        </p:blipFill>
        <p:spPr>
          <a:xfrm>
            <a:off x="2577096" y="1243174"/>
            <a:ext cx="6211879" cy="355107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91;p14">
            <a:extLst>
              <a:ext uri="{FF2B5EF4-FFF2-40B4-BE49-F238E27FC236}">
                <a16:creationId xmlns:a16="http://schemas.microsoft.com/office/drawing/2014/main" id="{6265B7A4-9349-A4F0-28F8-D3D056729B9E}"/>
              </a:ext>
            </a:extLst>
          </p:cNvPr>
          <p:cNvSpPr txBox="1">
            <a:spLocks/>
          </p:cNvSpPr>
          <p:nvPr/>
        </p:nvSpPr>
        <p:spPr>
          <a:xfrm>
            <a:off x="355025" y="484524"/>
            <a:ext cx="1535700" cy="346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/>
            <a:r>
              <a:rPr lang="en-US" sz="1100" i="1"/>
              <a:t>EPCI {{layoutEpciName}} / BH {{layoutBassinName}}</a:t>
            </a:r>
            <a:endParaRPr lang="en-US" sz="1100" i="1" dirty="0"/>
          </a:p>
        </p:txBody>
      </p:sp>
      <p:sp>
        <p:nvSpPr>
          <p:cNvPr id="3" name="Google Shape;92;p14">
            <a:extLst>
              <a:ext uri="{FF2B5EF4-FFF2-40B4-BE49-F238E27FC236}">
                <a16:creationId xmlns:a16="http://schemas.microsoft.com/office/drawing/2014/main" id="{A5D5AEDF-E569-F0D5-71B3-84774F767AEA}"/>
              </a:ext>
            </a:extLst>
          </p:cNvPr>
          <p:cNvSpPr txBox="1">
            <a:spLocks/>
          </p:cNvSpPr>
          <p:nvPr/>
        </p:nvSpPr>
        <p:spPr>
          <a:xfrm>
            <a:off x="355025" y="1017925"/>
            <a:ext cx="1535700" cy="733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/>
            <a:r>
              <a:rPr lang="en-US" sz="1100"/>
              <a:t>Estimation sur la période {{layoutStart}} – {{layoutEnd}} pour le {{layoutDocumentType}}</a:t>
            </a:r>
            <a:endParaRPr lang="en-US" sz="1100" i="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3"/>
          <p:cNvSpPr txBox="1">
            <a:spLocks noGrp="1"/>
          </p:cNvSpPr>
          <p:nvPr>
            <p:ph type="body" idx="1"/>
          </p:nvPr>
        </p:nvSpPr>
        <p:spPr>
          <a:xfrm>
            <a:off x="2709800" y="2344050"/>
            <a:ext cx="5277600" cy="455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3. </a:t>
            </a:r>
            <a:r>
              <a:rPr lang="en-US" dirty="0" err="1"/>
              <a:t>Comparaison</a:t>
            </a:r>
            <a:r>
              <a:rPr lang="en-US" dirty="0"/>
              <a:t> des </a:t>
            </a:r>
            <a:r>
              <a:rPr lang="en-US" dirty="0" err="1"/>
              <a:t>{{nb}}</a:t>
            </a:r>
            <a:r>
              <a:rPr lang="en-US" dirty="0"/>
              <a:t> scenarios </a:t>
            </a:r>
            <a:r>
              <a:rPr lang="en-US" dirty="0" err="1"/>
              <a:t>retenus</a:t>
            </a:r>
            <a:r>
              <a:rPr lang="en-US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4"/>
          <p:cNvSpPr txBox="1"/>
          <p:nvPr/>
        </p:nvSpPr>
        <p:spPr>
          <a:xfrm>
            <a:off x="2600446" y="209550"/>
            <a:ext cx="6267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rial"/>
              <a:buNone/>
            </a:pPr>
            <a:r>
              <a:rPr lang="en-US" sz="2400" b="1" dirty="0" err="1">
                <a:solidFill>
                  <a:srgbClr val="262626"/>
                </a:solidFill>
              </a:rPr>
              <a:t>Récapitulatif</a:t>
            </a:r>
            <a:r>
              <a:rPr lang="en-US" sz="2400" b="1" dirty="0">
                <a:solidFill>
                  <a:srgbClr val="262626"/>
                </a:solidFill>
              </a:rPr>
              <a:t> des </a:t>
            </a:r>
            <a:r>
              <a:rPr lang="en-US" sz="2400" b="1" i="1" dirty="0" err="1">
                <a:solidFill>
                  <a:srgbClr val="262626"/>
                </a:solidFill>
              </a:rPr>
              <a:t>{{nb}} scénarios</a:t>
            </a:r>
            <a:r>
              <a:rPr lang="en-US" sz="2400" b="1" dirty="0">
                <a:solidFill>
                  <a:srgbClr val="262626"/>
                </a:solidFill>
              </a:rPr>
              <a:t> </a:t>
            </a:r>
            <a:r>
              <a:rPr lang="en-US" sz="2400" b="1" dirty="0" err="1">
                <a:solidFill>
                  <a:srgbClr val="262626"/>
                </a:solidFill>
              </a:rPr>
              <a:t>étudiés</a:t>
            </a:r>
            <a:endParaRPr sz="1200" i="1" dirty="0">
              <a:solidFill>
                <a:srgbClr val="262626"/>
              </a:solidFill>
            </a:endParaRPr>
          </a:p>
        </p:txBody>
      </p:sp>
      <p:graphicFrame>
        <p:nvGraphicFramePr>
          <p:cNvPr id="179" name="Google Shape;179;p24"/>
          <p:cNvGraphicFramePr/>
          <p:nvPr>
            <p:extLst>
              <p:ext uri="{D42A27DB-BD31-4B8C-83A1-F6EECF244321}">
                <p14:modId xmlns:p14="http://schemas.microsoft.com/office/powerpoint/2010/main" val="1575238142"/>
              </p:ext>
            </p:extLst>
          </p:nvPr>
        </p:nvGraphicFramePr>
        <p:xfrm>
          <a:off x="2154425" y="866100"/>
          <a:ext cx="6837225" cy="3090803"/>
        </p:xfrm>
        <a:graphic>
          <a:graphicData uri="http://schemas.openxmlformats.org/drawingml/2006/table">
            <a:tbl>
              <a:tblPr>
                <a:noFill/>
                <a:tableStyleId>{8782ED91-6AAA-4FC9-A8D7-22FAF3BB82A8}</a:tableStyleId>
              </a:tblPr>
              <a:tblGrid>
                <a:gridCol w="1528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9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9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69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9175">
                <a:tc>
                  <a:txBody>
                    <a:bodyPr/>
                    <a:lstStyle/>
                    <a:p>
                      <a:pPr marL="45720" marR="4572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2"/>
                          </a:solidFill>
                        </a:rPr>
                        <a:t>Critères</a:t>
                      </a:r>
                      <a:endParaRPr sz="1200" b="1" dirty="0">
                        <a:solidFill>
                          <a:schemeClr val="dk2"/>
                        </a:solidFill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" marR="4572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2"/>
                          </a:solidFill>
                        </a:rPr>
                        <a:t>🟠 {{scenario1}}</a:t>
                      </a:r>
                      <a:endParaRPr sz="1200" b="1" dirty="0">
                        <a:solidFill>
                          <a:schemeClr val="dk2"/>
                        </a:solidFill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" marR="4572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2"/>
                          </a:solidFill>
                        </a:rPr>
                        <a:t>🟣 {{scenario2}}</a:t>
                      </a:r>
                      <a:endParaRPr sz="1200" b="1" dirty="0">
                        <a:solidFill>
                          <a:schemeClr val="dk2"/>
                        </a:solidFill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45720" marR="4572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2"/>
                          </a:solidFill>
                        </a:rPr>
                        <a:t>🔵 {{scenario3}}</a:t>
                      </a:r>
                      <a:endParaRPr sz="1200" b="1" dirty="0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875">
                <a:tc>
                  <a:txBody>
                    <a:bodyPr/>
                    <a:lstStyle/>
                    <a:p>
                      <a:pPr marL="45720" marR="4572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chemeClr val="accent5"/>
                          </a:solidFill>
                        </a:rPr>
                        <a:t>Population </a:t>
                      </a:r>
                      <a:r>
                        <a:rPr lang="en-US" sz="1100" b="1" i="1" dirty="0">
                          <a:solidFill>
                            <a:schemeClr val="accent5"/>
                          </a:solidFill>
                        </a:rPr>
                        <a:t>{{horizon}}</a:t>
                      </a:r>
                      <a:endParaRPr sz="1100" b="1" i="1" dirty="0">
                        <a:solidFill>
                          <a:schemeClr val="accent5"/>
                        </a:solidFill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" marR="4572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i="1" dirty="0">
                          <a:solidFill>
                            <a:schemeClr val="dk1"/>
                          </a:solidFill>
                        </a:rPr>
                        <a:t>{{scenarioName1}}</a:t>
                      </a:r>
                    </a:p>
                    <a:p>
                      <a:pPr marL="45720" marR="4572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i="1" dirty="0">
                          <a:solidFill>
                            <a:schemeClr val="dk1"/>
                          </a:solidFill>
                        </a:rPr>
                        <a:t>{{hab1}}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100" i="1" dirty="0"/>
                        <a:t>hab.</a:t>
                      </a:r>
                      <a:endParaRPr sz="1100" i="1" dirty="0"/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" marR="4572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i="1" dirty="0">
                          <a:solidFill>
                            <a:schemeClr val="dk1"/>
                          </a:solidFill>
                        </a:rPr>
                        <a:t>{{scenarioName2}}</a:t>
                      </a:r>
                    </a:p>
                    <a:p>
                      <a:pPr marL="45720" marR="4572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i="1" dirty="0">
                          <a:solidFill>
                            <a:schemeClr val="dk1"/>
                          </a:solidFill>
                        </a:rPr>
                        <a:t>{{hab2}}</a:t>
                      </a:r>
                      <a:r>
                        <a:rPr lang="en-US" sz="1100" dirty="0"/>
                        <a:t> hab.</a:t>
                      </a:r>
                      <a:endParaRPr sz="1100" dirty="0"/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572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i="1" dirty="0">
                          <a:solidFill>
                            <a:schemeClr val="dk1"/>
                          </a:solidFill>
                        </a:rPr>
                        <a:t>{{scenarioName3}}</a:t>
                      </a:r>
                    </a:p>
                    <a:p>
                      <a:pPr marL="0" marR="4572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i="1" dirty="0">
                          <a:solidFill>
                            <a:schemeClr val="dk1"/>
                          </a:solidFill>
                        </a:rPr>
                        <a:t>{{hab3}}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100" dirty="0"/>
                        <a:t>hab.</a:t>
                      </a:r>
                      <a:endParaRPr sz="1100" dirty="0"/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7875">
                <a:tc>
                  <a:txBody>
                    <a:bodyPr/>
                    <a:lstStyle/>
                    <a:p>
                      <a:pPr marL="45720" marR="4572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chemeClr val="accent5"/>
                          </a:solidFill>
                        </a:rPr>
                        <a:t>Ménages </a:t>
                      </a:r>
                      <a:r>
                        <a:rPr lang="en-US" sz="1100" b="1" i="1" dirty="0">
                          <a:solidFill>
                            <a:schemeClr val="accent5"/>
                          </a:solidFill>
                        </a:rPr>
                        <a:t>{{horizon}}</a:t>
                      </a:r>
                      <a:endParaRPr sz="1100" b="1" i="1" dirty="0">
                        <a:solidFill>
                          <a:schemeClr val="accent5"/>
                        </a:solidFill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" marR="4572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/>
                        <a:t> {{prin1}} </a:t>
                      </a:r>
                      <a:r>
                        <a:rPr lang="en-US" sz="1100" dirty="0" err="1"/>
                        <a:t>Rés</a:t>
                      </a:r>
                      <a:r>
                        <a:rPr lang="en-US" sz="1100" dirty="0"/>
                        <a:t>. </a:t>
                      </a:r>
                      <a:r>
                        <a:rPr lang="en-US" sz="1100" dirty="0" err="1"/>
                        <a:t>Principales</a:t>
                      </a:r>
                      <a:endParaRPr sz="1100" dirty="0"/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" marR="4572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{{prin2}}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Rés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.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Principales</a:t>
                      </a:r>
                      <a:endParaRPr sz="1100" b="1" dirty="0"/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45720" marR="4572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{{prin3}}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Rés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.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Principales</a:t>
                      </a:r>
                      <a:endParaRPr sz="1100" dirty="0"/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825">
                <a:tc>
                  <a:txBody>
                    <a:bodyPr/>
                    <a:lstStyle/>
                    <a:p>
                      <a:pPr marL="45720" marR="4572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solidFill>
                            <a:schemeClr val="accent5"/>
                          </a:solidFill>
                        </a:rPr>
                        <a:t>Évolution démographique</a:t>
                      </a:r>
                      <a:endParaRPr sz="1100" b="1">
                        <a:solidFill>
                          <a:schemeClr val="accent5"/>
                        </a:solidFill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" marR="4572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i="1" dirty="0"/>
                        <a:t>{{evol1}}</a:t>
                      </a:r>
                      <a:br>
                        <a:rPr lang="en-US" sz="1100" i="1" dirty="0"/>
                      </a:br>
                      <a:r>
                        <a:rPr lang="en-US" sz="1100" i="1" dirty="0">
                          <a:solidFill>
                            <a:schemeClr val="dk1"/>
                          </a:solidFill>
                        </a:rPr>
                        <a:t>{{menagesHorizon1}}</a:t>
                      </a:r>
                      <a:endParaRPr sz="1100" i="1" dirty="0"/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" marR="4572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i="1" dirty="0"/>
                        <a:t>{{evol2}}</a:t>
                      </a:r>
                      <a:endParaRPr sz="1100" i="1" dirty="0"/>
                    </a:p>
                    <a:p>
                      <a:pPr marL="45720" marR="4572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i="1" dirty="0">
                          <a:solidFill>
                            <a:schemeClr val="dk1"/>
                          </a:solidFill>
                        </a:rPr>
                        <a:t>{{menagesHorizon2}}</a:t>
                      </a:r>
                      <a:endParaRPr lang="en-US" sz="1100" i="1" dirty="0"/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572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i="1"/>
                        <a:t>{{evol3}}</a:t>
                      </a:r>
                      <a:endParaRPr sz="1100" i="1" dirty="0"/>
                    </a:p>
                    <a:p>
                      <a:pPr marL="45720" marR="4572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i="1" dirty="0">
                          <a:solidFill>
                            <a:schemeClr val="dk1"/>
                          </a:solidFill>
                        </a:rPr>
                        <a:t>{{menagesHorizon3}}</a:t>
                      </a:r>
                      <a:endParaRPr sz="1100" i="1" dirty="0"/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7875">
                <a:tc>
                  <a:txBody>
                    <a:bodyPr/>
                    <a:lstStyle/>
                    <a:p>
                      <a:pPr marL="45720" marR="4572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 err="1">
                          <a:solidFill>
                            <a:schemeClr val="accent5"/>
                          </a:solidFill>
                        </a:rPr>
                        <a:t>Logements</a:t>
                      </a:r>
                      <a:r>
                        <a:rPr lang="en-US" sz="1100" b="1" dirty="0">
                          <a:solidFill>
                            <a:schemeClr val="accent5"/>
                          </a:solidFill>
                        </a:rPr>
                        <a:t> </a:t>
                      </a:r>
                      <a:r>
                        <a:rPr lang="en-US" sz="1100" b="1" dirty="0" err="1">
                          <a:solidFill>
                            <a:schemeClr val="accent5"/>
                          </a:solidFill>
                        </a:rPr>
                        <a:t>vacants</a:t>
                      </a:r>
                      <a:r>
                        <a:rPr lang="en-US" sz="1100" b="1" dirty="0">
                          <a:solidFill>
                            <a:schemeClr val="accent5"/>
                          </a:solidFill>
                        </a:rPr>
                        <a:t> &gt; 2 </a:t>
                      </a:r>
                      <a:r>
                        <a:rPr lang="en-US" sz="1100" b="1" dirty="0" err="1">
                          <a:solidFill>
                            <a:schemeClr val="accent5"/>
                          </a:solidFill>
                        </a:rPr>
                        <a:t>ans</a:t>
                      </a:r>
                      <a:endParaRPr sz="1100" b="1" dirty="0">
                        <a:solidFill>
                          <a:schemeClr val="accent5"/>
                        </a:solidFill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" marR="4572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i="1" dirty="0">
                          <a:solidFill>
                            <a:schemeClr val="dk1"/>
                          </a:solidFill>
                        </a:rPr>
                        <a:t>{{vacance1}} </a:t>
                      </a:r>
                      <a:endParaRPr sz="1100" i="1" dirty="0"/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" marR="4572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i="1" dirty="0">
                          <a:solidFill>
                            <a:schemeClr val="dk1"/>
                          </a:solidFill>
                        </a:rPr>
                        <a:t>{{vacance2}} </a:t>
                      </a:r>
                      <a:endParaRPr sz="1100" i="1" dirty="0"/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45720" marR="4572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i="1" dirty="0"/>
                        <a:t>{{</a:t>
                      </a:r>
                      <a:r>
                        <a:rPr lang="en-US" sz="1100" i="1"/>
                        <a:t>vacance3}}</a:t>
                      </a:r>
                      <a:endParaRPr sz="1100" i="1" dirty="0"/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5175">
                <a:tc>
                  <a:txBody>
                    <a:bodyPr/>
                    <a:lstStyle/>
                    <a:p>
                      <a:pPr marL="45720" marR="4572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solidFill>
                            <a:schemeClr val="accent5"/>
                          </a:solidFill>
                        </a:rPr>
                        <a:t>Résidences secondaires</a:t>
                      </a:r>
                      <a:endParaRPr sz="1100" b="1">
                        <a:solidFill>
                          <a:schemeClr val="accent5"/>
                        </a:solidFill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" marR="4572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i="1" dirty="0"/>
                        <a:t>{{rs1}}% </a:t>
                      </a:r>
                      <a:endParaRPr sz="1100" i="1" dirty="0"/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" marR="4572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i="1" dirty="0"/>
                        <a:t>{{rs2}}</a:t>
                      </a:r>
                      <a:r>
                        <a:rPr lang="en-US" sz="1100" i="1" dirty="0">
                          <a:solidFill>
                            <a:schemeClr val="dk1"/>
                          </a:solidFill>
                        </a:rPr>
                        <a:t>% </a:t>
                      </a:r>
                      <a:endParaRPr sz="1100" i="1" dirty="0"/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572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i="1" dirty="0"/>
                        <a:t> {{rs3}}%</a:t>
                      </a:r>
                      <a:endParaRPr sz="1100" i="1" dirty="0"/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5175">
                <a:tc>
                  <a:txBody>
                    <a:bodyPr/>
                    <a:lstStyle/>
                    <a:p>
                      <a:pPr marL="45720" marR="4572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 err="1">
                          <a:solidFill>
                            <a:schemeClr val="accent5"/>
                          </a:solidFill>
                        </a:rPr>
                        <a:t>Résorption</a:t>
                      </a:r>
                      <a:r>
                        <a:rPr lang="en-US" sz="1100" b="1" dirty="0">
                          <a:solidFill>
                            <a:schemeClr val="accent5"/>
                          </a:solidFill>
                        </a:rPr>
                        <a:t> mal-</a:t>
                      </a:r>
                      <a:r>
                        <a:rPr lang="en-US" sz="1100" b="1" dirty="0" err="1">
                          <a:solidFill>
                            <a:schemeClr val="accent5"/>
                          </a:solidFill>
                        </a:rPr>
                        <a:t>logement</a:t>
                      </a:r>
                      <a:endParaRPr sz="1100" b="1" dirty="0">
                        <a:solidFill>
                          <a:schemeClr val="accent5"/>
                        </a:solidFill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" marR="4572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i="1" dirty="0" err="1"/>
                        <a:t>D'ici</a:t>
                      </a:r>
                      <a:r>
                        <a:rPr lang="en-US" sz="1100" i="1" dirty="0"/>
                        <a:t> {{resorb1}}</a:t>
                      </a:r>
                      <a:endParaRPr sz="1100" i="1" dirty="0"/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" marR="4572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i="1" dirty="0" err="1"/>
                        <a:t>D'ici</a:t>
                      </a:r>
                      <a:r>
                        <a:rPr lang="en-US" sz="1100" i="1" dirty="0"/>
                        <a:t> {{resorb2}}</a:t>
                      </a:r>
                      <a:endParaRPr sz="1100" i="1" dirty="0"/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45720" marR="4572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i="1" dirty="0" err="1"/>
                        <a:t>D'ici</a:t>
                      </a:r>
                      <a:r>
                        <a:rPr lang="en-US" sz="1100" i="1" dirty="0"/>
                        <a:t> {{resorb3}}</a:t>
                      </a:r>
                      <a:endParaRPr sz="1100" i="1" dirty="0"/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0" name="Google Shape;180;p24"/>
          <p:cNvSpPr txBox="1"/>
          <p:nvPr/>
        </p:nvSpPr>
        <p:spPr>
          <a:xfrm flipH="1">
            <a:off x="2600450" y="4166975"/>
            <a:ext cx="6171600" cy="742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 b="1" u="sng" dirty="0" err="1">
                <a:solidFill>
                  <a:schemeClr val="dk1"/>
                </a:solidFill>
              </a:rPr>
              <a:t>Pourquoi</a:t>
            </a:r>
            <a:r>
              <a:rPr lang="en-US" sz="1100" b="1" u="sng" dirty="0">
                <a:solidFill>
                  <a:schemeClr val="dk1"/>
                </a:solidFill>
              </a:rPr>
              <a:t> </a:t>
            </a:r>
            <a:r>
              <a:rPr lang="en-US" sz="1100" b="1" u="sng" dirty="0" err="1">
                <a:solidFill>
                  <a:schemeClr val="dk1"/>
                </a:solidFill>
              </a:rPr>
              <a:t>avoir</a:t>
            </a:r>
            <a:r>
              <a:rPr lang="en-US" sz="1100" b="1" u="sng" dirty="0">
                <a:solidFill>
                  <a:schemeClr val="dk1"/>
                </a:solidFill>
              </a:rPr>
              <a:t> </a:t>
            </a:r>
            <a:r>
              <a:rPr lang="en-US" sz="1100" b="1" u="sng" dirty="0" err="1">
                <a:solidFill>
                  <a:schemeClr val="dk1"/>
                </a:solidFill>
              </a:rPr>
              <a:t>choisir</a:t>
            </a:r>
            <a:r>
              <a:rPr lang="en-US" sz="1100" b="1" u="sng" dirty="0">
                <a:solidFill>
                  <a:schemeClr val="dk1"/>
                </a:solidFill>
              </a:rPr>
              <a:t> le scenario </a:t>
            </a:r>
            <a:r>
              <a:rPr lang="en-US" sz="1100" b="1" u="sng" dirty="0" err="1">
                <a:solidFill>
                  <a:schemeClr val="dk1"/>
                </a:solidFill>
              </a:rPr>
              <a:t>{{privilegedScenario}}</a:t>
            </a:r>
            <a:r>
              <a:rPr lang="en-US" sz="1100" b="1" u="sng" dirty="0">
                <a:solidFill>
                  <a:schemeClr val="dk1"/>
                </a:solidFill>
              </a:rPr>
              <a:t> :</a:t>
            </a:r>
            <a:endParaRPr sz="1100" u="sng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100" dirty="0">
              <a:solidFill>
                <a:schemeClr val="dk1"/>
              </a:solidFill>
            </a:endParaRPr>
          </a:p>
        </p:txBody>
      </p:sp>
      <p:sp>
        <p:nvSpPr>
          <p:cNvPr id="2" name="Google Shape;91;p14">
            <a:extLst>
              <a:ext uri="{FF2B5EF4-FFF2-40B4-BE49-F238E27FC236}">
                <a16:creationId xmlns:a16="http://schemas.microsoft.com/office/drawing/2014/main" id="{E2968BBA-C3CE-87EA-1D41-65760BC0F6CF}"/>
              </a:ext>
            </a:extLst>
          </p:cNvPr>
          <p:cNvSpPr txBox="1">
            <a:spLocks/>
          </p:cNvSpPr>
          <p:nvPr/>
        </p:nvSpPr>
        <p:spPr>
          <a:xfrm>
            <a:off x="355025" y="484524"/>
            <a:ext cx="1535700" cy="346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/>
            <a:r>
              <a:rPr lang="en-US" sz="1100" i="1"/>
              <a:t>EPCI {{layoutEpciName}} / BH {{layoutBassinName}}</a:t>
            </a:r>
            <a:endParaRPr lang="en-US" sz="1100" i="1" dirty="0"/>
          </a:p>
        </p:txBody>
      </p:sp>
      <p:sp>
        <p:nvSpPr>
          <p:cNvPr id="3" name="Google Shape;92;p14">
            <a:extLst>
              <a:ext uri="{FF2B5EF4-FFF2-40B4-BE49-F238E27FC236}">
                <a16:creationId xmlns:a16="http://schemas.microsoft.com/office/drawing/2014/main" id="{41A200EC-57ED-8FDC-23EE-195FB515939A}"/>
              </a:ext>
            </a:extLst>
          </p:cNvPr>
          <p:cNvSpPr txBox="1">
            <a:spLocks/>
          </p:cNvSpPr>
          <p:nvPr/>
        </p:nvSpPr>
        <p:spPr>
          <a:xfrm>
            <a:off x="355025" y="1017925"/>
            <a:ext cx="1535700" cy="733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/>
            <a:r>
              <a:rPr lang="en-US" sz="1100" dirty="0"/>
              <a:t>Estimation sur la </a:t>
            </a:r>
            <a:r>
              <a:rPr lang="en-US" sz="1100" dirty="0" err="1"/>
              <a:t>période</a:t>
            </a:r>
            <a:r>
              <a:rPr lang="en-US" sz="1100" dirty="0"/>
              <a:t> </a:t>
            </a:r>
            <a:r>
              <a:rPr lang="en-US" sz="1100" dirty="0" err="1"/>
              <a:t>{{layoutStart}}</a:t>
            </a:r>
            <a:r>
              <a:rPr lang="en-US" sz="1100" dirty="0"/>
              <a:t> – </a:t>
            </a:r>
            <a:r>
              <a:rPr lang="en-US" sz="1100" dirty="0" err="1"/>
              <a:t>{{layoutEnd}}</a:t>
            </a:r>
            <a:r>
              <a:rPr lang="en-US" sz="1100" dirty="0"/>
              <a:t> pour le </a:t>
            </a:r>
            <a:r>
              <a:rPr lang="en-US" sz="1100" dirty="0" err="1"/>
              <a:t>{{layoutDocumentType}}</a:t>
            </a:r>
            <a:endParaRPr lang="en-US" sz="1100" i="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5"/>
          <p:cNvSpPr txBox="1"/>
          <p:nvPr/>
        </p:nvSpPr>
        <p:spPr>
          <a:xfrm>
            <a:off x="2600446" y="209550"/>
            <a:ext cx="6267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262626"/>
                </a:solidFill>
              </a:rPr>
              <a:t>Comparaison des besoins par scénario</a:t>
            </a:r>
            <a:endParaRPr sz="1200" i="1">
              <a:solidFill>
                <a:srgbClr val="262626"/>
              </a:solidFill>
            </a:endParaRPr>
          </a:p>
        </p:txBody>
      </p:sp>
      <p:sp>
        <p:nvSpPr>
          <p:cNvPr id="188" name="Google Shape;188;p25"/>
          <p:cNvSpPr txBox="1"/>
          <p:nvPr/>
        </p:nvSpPr>
        <p:spPr>
          <a:xfrm>
            <a:off x="2600446" y="617725"/>
            <a:ext cx="6267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rial"/>
              <a:buNone/>
            </a:pPr>
            <a:r>
              <a:rPr lang="en-US" sz="2000" i="1" dirty="0" err="1">
                <a:solidFill>
                  <a:srgbClr val="262626"/>
                </a:solidFill>
              </a:rPr>
              <a:t>Période</a:t>
            </a:r>
            <a:r>
              <a:rPr lang="en-US" sz="2000" i="1" dirty="0">
                <a:solidFill>
                  <a:srgbClr val="262626"/>
                </a:solidFill>
              </a:rPr>
              <a:t> document {{start}}-{{end}}</a:t>
            </a:r>
            <a:endParaRPr sz="800" i="1" dirty="0">
              <a:solidFill>
                <a:srgbClr val="262626"/>
              </a:solidFill>
            </a:endParaRPr>
          </a:p>
        </p:txBody>
      </p:sp>
      <p:graphicFrame>
        <p:nvGraphicFramePr>
          <p:cNvPr id="189" name="Google Shape;189;p25"/>
          <p:cNvGraphicFramePr/>
          <p:nvPr>
            <p:extLst>
              <p:ext uri="{D42A27DB-BD31-4B8C-83A1-F6EECF244321}">
                <p14:modId xmlns:p14="http://schemas.microsoft.com/office/powerpoint/2010/main" val="1169203144"/>
              </p:ext>
            </p:extLst>
          </p:nvPr>
        </p:nvGraphicFramePr>
        <p:xfrm>
          <a:off x="2191725" y="1064650"/>
          <a:ext cx="6804500" cy="3853187"/>
        </p:xfrm>
        <a:graphic>
          <a:graphicData uri="http://schemas.openxmlformats.org/drawingml/2006/table">
            <a:tbl>
              <a:tblPr>
                <a:noFill/>
                <a:tableStyleId>{8782ED91-6AAA-4FC9-A8D7-22FAF3BB82A8}</a:tableStyleId>
              </a:tblPr>
              <a:tblGrid>
                <a:gridCol w="1701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1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1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01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09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/>
                        <a:t>Type de besoin</a:t>
                      </a:r>
                      <a:endParaRPr b="1"/>
                    </a:p>
                  </a:txBody>
                  <a:tcPr marL="28575" marR="0" marT="19050" marB="19050" anchor="ctr">
                    <a:lnL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/>
                        <a:t>🟠  {{scenario1}}</a:t>
                      </a:r>
                      <a:endParaRPr b="1" dirty="0"/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/>
                        <a:t>🟣 {{scenario2}}</a:t>
                      </a:r>
                      <a:endParaRPr b="1" dirty="0"/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>
                          <a:solidFill>
                            <a:schemeClr val="dk1"/>
                          </a:solidFill>
                        </a:rPr>
                        <a:t>🔵</a:t>
                      </a:r>
                      <a:r>
                        <a:rPr lang="en-US" b="1" dirty="0"/>
                        <a:t> </a:t>
                      </a:r>
                      <a:r>
                        <a:rPr lang="en-US" b="1"/>
                        <a:t>{{scenario3}}</a:t>
                      </a:r>
                      <a:endParaRPr b="1" dirty="0"/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87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/>
                        <a:t>🏗️ Constructions neuves</a:t>
                      </a:r>
                      <a:endParaRPr sz="1200" b="1"/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{{newHousing1}}</a:t>
                      </a:r>
                      <a:endParaRPr dirty="0"/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{{newHousing2}}</a:t>
                      </a: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{{newHousing3}}</a:t>
                      </a: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7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Croissance démographique</a:t>
                      </a:r>
                      <a:endParaRPr sz="1200"/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{{demographic1}}</a:t>
                      </a: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{{demographic2}}</a:t>
                      </a: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{{demographic3}}</a:t>
                      </a: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24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Fluidité du marché</a:t>
                      </a:r>
                      <a:endParaRPr sz="1200"/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{{fluidity1}}</a:t>
                      </a:r>
                      <a:endParaRPr dirty="0"/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{{fluidity2}}</a:t>
                      </a: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{{fluidity3}}</a:t>
                      </a: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24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Résorption mal-logement</a:t>
                      </a:r>
                      <a:endParaRPr sz="1200"/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{{badHousing1}}</a:t>
                      </a: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{{badHousing2}}</a:t>
                      </a: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{{badHousing3}}</a:t>
                      </a: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24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Résidences secondaires</a:t>
                      </a:r>
                      <a:endParaRPr sz="1200"/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{{secondary1}}</a:t>
                      </a: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{{secondary2}}</a:t>
                      </a: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{{secondary3}}</a:t>
                      </a: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19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Renouvellement urbain</a:t>
                      </a:r>
                      <a:endParaRPr sz="1200"/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{{housingNeeds1}}</a:t>
                      </a:r>
                      <a:endParaRPr dirty="0"/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{{housingNeeds2}}</a:t>
                      </a: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{{housingNeeds3}}</a:t>
                      </a: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87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/>
                        <a:t>🏠 Remobilisation vacants</a:t>
                      </a:r>
                      <a:endParaRPr sz="1300" b="1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{{vacant1}}</a:t>
                      </a:r>
                      <a:endParaRPr dirty="0"/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{{vacant2}}</a:t>
                      </a:r>
                      <a:endParaRPr dirty="0"/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{{vacant3}}</a:t>
                      </a:r>
                      <a:endParaRPr dirty="0"/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09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/>
                        <a:t>🎯 TOTAL BESOINS</a:t>
                      </a:r>
                      <a:endParaRPr sz="1300" b="1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{{total1}}</a:t>
                      </a:r>
                      <a:endParaRPr dirty="0"/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{{total2}}</a:t>
                      </a:r>
                      <a:endParaRPr dirty="0"/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{{total3}}</a:t>
                      </a:r>
                      <a:endParaRPr dirty="0"/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Google Shape;91;p14">
            <a:extLst>
              <a:ext uri="{FF2B5EF4-FFF2-40B4-BE49-F238E27FC236}">
                <a16:creationId xmlns:a16="http://schemas.microsoft.com/office/drawing/2014/main" id="{FDC3FED2-88A4-5B91-5658-77A697472ABD}"/>
              </a:ext>
            </a:extLst>
          </p:cNvPr>
          <p:cNvSpPr txBox="1">
            <a:spLocks/>
          </p:cNvSpPr>
          <p:nvPr/>
        </p:nvSpPr>
        <p:spPr>
          <a:xfrm>
            <a:off x="355025" y="484524"/>
            <a:ext cx="1535700" cy="346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/>
            <a:r>
              <a:rPr lang="en-US" sz="1100" i="1"/>
              <a:t>EPCI {{layoutEpciName}} / BH {{layoutBassinName}}</a:t>
            </a:r>
            <a:endParaRPr lang="en-US" sz="1100" i="1" dirty="0"/>
          </a:p>
        </p:txBody>
      </p:sp>
      <p:sp>
        <p:nvSpPr>
          <p:cNvPr id="3" name="Google Shape;92;p14">
            <a:extLst>
              <a:ext uri="{FF2B5EF4-FFF2-40B4-BE49-F238E27FC236}">
                <a16:creationId xmlns:a16="http://schemas.microsoft.com/office/drawing/2014/main" id="{5C9B5A63-009B-236B-5AAF-D09E63055135}"/>
              </a:ext>
            </a:extLst>
          </p:cNvPr>
          <p:cNvSpPr txBox="1">
            <a:spLocks/>
          </p:cNvSpPr>
          <p:nvPr/>
        </p:nvSpPr>
        <p:spPr>
          <a:xfrm>
            <a:off x="355025" y="1017925"/>
            <a:ext cx="1535700" cy="733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/>
            <a:r>
              <a:rPr lang="en-US" sz="1100"/>
              <a:t>Estimation sur la période {{layoutStart}} – {{layoutEnd}} pour le {{layoutDocumentType}}</a:t>
            </a:r>
            <a:endParaRPr lang="en-US" sz="1100" i="1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6"/>
          <p:cNvSpPr txBox="1"/>
          <p:nvPr/>
        </p:nvSpPr>
        <p:spPr>
          <a:xfrm>
            <a:off x="2600450" y="209550"/>
            <a:ext cx="6381300" cy="1138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rial"/>
              <a:buNone/>
            </a:pPr>
            <a:r>
              <a:rPr lang="en-US" sz="2400" b="1" dirty="0" err="1">
                <a:solidFill>
                  <a:srgbClr val="262626"/>
                </a:solidFill>
              </a:rPr>
              <a:t>Comparaison</a:t>
            </a:r>
            <a:r>
              <a:rPr lang="en-US" sz="2400" b="1" dirty="0">
                <a:solidFill>
                  <a:srgbClr val="262626"/>
                </a:solidFill>
              </a:rPr>
              <a:t> des </a:t>
            </a:r>
            <a:r>
              <a:rPr lang="en-US" sz="2400" b="1" dirty="0" err="1">
                <a:solidFill>
                  <a:srgbClr val="262626"/>
                </a:solidFill>
              </a:rPr>
              <a:t>besoins</a:t>
            </a:r>
            <a:r>
              <a:rPr lang="en-US" sz="2400" b="1" dirty="0">
                <a:solidFill>
                  <a:srgbClr val="262626"/>
                </a:solidFill>
              </a:rPr>
              <a:t> </a:t>
            </a:r>
            <a:r>
              <a:rPr lang="en-US" sz="2400" b="1" dirty="0" err="1">
                <a:solidFill>
                  <a:srgbClr val="262626"/>
                </a:solidFill>
              </a:rPr>
              <a:t>en</a:t>
            </a:r>
            <a:r>
              <a:rPr lang="en-US" sz="2400" b="1" dirty="0">
                <a:solidFill>
                  <a:srgbClr val="262626"/>
                </a:solidFill>
              </a:rPr>
              <a:t> construction </a:t>
            </a:r>
            <a:r>
              <a:rPr lang="en-US" sz="2400" b="1" dirty="0" err="1">
                <a:solidFill>
                  <a:srgbClr val="262626"/>
                </a:solidFill>
              </a:rPr>
              <a:t>neuve</a:t>
            </a:r>
            <a:r>
              <a:rPr lang="en-US" sz="2400" b="1" dirty="0">
                <a:solidFill>
                  <a:srgbClr val="262626"/>
                </a:solidFill>
              </a:rPr>
              <a:t> par </a:t>
            </a:r>
            <a:r>
              <a:rPr lang="en-US" sz="2400" b="1" dirty="0" err="1">
                <a:solidFill>
                  <a:srgbClr val="262626"/>
                </a:solidFill>
              </a:rPr>
              <a:t>scénario</a:t>
            </a:r>
            <a:r>
              <a:rPr lang="en-US" sz="2400" b="1" dirty="0">
                <a:solidFill>
                  <a:srgbClr val="262626"/>
                </a:solidFill>
              </a:rPr>
              <a:t> </a:t>
            </a:r>
            <a:r>
              <a:rPr lang="en-US" sz="2000" i="1" dirty="0">
                <a:solidFill>
                  <a:srgbClr val="262626"/>
                </a:solidFill>
              </a:rPr>
              <a:t>(</a:t>
            </a:r>
            <a:r>
              <a:rPr lang="en-US" sz="2000" i="1" dirty="0" err="1">
                <a:solidFill>
                  <a:srgbClr val="262626"/>
                </a:solidFill>
              </a:rPr>
              <a:t>période</a:t>
            </a:r>
            <a:r>
              <a:rPr lang="en-US" sz="2000" i="1" dirty="0">
                <a:solidFill>
                  <a:srgbClr val="262626"/>
                </a:solidFill>
              </a:rPr>
              <a:t> document {{start}}-{{end}})</a:t>
            </a:r>
            <a:endParaRPr sz="2400" b="1" dirty="0">
              <a:solidFill>
                <a:srgbClr val="262626"/>
              </a:solidFill>
            </a:endParaRPr>
          </a:p>
        </p:txBody>
      </p:sp>
      <p:pic>
        <p:nvPicPr>
          <p:cNvPr id="197" name="Google Shape;197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00450" y="1348283"/>
            <a:ext cx="6209925" cy="339999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91;p14">
            <a:extLst>
              <a:ext uri="{FF2B5EF4-FFF2-40B4-BE49-F238E27FC236}">
                <a16:creationId xmlns:a16="http://schemas.microsoft.com/office/drawing/2014/main" id="{BABB023E-E0AB-9CA3-7D92-126FB97C92ED}"/>
              </a:ext>
            </a:extLst>
          </p:cNvPr>
          <p:cNvSpPr txBox="1">
            <a:spLocks/>
          </p:cNvSpPr>
          <p:nvPr/>
        </p:nvSpPr>
        <p:spPr>
          <a:xfrm>
            <a:off x="355025" y="484524"/>
            <a:ext cx="1535700" cy="346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/>
            <a:r>
              <a:rPr lang="en-US" sz="1100" i="1"/>
              <a:t>EPCI {{layoutEpciName}} / BH {{layoutBassinName}}</a:t>
            </a:r>
            <a:endParaRPr lang="en-US" sz="1100" i="1" dirty="0"/>
          </a:p>
        </p:txBody>
      </p:sp>
      <p:sp>
        <p:nvSpPr>
          <p:cNvPr id="3" name="Google Shape;92;p14">
            <a:extLst>
              <a:ext uri="{FF2B5EF4-FFF2-40B4-BE49-F238E27FC236}">
                <a16:creationId xmlns:a16="http://schemas.microsoft.com/office/drawing/2014/main" id="{90792871-ABB3-2FB2-C1A8-31E25C258AF3}"/>
              </a:ext>
            </a:extLst>
          </p:cNvPr>
          <p:cNvSpPr txBox="1">
            <a:spLocks/>
          </p:cNvSpPr>
          <p:nvPr/>
        </p:nvSpPr>
        <p:spPr>
          <a:xfrm>
            <a:off x="355025" y="1017925"/>
            <a:ext cx="1535700" cy="733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/>
            <a:r>
              <a:rPr lang="en-US" sz="1100"/>
              <a:t>Estimation sur la période {{layoutStart}} – {{layoutEnd}} pour le {{layoutDocumentType}}</a:t>
            </a:r>
            <a:endParaRPr lang="en-US" sz="1100" i="1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7"/>
          <p:cNvSpPr txBox="1"/>
          <p:nvPr/>
        </p:nvSpPr>
        <p:spPr>
          <a:xfrm>
            <a:off x="2600446" y="209550"/>
            <a:ext cx="62673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rial"/>
              <a:buNone/>
            </a:pPr>
            <a:r>
              <a:rPr lang="en-US" sz="2400" b="1" dirty="0">
                <a:solidFill>
                  <a:srgbClr val="262626"/>
                </a:solidFill>
              </a:rPr>
              <a:t>Arguments </a:t>
            </a:r>
            <a:r>
              <a:rPr lang="en-US" sz="2400" b="1" dirty="0" err="1">
                <a:solidFill>
                  <a:srgbClr val="262626"/>
                </a:solidFill>
              </a:rPr>
              <a:t>en</a:t>
            </a:r>
            <a:r>
              <a:rPr lang="en-US" sz="2400" b="1" dirty="0">
                <a:solidFill>
                  <a:srgbClr val="262626"/>
                </a:solidFill>
              </a:rPr>
              <a:t> </a:t>
            </a:r>
            <a:r>
              <a:rPr lang="en-US" sz="2400" b="1" dirty="0" err="1">
                <a:solidFill>
                  <a:srgbClr val="262626"/>
                </a:solidFill>
              </a:rPr>
              <a:t>faveur</a:t>
            </a:r>
            <a:r>
              <a:rPr lang="en-US" sz="2400" b="1" dirty="0">
                <a:solidFill>
                  <a:srgbClr val="262626"/>
                </a:solidFill>
              </a:rPr>
              <a:t> du </a:t>
            </a:r>
            <a:r>
              <a:rPr lang="en-US" sz="2400" b="1" dirty="0" err="1">
                <a:solidFill>
                  <a:srgbClr val="262626"/>
                </a:solidFill>
              </a:rPr>
              <a:t>scénario</a:t>
            </a:r>
            <a:br>
              <a:rPr lang="en-US" sz="2400" b="1" dirty="0">
                <a:solidFill>
                  <a:srgbClr val="262626"/>
                </a:solidFill>
              </a:rPr>
            </a:br>
            <a:r>
              <a:rPr lang="en-US" sz="2400" b="1" dirty="0">
                <a:solidFill>
                  <a:srgbClr val="262626"/>
                </a:solidFill>
              </a:rPr>
              <a:t>"🟣 {{scenario}}"</a:t>
            </a:r>
            <a:endParaRPr sz="1200" i="1" dirty="0">
              <a:solidFill>
                <a:srgbClr val="262626"/>
              </a:solidFill>
            </a:endParaRPr>
          </a:p>
        </p:txBody>
      </p:sp>
      <p:sp>
        <p:nvSpPr>
          <p:cNvPr id="206" name="Google Shape;206;p27"/>
          <p:cNvSpPr/>
          <p:nvPr/>
        </p:nvSpPr>
        <p:spPr>
          <a:xfrm>
            <a:off x="2676650" y="1351700"/>
            <a:ext cx="1807200" cy="773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alibri"/>
              <a:buNone/>
            </a:pPr>
            <a:endParaRPr b="1" i="0" u="none" strike="noStrike" cap="none">
              <a:solidFill>
                <a:schemeClr val="dk2"/>
              </a:solidFill>
            </a:endParaRPr>
          </a:p>
        </p:txBody>
      </p:sp>
      <p:sp>
        <p:nvSpPr>
          <p:cNvPr id="207" name="Google Shape;207;p27"/>
          <p:cNvSpPr/>
          <p:nvPr/>
        </p:nvSpPr>
        <p:spPr>
          <a:xfrm>
            <a:off x="2676650" y="2278267"/>
            <a:ext cx="1807200" cy="773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alibri"/>
              <a:buNone/>
            </a:pPr>
            <a:endParaRPr b="1" i="0" u="none" strike="noStrike" cap="none">
              <a:solidFill>
                <a:schemeClr val="dk2"/>
              </a:solidFill>
            </a:endParaRPr>
          </a:p>
        </p:txBody>
      </p:sp>
      <p:sp>
        <p:nvSpPr>
          <p:cNvPr id="208" name="Google Shape;208;p27"/>
          <p:cNvSpPr/>
          <p:nvPr/>
        </p:nvSpPr>
        <p:spPr>
          <a:xfrm>
            <a:off x="2676650" y="3204834"/>
            <a:ext cx="1807200" cy="773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alibri"/>
              <a:buNone/>
            </a:pPr>
            <a:endParaRPr b="1" i="0" u="none" strike="noStrike" cap="none">
              <a:solidFill>
                <a:schemeClr val="dk2"/>
              </a:solidFill>
            </a:endParaRPr>
          </a:p>
        </p:txBody>
      </p:sp>
      <p:sp>
        <p:nvSpPr>
          <p:cNvPr id="209" name="Google Shape;209;p27"/>
          <p:cNvSpPr txBox="1"/>
          <p:nvPr/>
        </p:nvSpPr>
        <p:spPr>
          <a:xfrm>
            <a:off x="4484050" y="1351700"/>
            <a:ext cx="3936000" cy="773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285750" marR="0" lvl="0" indent="-1809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●"/>
            </a:pPr>
            <a:endParaRPr sz="1050"/>
          </a:p>
        </p:txBody>
      </p:sp>
      <p:sp>
        <p:nvSpPr>
          <p:cNvPr id="210" name="Google Shape;210;p27"/>
          <p:cNvSpPr/>
          <p:nvPr/>
        </p:nvSpPr>
        <p:spPr>
          <a:xfrm>
            <a:off x="2676650" y="4131401"/>
            <a:ext cx="1807200" cy="773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alibri"/>
              <a:buNone/>
            </a:pPr>
            <a:r>
              <a:rPr lang="en-US" b="1">
                <a:solidFill>
                  <a:schemeClr val="dk2"/>
                </a:solidFill>
              </a:rPr>
              <a:t>❌ Pourquoi pas les autres scénarios ?</a:t>
            </a:r>
            <a:endParaRPr b="1" i="0" u="none" strike="noStrike" cap="none">
              <a:solidFill>
                <a:schemeClr val="dk2"/>
              </a:solidFill>
            </a:endParaRPr>
          </a:p>
        </p:txBody>
      </p:sp>
      <p:sp>
        <p:nvSpPr>
          <p:cNvPr id="211" name="Google Shape;211;p27"/>
          <p:cNvSpPr txBox="1"/>
          <p:nvPr/>
        </p:nvSpPr>
        <p:spPr>
          <a:xfrm>
            <a:off x="4484050" y="2278269"/>
            <a:ext cx="3936000" cy="773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285750" marR="0" lvl="0" indent="-1809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●"/>
            </a:pPr>
            <a:endParaRPr sz="1050"/>
          </a:p>
        </p:txBody>
      </p:sp>
      <p:sp>
        <p:nvSpPr>
          <p:cNvPr id="212" name="Google Shape;212;p27"/>
          <p:cNvSpPr txBox="1"/>
          <p:nvPr/>
        </p:nvSpPr>
        <p:spPr>
          <a:xfrm>
            <a:off x="4484050" y="3204837"/>
            <a:ext cx="3936000" cy="773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285750" marR="0" lvl="0" indent="-1809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●"/>
            </a:pPr>
            <a:endParaRPr sz="1050"/>
          </a:p>
        </p:txBody>
      </p:sp>
      <p:sp>
        <p:nvSpPr>
          <p:cNvPr id="213" name="Google Shape;213;p27"/>
          <p:cNvSpPr txBox="1"/>
          <p:nvPr/>
        </p:nvSpPr>
        <p:spPr>
          <a:xfrm>
            <a:off x="4484050" y="4131406"/>
            <a:ext cx="3936000" cy="773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/>
          </a:p>
        </p:txBody>
      </p:sp>
      <p:sp>
        <p:nvSpPr>
          <p:cNvPr id="2" name="Google Shape;91;p14">
            <a:extLst>
              <a:ext uri="{FF2B5EF4-FFF2-40B4-BE49-F238E27FC236}">
                <a16:creationId xmlns:a16="http://schemas.microsoft.com/office/drawing/2014/main" id="{8C2CE72E-59BE-E46E-9B04-920C5352E491}"/>
              </a:ext>
            </a:extLst>
          </p:cNvPr>
          <p:cNvSpPr txBox="1">
            <a:spLocks/>
          </p:cNvSpPr>
          <p:nvPr/>
        </p:nvSpPr>
        <p:spPr>
          <a:xfrm>
            <a:off x="355025" y="484524"/>
            <a:ext cx="1535700" cy="346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/>
            <a:r>
              <a:rPr lang="en-US" sz="1100" i="1"/>
              <a:t>EPCI {{layoutEpciName}} / BH {{layoutBassinName}}</a:t>
            </a:r>
            <a:endParaRPr lang="en-US" sz="1100" i="1" dirty="0"/>
          </a:p>
        </p:txBody>
      </p:sp>
      <p:sp>
        <p:nvSpPr>
          <p:cNvPr id="3" name="Google Shape;92;p14">
            <a:extLst>
              <a:ext uri="{FF2B5EF4-FFF2-40B4-BE49-F238E27FC236}">
                <a16:creationId xmlns:a16="http://schemas.microsoft.com/office/drawing/2014/main" id="{85E56E29-47CD-1A77-7712-ECB7B562EAFB}"/>
              </a:ext>
            </a:extLst>
          </p:cNvPr>
          <p:cNvSpPr txBox="1">
            <a:spLocks/>
          </p:cNvSpPr>
          <p:nvPr/>
        </p:nvSpPr>
        <p:spPr>
          <a:xfrm>
            <a:off x="355025" y="1017925"/>
            <a:ext cx="1535700" cy="733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/>
            <a:r>
              <a:rPr lang="en-US" sz="1100"/>
              <a:t>Estimation sur la période {{layoutStart}} – {{layoutEnd}} pour le {{layoutDocumentType}}</a:t>
            </a:r>
            <a:endParaRPr lang="en-US" sz="1100" i="1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8"/>
          <p:cNvSpPr txBox="1">
            <a:spLocks noGrp="1"/>
          </p:cNvSpPr>
          <p:nvPr>
            <p:ph type="body" idx="1"/>
          </p:nvPr>
        </p:nvSpPr>
        <p:spPr>
          <a:xfrm>
            <a:off x="2709800" y="2344050"/>
            <a:ext cx="5277600" cy="455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4. </a:t>
            </a:r>
            <a:r>
              <a:rPr lang="en-US" dirty="0" err="1"/>
              <a:t>Décryptage</a:t>
            </a:r>
            <a:r>
              <a:rPr lang="en-US" dirty="0"/>
              <a:t> et justification du </a:t>
            </a:r>
            <a:r>
              <a:rPr lang="en-US" dirty="0" err="1"/>
              <a:t>scénario</a:t>
            </a:r>
            <a:r>
              <a:rPr lang="en-US" dirty="0"/>
              <a:t> </a:t>
            </a:r>
            <a:r>
              <a:rPr lang="en-US" dirty="0" err="1"/>
              <a:t>privilégié {{privilegedScenario}}</a:t>
            </a:r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9"/>
          <p:cNvSpPr txBox="1"/>
          <p:nvPr/>
        </p:nvSpPr>
        <p:spPr>
          <a:xfrm>
            <a:off x="2600446" y="209550"/>
            <a:ext cx="62673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rial"/>
              <a:buNone/>
            </a:pPr>
            <a:r>
              <a:rPr lang="en-US" sz="2400" b="1" dirty="0" err="1">
                <a:solidFill>
                  <a:srgbClr val="262626"/>
                </a:solidFill>
              </a:rPr>
              <a:t>Besoins</a:t>
            </a:r>
            <a:r>
              <a:rPr lang="en-US" sz="2400" b="1" dirty="0">
                <a:solidFill>
                  <a:srgbClr val="262626"/>
                </a:solidFill>
              </a:rPr>
              <a:t> </a:t>
            </a:r>
            <a:r>
              <a:rPr lang="en-US" sz="2400" b="1" dirty="0" err="1">
                <a:solidFill>
                  <a:srgbClr val="262626"/>
                </a:solidFill>
              </a:rPr>
              <a:t>en</a:t>
            </a:r>
            <a:r>
              <a:rPr lang="en-US" sz="2400" b="1" dirty="0">
                <a:solidFill>
                  <a:srgbClr val="262626"/>
                </a:solidFill>
              </a:rPr>
              <a:t> constructions </a:t>
            </a:r>
            <a:r>
              <a:rPr lang="en-US" sz="2400" b="1" dirty="0" err="1">
                <a:solidFill>
                  <a:srgbClr val="262626"/>
                </a:solidFill>
              </a:rPr>
              <a:t>neuves</a:t>
            </a:r>
            <a:r>
              <a:rPr lang="en-US" sz="2400" b="1" dirty="0">
                <a:solidFill>
                  <a:srgbClr val="262626"/>
                </a:solidFill>
              </a:rPr>
              <a:t> pour le </a:t>
            </a:r>
            <a:r>
              <a:rPr lang="en-US" sz="2400" b="1" dirty="0" err="1">
                <a:solidFill>
                  <a:srgbClr val="262626"/>
                </a:solidFill>
              </a:rPr>
              <a:t>scénario</a:t>
            </a:r>
            <a:r>
              <a:rPr lang="en-US" sz="2400" b="1" dirty="0">
                <a:solidFill>
                  <a:srgbClr val="262626"/>
                </a:solidFill>
              </a:rPr>
              <a:t> </a:t>
            </a:r>
            <a:r>
              <a:rPr lang="en-US" sz="2400" b="1" dirty="0" err="1">
                <a:solidFill>
                  <a:srgbClr val="262626"/>
                </a:solidFill>
              </a:rPr>
              <a:t>privilégié</a:t>
            </a:r>
            <a:r>
              <a:rPr lang="en-US" sz="2400" b="1" dirty="0">
                <a:solidFill>
                  <a:srgbClr val="262626"/>
                </a:solidFill>
              </a:rPr>
              <a:t> "🟣 {{scenario}}"</a:t>
            </a:r>
            <a:endParaRPr sz="1200" i="1" dirty="0">
              <a:solidFill>
                <a:srgbClr val="262626"/>
              </a:solidFill>
            </a:endParaRPr>
          </a:p>
        </p:txBody>
      </p:sp>
      <p:sp>
        <p:nvSpPr>
          <p:cNvPr id="226" name="Google Shape;226;p29"/>
          <p:cNvSpPr txBox="1"/>
          <p:nvPr/>
        </p:nvSpPr>
        <p:spPr>
          <a:xfrm>
            <a:off x="2558652" y="1040925"/>
            <a:ext cx="62673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rial"/>
              <a:buNone/>
            </a:pPr>
            <a:r>
              <a:rPr lang="en-US" sz="1100" i="1" dirty="0" err="1">
                <a:solidFill>
                  <a:srgbClr val="262626"/>
                </a:solidFill>
              </a:rPr>
              <a:t>Calendrier {{docStart}}</a:t>
            </a:r>
            <a:r>
              <a:rPr lang="en-US" sz="1100" i="1" dirty="0">
                <a:solidFill>
                  <a:srgbClr val="262626"/>
                </a:solidFill>
              </a:rPr>
              <a:t> – {{projection}}</a:t>
            </a:r>
            <a:endParaRPr sz="200" i="1" dirty="0">
              <a:solidFill>
                <a:srgbClr val="262626"/>
              </a:solidFill>
            </a:endParaRPr>
          </a:p>
        </p:txBody>
      </p:sp>
      <p:sp>
        <p:nvSpPr>
          <p:cNvPr id="227" name="Google Shape;227;p29"/>
          <p:cNvSpPr/>
          <p:nvPr/>
        </p:nvSpPr>
        <p:spPr>
          <a:xfrm>
            <a:off x="2154625" y="1826100"/>
            <a:ext cx="2170800" cy="2425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102650" tIns="51300" rIns="102650" bIns="5130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347"/>
              </a:spcBef>
              <a:spcAft>
                <a:spcPts val="0"/>
              </a:spcAft>
              <a:buClr>
                <a:schemeClr val="dk1"/>
              </a:buClr>
              <a:buSzPts val="1235"/>
              <a:buFont typeface="Arial"/>
              <a:buNone/>
            </a:pPr>
            <a:r>
              <a:rPr lang="en-US" sz="1447" b="1" u="sng" dirty="0">
                <a:solidFill>
                  <a:schemeClr val="dk1"/>
                </a:solidFill>
              </a:rPr>
              <a:t>Phase 1: 2021-{{docStart-1}}</a:t>
            </a:r>
            <a:endParaRPr sz="1447" b="1" u="sng" dirty="0">
              <a:solidFill>
                <a:schemeClr val="dk2"/>
              </a:solidFill>
            </a:endParaRPr>
          </a:p>
          <a:p>
            <a:pPr marL="256660" lvl="0" indent="-213884" algn="l" rtl="0">
              <a:lnSpc>
                <a:spcPct val="115000"/>
              </a:lnSpc>
              <a:spcBef>
                <a:spcPts val="1347"/>
              </a:spcBef>
              <a:spcAft>
                <a:spcPts val="0"/>
              </a:spcAft>
              <a:buClr>
                <a:schemeClr val="dk1"/>
              </a:buClr>
              <a:buSzPts val="1347"/>
              <a:buChar char="●"/>
            </a:pPr>
            <a:r>
              <a:rPr lang="en-US" sz="1347" b="1" dirty="0">
                <a:solidFill>
                  <a:schemeClr val="dk1"/>
                </a:solidFill>
              </a:rPr>
              <a:t>{{nb1}} </a:t>
            </a:r>
            <a:r>
              <a:rPr lang="en-US" sz="1347" b="1" dirty="0" err="1">
                <a:solidFill>
                  <a:schemeClr val="dk1"/>
                </a:solidFill>
              </a:rPr>
              <a:t>logements</a:t>
            </a:r>
            <a:r>
              <a:rPr lang="en-US" sz="1347" b="1" dirty="0">
                <a:solidFill>
                  <a:schemeClr val="dk1"/>
                </a:solidFill>
              </a:rPr>
              <a:t>/an</a:t>
            </a:r>
            <a:endParaRPr sz="1347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347"/>
              </a:spcBef>
              <a:spcAft>
                <a:spcPts val="1347"/>
              </a:spcAft>
              <a:buNone/>
            </a:pPr>
            <a:endParaRPr sz="1347" dirty="0">
              <a:solidFill>
                <a:schemeClr val="lt1"/>
              </a:solidFill>
            </a:endParaRPr>
          </a:p>
        </p:txBody>
      </p:sp>
      <p:sp>
        <p:nvSpPr>
          <p:cNvPr id="228" name="Google Shape;228;p29"/>
          <p:cNvSpPr/>
          <p:nvPr/>
        </p:nvSpPr>
        <p:spPr>
          <a:xfrm>
            <a:off x="4458532" y="1826100"/>
            <a:ext cx="2170800" cy="2425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102650" tIns="51300" rIns="102650" bIns="5130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347"/>
              </a:spcBef>
              <a:spcAft>
                <a:spcPts val="0"/>
              </a:spcAft>
              <a:buNone/>
            </a:pPr>
            <a:r>
              <a:rPr lang="en-US" sz="1447" b="1" u="sng" dirty="0">
                <a:solidFill>
                  <a:schemeClr val="dk1"/>
                </a:solidFill>
              </a:rPr>
              <a:t>Phase 2 (</a:t>
            </a:r>
            <a:r>
              <a:rPr lang="en-US" sz="1447" b="1" u="sng" dirty="0" err="1">
                <a:solidFill>
                  <a:schemeClr val="dk1"/>
                </a:solidFill>
              </a:rPr>
              <a:t>{{docStart}}</a:t>
            </a:r>
            <a:r>
              <a:rPr lang="en-US" sz="1447" b="1" u="sng" dirty="0">
                <a:solidFill>
                  <a:schemeClr val="dk1"/>
                </a:solidFill>
              </a:rPr>
              <a:t>-</a:t>
            </a:r>
            <a:r>
              <a:rPr lang="en-US" sz="1447" b="1" u="sng" dirty="0" err="1">
                <a:solidFill>
                  <a:schemeClr val="dk1"/>
                </a:solidFill>
              </a:rPr>
              <a:t>{{docEnd}}</a:t>
            </a:r>
            <a:r>
              <a:rPr lang="en-US" sz="1447" b="1" u="sng" dirty="0">
                <a:solidFill>
                  <a:schemeClr val="dk1"/>
                </a:solidFill>
              </a:rPr>
              <a:t>)</a:t>
            </a:r>
            <a:r>
              <a:rPr lang="en-US" sz="1447" b="1" dirty="0">
                <a:solidFill>
                  <a:schemeClr val="dk1"/>
                </a:solidFill>
              </a:rPr>
              <a:t> : </a:t>
            </a:r>
            <a:r>
              <a:rPr lang="en-US" sz="1447" b="1" dirty="0" err="1">
                <a:solidFill>
                  <a:schemeClr val="dk2"/>
                </a:solidFill>
              </a:rPr>
              <a:t>Période</a:t>
            </a:r>
            <a:r>
              <a:rPr lang="en-US" sz="1447" b="1" dirty="0">
                <a:solidFill>
                  <a:schemeClr val="dk2"/>
                </a:solidFill>
              </a:rPr>
              <a:t> </a:t>
            </a:r>
            <a:r>
              <a:rPr lang="en-US" sz="1447" b="1" i="1" dirty="0">
                <a:solidFill>
                  <a:schemeClr val="dk2"/>
                </a:solidFill>
              </a:rPr>
              <a:t>document</a:t>
            </a:r>
            <a:endParaRPr sz="1447" b="1" i="1" dirty="0">
              <a:solidFill>
                <a:schemeClr val="dk2"/>
              </a:solidFill>
            </a:endParaRPr>
          </a:p>
          <a:p>
            <a:pPr marL="256660" marR="0" lvl="0" indent="-213884" algn="l" rtl="0">
              <a:lnSpc>
                <a:spcPct val="115000"/>
              </a:lnSpc>
              <a:spcBef>
                <a:spcPts val="1347"/>
              </a:spcBef>
              <a:spcAft>
                <a:spcPts val="0"/>
              </a:spcAft>
              <a:buClr>
                <a:schemeClr val="dk1"/>
              </a:buClr>
              <a:buSzPts val="1347"/>
              <a:buChar char="●"/>
            </a:pPr>
            <a:r>
              <a:rPr lang="en-US" sz="1347" b="1" dirty="0">
                <a:solidFill>
                  <a:schemeClr val="dk1"/>
                </a:solidFill>
              </a:rPr>
              <a:t>{{nb2}} </a:t>
            </a:r>
            <a:r>
              <a:rPr lang="en-US" sz="1347" b="1" dirty="0" err="1">
                <a:solidFill>
                  <a:schemeClr val="dk1"/>
                </a:solidFill>
              </a:rPr>
              <a:t>logements</a:t>
            </a:r>
            <a:r>
              <a:rPr lang="en-US" sz="1347" b="1" dirty="0">
                <a:solidFill>
                  <a:schemeClr val="dk1"/>
                </a:solidFill>
              </a:rPr>
              <a:t>/an </a:t>
            </a:r>
            <a:r>
              <a:rPr lang="en-US" sz="1347" b="1" dirty="0" err="1">
                <a:solidFill>
                  <a:schemeClr val="dk1"/>
                </a:solidFill>
              </a:rPr>
              <a:t>en</a:t>
            </a:r>
            <a:r>
              <a:rPr lang="en-US" sz="1347" b="1" dirty="0">
                <a:solidFill>
                  <a:schemeClr val="dk1"/>
                </a:solidFill>
              </a:rPr>
              <a:t> </a:t>
            </a:r>
            <a:r>
              <a:rPr lang="en-US" sz="1347" b="1" dirty="0" err="1">
                <a:solidFill>
                  <a:schemeClr val="dk1"/>
                </a:solidFill>
              </a:rPr>
              <a:t>moyenne</a:t>
            </a:r>
            <a:r>
              <a:rPr lang="en-US" sz="1347" dirty="0">
                <a:solidFill>
                  <a:schemeClr val="dk1"/>
                </a:solidFill>
              </a:rPr>
              <a:t> ({{total}} total)</a:t>
            </a:r>
            <a:endParaRPr sz="1347"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347"/>
              </a:spcBef>
              <a:spcAft>
                <a:spcPts val="1347"/>
              </a:spcAft>
              <a:buNone/>
            </a:pPr>
            <a:endParaRPr sz="157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9"/>
          <p:cNvSpPr/>
          <p:nvPr/>
        </p:nvSpPr>
        <p:spPr>
          <a:xfrm>
            <a:off x="6762438" y="1826100"/>
            <a:ext cx="2299800" cy="2425500"/>
          </a:xfrm>
          <a:prstGeom prst="homePlate">
            <a:avLst>
              <a:gd name="adj" fmla="val 20342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102650" tIns="51300" rIns="102650" bIns="5130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347"/>
              </a:spcBef>
              <a:spcAft>
                <a:spcPts val="0"/>
              </a:spcAft>
              <a:buNone/>
            </a:pPr>
            <a:r>
              <a:rPr lang="en-US" sz="1447" b="1" u="sng" dirty="0">
                <a:solidFill>
                  <a:schemeClr val="dk1"/>
                </a:solidFill>
              </a:rPr>
              <a:t>Phase 3 </a:t>
            </a:r>
            <a:r>
              <a:rPr lang="en-US" sz="1447" b="1" u="sng">
                <a:solidFill>
                  <a:schemeClr val="dk1"/>
                </a:solidFill>
              </a:rPr>
              <a:t>({{docEnd2}}-</a:t>
            </a:r>
            <a:r>
              <a:rPr lang="en-US" sz="1447" b="1" u="sng" dirty="0">
                <a:solidFill>
                  <a:schemeClr val="dk1"/>
                </a:solidFill>
              </a:rPr>
              <a:t>{{projection}})</a:t>
            </a:r>
            <a:endParaRPr sz="1447" b="1" u="sng" dirty="0">
              <a:solidFill>
                <a:schemeClr val="dk2"/>
              </a:solidFill>
            </a:endParaRPr>
          </a:p>
          <a:p>
            <a:pPr marL="256660" marR="0" lvl="0" indent="-213884" algn="l" rtl="0">
              <a:lnSpc>
                <a:spcPct val="115000"/>
              </a:lnSpc>
              <a:spcBef>
                <a:spcPts val="1347"/>
              </a:spcBef>
              <a:spcAft>
                <a:spcPts val="0"/>
              </a:spcAft>
              <a:buClr>
                <a:schemeClr val="dk1"/>
              </a:buClr>
              <a:buSzPts val="1347"/>
              <a:buChar char="●"/>
            </a:pPr>
            <a:r>
              <a:rPr lang="en-US" sz="1347" b="1" dirty="0">
                <a:solidFill>
                  <a:schemeClr val="dk1"/>
                </a:solidFill>
              </a:rPr>
              <a:t>{{nb3}} </a:t>
            </a:r>
            <a:r>
              <a:rPr lang="en-US" sz="1347" b="1" dirty="0" err="1">
                <a:solidFill>
                  <a:schemeClr val="dk1"/>
                </a:solidFill>
              </a:rPr>
              <a:t>logements</a:t>
            </a:r>
            <a:r>
              <a:rPr lang="en-US" sz="1347" b="1" dirty="0">
                <a:solidFill>
                  <a:schemeClr val="dk1"/>
                </a:solidFill>
              </a:rPr>
              <a:t>/an</a:t>
            </a:r>
            <a:endParaRPr sz="1347" dirty="0">
              <a:solidFill>
                <a:schemeClr val="dk1"/>
              </a:solidFill>
            </a:endParaRPr>
          </a:p>
        </p:txBody>
      </p:sp>
      <p:sp>
        <p:nvSpPr>
          <p:cNvPr id="2" name="Google Shape;91;p14">
            <a:extLst>
              <a:ext uri="{FF2B5EF4-FFF2-40B4-BE49-F238E27FC236}">
                <a16:creationId xmlns:a16="http://schemas.microsoft.com/office/drawing/2014/main" id="{2DC7526D-6B9B-4C44-BC2B-4B9E1F063A2A}"/>
              </a:ext>
            </a:extLst>
          </p:cNvPr>
          <p:cNvSpPr txBox="1">
            <a:spLocks/>
          </p:cNvSpPr>
          <p:nvPr/>
        </p:nvSpPr>
        <p:spPr>
          <a:xfrm>
            <a:off x="355025" y="484524"/>
            <a:ext cx="1535700" cy="346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/>
            <a:r>
              <a:rPr lang="en-US" sz="1100" i="1"/>
              <a:t>EPCI {{layoutEpciName}} / BH {{layoutBassinName}}</a:t>
            </a:r>
            <a:endParaRPr lang="en-US" sz="1100" i="1" dirty="0"/>
          </a:p>
        </p:txBody>
      </p:sp>
      <p:sp>
        <p:nvSpPr>
          <p:cNvPr id="3" name="Google Shape;92;p14">
            <a:extLst>
              <a:ext uri="{FF2B5EF4-FFF2-40B4-BE49-F238E27FC236}">
                <a16:creationId xmlns:a16="http://schemas.microsoft.com/office/drawing/2014/main" id="{D7E01CD0-A680-66E3-34A1-070911F4C8BC}"/>
              </a:ext>
            </a:extLst>
          </p:cNvPr>
          <p:cNvSpPr txBox="1">
            <a:spLocks/>
          </p:cNvSpPr>
          <p:nvPr/>
        </p:nvSpPr>
        <p:spPr>
          <a:xfrm>
            <a:off x="355025" y="1017925"/>
            <a:ext cx="1535700" cy="733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/>
            <a:r>
              <a:rPr lang="en-US" sz="1100" dirty="0"/>
              <a:t>Estimation sur la </a:t>
            </a:r>
            <a:r>
              <a:rPr lang="en-US" sz="1100" dirty="0" err="1"/>
              <a:t>période</a:t>
            </a:r>
            <a:r>
              <a:rPr lang="en-US" sz="1100" dirty="0"/>
              <a:t> </a:t>
            </a:r>
            <a:r>
              <a:rPr lang="en-US" sz="1100" dirty="0" err="1"/>
              <a:t>{{layoutStart}}</a:t>
            </a:r>
            <a:r>
              <a:rPr lang="en-US" sz="1100" dirty="0"/>
              <a:t> – </a:t>
            </a:r>
            <a:r>
              <a:rPr lang="en-US" sz="1100" dirty="0" err="1"/>
              <a:t>{{layoutEnd}}</a:t>
            </a:r>
            <a:r>
              <a:rPr lang="en-US" sz="1100" dirty="0"/>
              <a:t> pour le </a:t>
            </a:r>
            <a:r>
              <a:rPr lang="en-US" sz="1100" dirty="0" err="1"/>
              <a:t>{{layoutDocumentType}}</a:t>
            </a:r>
            <a:endParaRPr lang="en-US" sz="1100" i="1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/>
          <p:cNvSpPr txBox="1"/>
          <p:nvPr/>
        </p:nvSpPr>
        <p:spPr>
          <a:xfrm>
            <a:off x="2600446" y="209550"/>
            <a:ext cx="62673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rial"/>
              <a:buNone/>
            </a:pPr>
            <a:r>
              <a:rPr lang="en-US" sz="2400" b="1" dirty="0" err="1">
                <a:solidFill>
                  <a:srgbClr val="262626"/>
                </a:solidFill>
              </a:rPr>
              <a:t>Besoins</a:t>
            </a:r>
            <a:r>
              <a:rPr lang="en-US" sz="2400" b="1" dirty="0">
                <a:solidFill>
                  <a:srgbClr val="262626"/>
                </a:solidFill>
              </a:rPr>
              <a:t> </a:t>
            </a:r>
            <a:r>
              <a:rPr lang="en-US" sz="2400" b="1" dirty="0" err="1">
                <a:solidFill>
                  <a:srgbClr val="262626"/>
                </a:solidFill>
              </a:rPr>
              <a:t>en</a:t>
            </a:r>
            <a:r>
              <a:rPr lang="en-US" sz="2400" b="1" dirty="0">
                <a:solidFill>
                  <a:srgbClr val="262626"/>
                </a:solidFill>
              </a:rPr>
              <a:t> constructions </a:t>
            </a:r>
            <a:r>
              <a:rPr lang="en-US" sz="2400" b="1" dirty="0" err="1">
                <a:solidFill>
                  <a:srgbClr val="262626"/>
                </a:solidFill>
              </a:rPr>
              <a:t>neuves</a:t>
            </a:r>
            <a:r>
              <a:rPr lang="en-US" sz="2400" b="1" dirty="0">
                <a:solidFill>
                  <a:srgbClr val="262626"/>
                </a:solidFill>
              </a:rPr>
              <a:t> pour le </a:t>
            </a:r>
            <a:r>
              <a:rPr lang="en-US" sz="2400" b="1" dirty="0" err="1">
                <a:solidFill>
                  <a:srgbClr val="262626"/>
                </a:solidFill>
              </a:rPr>
              <a:t>scénario</a:t>
            </a:r>
            <a:r>
              <a:rPr lang="en-US" sz="2400" b="1" dirty="0">
                <a:solidFill>
                  <a:srgbClr val="262626"/>
                </a:solidFill>
              </a:rPr>
              <a:t> </a:t>
            </a:r>
            <a:r>
              <a:rPr lang="en-US" sz="2400" b="1" dirty="0" err="1">
                <a:solidFill>
                  <a:srgbClr val="262626"/>
                </a:solidFill>
              </a:rPr>
              <a:t>privilégié</a:t>
            </a:r>
            <a:r>
              <a:rPr lang="en-US" sz="2400" b="1" dirty="0">
                <a:solidFill>
                  <a:srgbClr val="262626"/>
                </a:solidFill>
              </a:rPr>
              <a:t> "🟣 {{scenario}}"</a:t>
            </a:r>
            <a:endParaRPr sz="1200" i="1" dirty="0">
              <a:solidFill>
                <a:srgbClr val="262626"/>
              </a:solidFill>
            </a:endParaRPr>
          </a:p>
        </p:txBody>
      </p:sp>
      <p:pic>
        <p:nvPicPr>
          <p:cNvPr id="237" name="Google Shape;237;p30"/>
          <p:cNvPicPr preferRelativeResize="0">
            <a:picLocks noGrp="1"/>
          </p:cNvPicPr>
          <p:nvPr>
            <p:ph type="body" idx="4294967295"/>
          </p:nvPr>
        </p:nvPicPr>
        <p:blipFill rotWithShape="1">
          <a:blip r:embed="rId3">
            <a:alphaModFix/>
          </a:blip>
          <a:srcRect t="11394"/>
          <a:stretch/>
        </p:blipFill>
        <p:spPr>
          <a:xfrm>
            <a:off x="2600450" y="1584525"/>
            <a:ext cx="5829900" cy="322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91;p14">
            <a:extLst>
              <a:ext uri="{FF2B5EF4-FFF2-40B4-BE49-F238E27FC236}">
                <a16:creationId xmlns:a16="http://schemas.microsoft.com/office/drawing/2014/main" id="{17C0CCF1-B135-A847-D40F-FA20F716AE22}"/>
              </a:ext>
            </a:extLst>
          </p:cNvPr>
          <p:cNvSpPr txBox="1">
            <a:spLocks/>
          </p:cNvSpPr>
          <p:nvPr/>
        </p:nvSpPr>
        <p:spPr>
          <a:xfrm>
            <a:off x="355025" y="484524"/>
            <a:ext cx="1535700" cy="346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/>
            <a:r>
              <a:rPr lang="en-US" sz="1100" i="1"/>
              <a:t>EPCI {{layoutEpciName}} / BH {{layoutBassinName}}</a:t>
            </a:r>
            <a:endParaRPr lang="en-US" sz="1100" i="1" dirty="0"/>
          </a:p>
        </p:txBody>
      </p:sp>
      <p:sp>
        <p:nvSpPr>
          <p:cNvPr id="3" name="Google Shape;92;p14">
            <a:extLst>
              <a:ext uri="{FF2B5EF4-FFF2-40B4-BE49-F238E27FC236}">
                <a16:creationId xmlns:a16="http://schemas.microsoft.com/office/drawing/2014/main" id="{29085CBC-BCF0-7D6A-3549-0FCE42A0F7AE}"/>
              </a:ext>
            </a:extLst>
          </p:cNvPr>
          <p:cNvSpPr txBox="1">
            <a:spLocks/>
          </p:cNvSpPr>
          <p:nvPr/>
        </p:nvSpPr>
        <p:spPr>
          <a:xfrm>
            <a:off x="355025" y="1017925"/>
            <a:ext cx="1535700" cy="733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/>
            <a:r>
              <a:rPr lang="en-US" sz="1100"/>
              <a:t>Estimation sur la période {{layoutStart}} – {{layoutEnd}} pour le {{layoutDocumentType}}</a:t>
            </a:r>
            <a:endParaRPr lang="en-US" sz="1100" i="1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1"/>
          <p:cNvSpPr txBox="1"/>
          <p:nvPr/>
        </p:nvSpPr>
        <p:spPr>
          <a:xfrm>
            <a:off x="2600446" y="209550"/>
            <a:ext cx="626730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rial"/>
              <a:buNone/>
            </a:pPr>
            <a:r>
              <a:rPr lang="en-US" sz="2400" b="1" dirty="0" err="1">
                <a:solidFill>
                  <a:srgbClr val="262626"/>
                </a:solidFill>
              </a:rPr>
              <a:t>Répartition</a:t>
            </a:r>
            <a:r>
              <a:rPr lang="en-US" sz="2400" b="1" dirty="0">
                <a:solidFill>
                  <a:srgbClr val="262626"/>
                </a:solidFill>
              </a:rPr>
              <a:t> des </a:t>
            </a:r>
            <a:r>
              <a:rPr lang="en-US" sz="2400" b="1" dirty="0" err="1">
                <a:solidFill>
                  <a:srgbClr val="262626"/>
                </a:solidFill>
              </a:rPr>
              <a:t>besoins</a:t>
            </a:r>
            <a:r>
              <a:rPr lang="en-US" sz="2400" b="1" dirty="0">
                <a:solidFill>
                  <a:srgbClr val="262626"/>
                </a:solidFill>
              </a:rPr>
              <a:t> pour le </a:t>
            </a:r>
            <a:r>
              <a:rPr lang="en-US" sz="2400" b="1" dirty="0" err="1">
                <a:solidFill>
                  <a:srgbClr val="262626"/>
                </a:solidFill>
              </a:rPr>
              <a:t>scénario</a:t>
            </a:r>
            <a:r>
              <a:rPr lang="en-US" sz="2400" b="1" dirty="0">
                <a:solidFill>
                  <a:srgbClr val="262626"/>
                </a:solidFill>
              </a:rPr>
              <a:t> </a:t>
            </a:r>
            <a:r>
              <a:rPr lang="en-US" sz="2400" b="1" dirty="0" err="1">
                <a:solidFill>
                  <a:srgbClr val="262626"/>
                </a:solidFill>
              </a:rPr>
              <a:t>privilégié</a:t>
            </a:r>
            <a:r>
              <a:rPr lang="en-US" sz="2400" b="1" dirty="0">
                <a:solidFill>
                  <a:srgbClr val="262626"/>
                </a:solidFill>
              </a:rPr>
              <a:t> "🟣 </a:t>
            </a:r>
            <a:r>
              <a:rPr lang="en-US" sz="2400" b="1">
                <a:solidFill>
                  <a:srgbClr val="262626"/>
                </a:solidFill>
              </a:rPr>
              <a:t>{{scenario}}"</a:t>
            </a:r>
            <a:endParaRPr sz="1200" i="1" dirty="0">
              <a:solidFill>
                <a:srgbClr val="262626"/>
              </a:solidFill>
            </a:endParaRPr>
          </a:p>
        </p:txBody>
      </p:sp>
      <p:sp>
        <p:nvSpPr>
          <p:cNvPr id="246" name="Google Shape;246;p31"/>
          <p:cNvSpPr txBox="1"/>
          <p:nvPr/>
        </p:nvSpPr>
        <p:spPr>
          <a:xfrm>
            <a:off x="2600446" y="1017925"/>
            <a:ext cx="62673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rial"/>
              <a:buNone/>
            </a:pPr>
            <a:r>
              <a:rPr lang="en-US" sz="1100" i="1" dirty="0" err="1">
                <a:solidFill>
                  <a:srgbClr val="262626"/>
                </a:solidFill>
              </a:rPr>
              <a:t>Calendrier</a:t>
            </a:r>
            <a:r>
              <a:rPr lang="en-US" sz="1100" i="1" dirty="0">
                <a:solidFill>
                  <a:srgbClr val="262626"/>
                </a:solidFill>
              </a:rPr>
              <a:t> 2021 – {{projection}}</a:t>
            </a:r>
            <a:endParaRPr sz="100" i="1" dirty="0">
              <a:solidFill>
                <a:srgbClr val="262626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rial"/>
              <a:buNone/>
            </a:pPr>
            <a:r>
              <a:rPr lang="en-US" sz="1100" i="1" dirty="0" err="1">
                <a:solidFill>
                  <a:srgbClr val="262626"/>
                </a:solidFill>
              </a:rPr>
              <a:t>D'où</a:t>
            </a:r>
            <a:r>
              <a:rPr lang="en-US" sz="1100" i="1" dirty="0">
                <a:solidFill>
                  <a:srgbClr val="262626"/>
                </a:solidFill>
              </a:rPr>
              <a:t> </a:t>
            </a:r>
            <a:r>
              <a:rPr lang="en-US" sz="1100" i="1" dirty="0" err="1">
                <a:solidFill>
                  <a:srgbClr val="262626"/>
                </a:solidFill>
              </a:rPr>
              <a:t>viennent</a:t>
            </a:r>
            <a:r>
              <a:rPr lang="en-US" sz="1100" i="1" dirty="0">
                <a:solidFill>
                  <a:srgbClr val="262626"/>
                </a:solidFill>
              </a:rPr>
              <a:t> les </a:t>
            </a:r>
            <a:r>
              <a:rPr lang="en-US" sz="1100" i="1" dirty="0" err="1">
                <a:solidFill>
                  <a:srgbClr val="262626"/>
                </a:solidFill>
              </a:rPr>
              <a:t>{{nb}}</a:t>
            </a:r>
            <a:r>
              <a:rPr lang="en-US" sz="1100" i="1" dirty="0">
                <a:solidFill>
                  <a:srgbClr val="262626"/>
                </a:solidFill>
              </a:rPr>
              <a:t> </a:t>
            </a:r>
            <a:r>
              <a:rPr lang="en-US" sz="1100" i="1" dirty="0" err="1">
                <a:solidFill>
                  <a:srgbClr val="262626"/>
                </a:solidFill>
              </a:rPr>
              <a:t>logements</a:t>
            </a:r>
            <a:r>
              <a:rPr lang="en-US" sz="1100" i="1" dirty="0">
                <a:solidFill>
                  <a:srgbClr val="262626"/>
                </a:solidFill>
              </a:rPr>
              <a:t> </a:t>
            </a:r>
            <a:r>
              <a:rPr lang="en-US" sz="1100" i="1" dirty="0" err="1">
                <a:solidFill>
                  <a:srgbClr val="262626"/>
                </a:solidFill>
              </a:rPr>
              <a:t>neufs</a:t>
            </a:r>
            <a:r>
              <a:rPr lang="en-US" sz="1100" i="1" dirty="0">
                <a:solidFill>
                  <a:srgbClr val="262626"/>
                </a:solidFill>
              </a:rPr>
              <a:t> ?</a:t>
            </a:r>
            <a:endParaRPr sz="100" i="1" dirty="0">
              <a:solidFill>
                <a:srgbClr val="262626"/>
              </a:solidFill>
            </a:endParaRPr>
          </a:p>
        </p:txBody>
      </p:sp>
      <p:graphicFrame>
        <p:nvGraphicFramePr>
          <p:cNvPr id="247" name="Google Shape;247;p31"/>
          <p:cNvGraphicFramePr/>
          <p:nvPr>
            <p:extLst>
              <p:ext uri="{D42A27DB-BD31-4B8C-83A1-F6EECF244321}">
                <p14:modId xmlns:p14="http://schemas.microsoft.com/office/powerpoint/2010/main" val="758264537"/>
              </p:ext>
            </p:extLst>
          </p:nvPr>
        </p:nvGraphicFramePr>
        <p:xfrm>
          <a:off x="2889150" y="1481625"/>
          <a:ext cx="6191100" cy="3613475"/>
        </p:xfrm>
        <a:graphic>
          <a:graphicData uri="http://schemas.openxmlformats.org/drawingml/2006/table">
            <a:tbl>
              <a:tblPr>
                <a:noFill/>
                <a:tableStyleId>{8782ED91-6AAA-4FC9-A8D7-22FAF3BB82A8}</a:tableStyleId>
              </a:tblPr>
              <a:tblGrid>
                <a:gridCol w="1895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2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2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10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95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/>
                        <a:t>Composante</a:t>
                      </a:r>
                      <a:endParaRPr sz="1200" b="1" dirty="0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/>
                        <a:t>Logements</a:t>
                      </a:r>
                      <a:endParaRPr sz="1200" b="1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/>
                        <a:t>%</a:t>
                      </a:r>
                      <a:endParaRPr sz="1200" b="1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/>
                        <a:t>Explication</a:t>
                      </a:r>
                      <a:endParaRPr sz="1200" b="1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👥 Nouveaux ménages</a:t>
                      </a:r>
                      <a:endParaRPr sz="1200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ED1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 err="1"/>
                        <a:t>{{nbNv}}</a:t>
                      </a:r>
                      <a:endParaRPr sz="1200" dirty="0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ED1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/>
                        <a:t>X %</a:t>
                      </a:r>
                      <a:endParaRPr sz="1200" dirty="0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ED1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Croissance du nombre de ménages</a:t>
                      </a:r>
                      <a:endParaRPr sz="1200"/>
                    </a:p>
                  </a:txBody>
                  <a:tcPr marL="91425" marR="91425" marT="19050" marB="19050" anchor="ctr">
                    <a:lnL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ED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/>
                        <a:t>🏠 </a:t>
                      </a:r>
                      <a:r>
                        <a:rPr lang="en-US" sz="1200" dirty="0" err="1"/>
                        <a:t>Fluidité</a:t>
                      </a:r>
                      <a:r>
                        <a:rPr lang="en-US" sz="1200" dirty="0"/>
                        <a:t> du </a:t>
                      </a:r>
                      <a:r>
                        <a:rPr lang="en-US" sz="1200" dirty="0" err="1"/>
                        <a:t>marché</a:t>
                      </a:r>
                      <a:endParaRPr sz="1200" dirty="0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ED1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 err="1"/>
                        <a:t>{{nbFluid}}</a:t>
                      </a:r>
                      <a:endParaRPr sz="1200" dirty="0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ED1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X %</a:t>
                      </a:r>
                      <a:endParaRPr sz="1200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ED1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Rotation normale des logements</a:t>
                      </a:r>
                      <a:endParaRPr sz="1200"/>
                    </a:p>
                  </a:txBody>
                  <a:tcPr marL="91425" marR="91425" marT="19050" marB="19050" anchor="ctr">
                    <a:lnL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ED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84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/>
                        <a:t>🏘️ </a:t>
                      </a:r>
                      <a:r>
                        <a:rPr lang="en-US" sz="1200" dirty="0" err="1"/>
                        <a:t>Résidences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secondaires</a:t>
                      </a:r>
                      <a:endParaRPr sz="1200" dirty="0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ED1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 err="1"/>
                        <a:t>{{nbRs}}</a:t>
                      </a:r>
                      <a:endParaRPr sz="1200" dirty="0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ED1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X %</a:t>
                      </a:r>
                      <a:endParaRPr sz="1200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ED1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Évolution du parc secondaire</a:t>
                      </a:r>
                      <a:endParaRPr sz="1200"/>
                    </a:p>
                  </a:txBody>
                  <a:tcPr marL="91425" marR="91425" marT="19050" marB="19050" anchor="ctr">
                    <a:lnL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ED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84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🔄 Remobilisation vacants</a:t>
                      </a:r>
                      <a:endParaRPr sz="1200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 err="1"/>
                        <a:t>{{nbVac}}</a:t>
                      </a:r>
                      <a:endParaRPr sz="1200" dirty="0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Retour sur le marché de logements vacants</a:t>
                      </a:r>
                      <a:endParaRPr sz="1200"/>
                    </a:p>
                  </a:txBody>
                  <a:tcPr marL="91425" marR="91425" marT="19050" marB="19050" anchor="ctr">
                    <a:lnL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84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🏗️ Renouvellement urbain</a:t>
                      </a:r>
                      <a:endParaRPr sz="1200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 err="1"/>
                        <a:t>{{nbUrb}}</a:t>
                      </a:r>
                      <a:endParaRPr sz="1200" dirty="0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[Créations] &gt; [démolitions] dans le parc</a:t>
                      </a:r>
                      <a:endParaRPr sz="1200"/>
                    </a:p>
                  </a:txBody>
                  <a:tcPr marL="91425" marR="91425" marT="19050" marB="19050" anchor="ctr">
                    <a:lnL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84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Constructions neuves </a:t>
                      </a:r>
                      <a:endParaRPr sz="1200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/>
                        <a:t>{{total}} </a:t>
                      </a:r>
                      <a:r>
                        <a:rPr lang="en-US" sz="1200" b="1" dirty="0" err="1"/>
                        <a:t>logements</a:t>
                      </a:r>
                      <a:r>
                        <a:rPr lang="en-US" sz="1200" b="1" dirty="0"/>
                        <a:t> </a:t>
                      </a:r>
                      <a:r>
                        <a:rPr lang="en-US" sz="1200" b="1" dirty="0" err="1"/>
                        <a:t>neufs</a:t>
                      </a:r>
                      <a:r>
                        <a:rPr lang="en-US" sz="1200" b="1" dirty="0"/>
                        <a:t> </a:t>
                      </a:r>
                      <a:r>
                        <a:rPr lang="en-US" sz="1200" b="1" dirty="0" err="1"/>
                        <a:t>à</a:t>
                      </a:r>
                      <a:r>
                        <a:rPr lang="en-US" sz="1200" b="1" dirty="0"/>
                        <a:t> </a:t>
                      </a:r>
                      <a:r>
                        <a:rPr lang="en-US" sz="1200" b="1" dirty="0" err="1"/>
                        <a:t>produire</a:t>
                      </a:r>
                      <a:endParaRPr sz="1200" b="1" dirty="0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48" name="Google Shape;248;p31"/>
          <p:cNvSpPr txBox="1"/>
          <p:nvPr/>
        </p:nvSpPr>
        <p:spPr>
          <a:xfrm>
            <a:off x="219975" y="1782450"/>
            <a:ext cx="1625700" cy="263376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chemeClr val="dk1"/>
                </a:solidFill>
              </a:rPr>
              <a:t>💡 Messages </a:t>
            </a:r>
            <a:r>
              <a:rPr lang="en-US" sz="1100" b="1" dirty="0" err="1">
                <a:solidFill>
                  <a:schemeClr val="dk1"/>
                </a:solidFill>
              </a:rPr>
              <a:t>clés</a:t>
            </a:r>
            <a:endParaRPr sz="1100" b="1" dirty="0">
              <a:solidFill>
                <a:schemeClr val="dk1"/>
              </a:solidFill>
            </a:endParaRPr>
          </a:p>
          <a:p>
            <a:pPr marL="171450" lvl="0" indent="-177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US" sz="1000" b="1" dirty="0" err="1">
                <a:solidFill>
                  <a:schemeClr val="dk1"/>
                </a:solidFill>
              </a:rPr>
              <a:t>{{dperc}}</a:t>
            </a:r>
            <a:r>
              <a:rPr lang="en-US" sz="1000" b="1" dirty="0">
                <a:solidFill>
                  <a:schemeClr val="dk1"/>
                </a:solidFill>
              </a:rPr>
              <a:t> des </a:t>
            </a:r>
            <a:r>
              <a:rPr lang="en-US" sz="1000" b="1" dirty="0" err="1">
                <a:solidFill>
                  <a:schemeClr val="dk1"/>
                </a:solidFill>
              </a:rPr>
              <a:t>besoins</a:t>
            </a:r>
            <a:r>
              <a:rPr lang="en-US" sz="1000" b="1" dirty="0">
                <a:solidFill>
                  <a:schemeClr val="dk1"/>
                </a:solidFill>
              </a:rPr>
              <a:t> = </a:t>
            </a:r>
            <a:r>
              <a:rPr lang="en-US" sz="1000" b="1" dirty="0" err="1">
                <a:solidFill>
                  <a:schemeClr val="dk1"/>
                </a:solidFill>
              </a:rPr>
              <a:t>démographie</a:t>
            </a:r>
            <a:r>
              <a:rPr lang="en-US" sz="1000" dirty="0">
                <a:solidFill>
                  <a:schemeClr val="dk1"/>
                </a:solidFill>
              </a:rPr>
              <a:t> : </a:t>
            </a:r>
            <a:r>
              <a:rPr lang="en-US" sz="1000" dirty="0" err="1">
                <a:solidFill>
                  <a:schemeClr val="dk1"/>
                </a:solidFill>
              </a:rPr>
              <a:t>c'est</a:t>
            </a:r>
            <a:r>
              <a:rPr lang="en-US" sz="1000" dirty="0">
                <a:solidFill>
                  <a:schemeClr val="dk1"/>
                </a:solidFill>
              </a:rPr>
              <a:t> le </a:t>
            </a:r>
            <a:r>
              <a:rPr lang="en-US" sz="1000" dirty="0" err="1">
                <a:solidFill>
                  <a:schemeClr val="dk1"/>
                </a:solidFill>
              </a:rPr>
              <a:t>moteur</a:t>
            </a:r>
            <a:r>
              <a:rPr lang="en-US" sz="1000" dirty="0">
                <a:solidFill>
                  <a:schemeClr val="dk1"/>
                </a:solidFill>
              </a:rPr>
              <a:t> principal</a:t>
            </a:r>
            <a:endParaRPr sz="1000" dirty="0">
              <a:solidFill>
                <a:schemeClr val="dk1"/>
              </a:solidFill>
            </a:endParaRPr>
          </a:p>
          <a:p>
            <a:pPr marL="171450" lvl="0" indent="-177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US" sz="1000" b="1" dirty="0" err="1">
                <a:solidFill>
                  <a:schemeClr val="dk1"/>
                </a:solidFill>
              </a:rPr>
              <a:t>Renouvellement</a:t>
            </a:r>
            <a:r>
              <a:rPr lang="en-US" sz="1000" b="1" dirty="0">
                <a:solidFill>
                  <a:schemeClr val="dk1"/>
                </a:solidFill>
              </a:rPr>
              <a:t> </a:t>
            </a:r>
            <a:r>
              <a:rPr lang="en-US" sz="1000" b="1" dirty="0" err="1">
                <a:solidFill>
                  <a:schemeClr val="dk1"/>
                </a:solidFill>
              </a:rPr>
              <a:t>urbain</a:t>
            </a:r>
            <a:r>
              <a:rPr lang="en-US" sz="1000" b="1" dirty="0">
                <a:solidFill>
                  <a:schemeClr val="dk1"/>
                </a:solidFill>
              </a:rPr>
              <a:t> </a:t>
            </a:r>
            <a:r>
              <a:rPr lang="en-US" sz="1000" b="1" dirty="0" err="1">
                <a:solidFill>
                  <a:schemeClr val="dk1"/>
                </a:solidFill>
              </a:rPr>
              <a:t>positif</a:t>
            </a:r>
            <a:r>
              <a:rPr lang="en-US" sz="1000" dirty="0">
                <a:solidFill>
                  <a:schemeClr val="dk1"/>
                </a:solidFill>
              </a:rPr>
              <a:t> : le parc se </a:t>
            </a:r>
            <a:r>
              <a:rPr lang="en-US" sz="1000" dirty="0" err="1">
                <a:solidFill>
                  <a:schemeClr val="dk1"/>
                </a:solidFill>
              </a:rPr>
              <a:t>densifie</a:t>
            </a:r>
            <a:r>
              <a:rPr lang="en-US" sz="1000" dirty="0">
                <a:solidFill>
                  <a:schemeClr val="dk1"/>
                </a:solidFill>
              </a:rPr>
              <a:t> </a:t>
            </a:r>
            <a:r>
              <a:rPr lang="en-US" sz="1000" dirty="0" err="1">
                <a:solidFill>
                  <a:schemeClr val="dk1"/>
                </a:solidFill>
              </a:rPr>
              <a:t>naturellement</a:t>
            </a:r>
            <a:endParaRPr sz="1000" dirty="0">
              <a:solidFill>
                <a:schemeClr val="dk1"/>
              </a:solidFill>
            </a:endParaRPr>
          </a:p>
          <a:p>
            <a:pPr marL="171450" lvl="0" indent="-177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US" sz="1000" b="1" dirty="0" err="1">
                <a:solidFill>
                  <a:schemeClr val="dk1"/>
                </a:solidFill>
              </a:rPr>
              <a:t>Vacance</a:t>
            </a:r>
            <a:r>
              <a:rPr lang="en-US" sz="1000" b="1" dirty="0">
                <a:solidFill>
                  <a:schemeClr val="dk1"/>
                </a:solidFill>
              </a:rPr>
              <a:t> </a:t>
            </a:r>
            <a:r>
              <a:rPr lang="en-US" sz="1000" b="1" dirty="0" err="1">
                <a:solidFill>
                  <a:schemeClr val="dk1"/>
                </a:solidFill>
              </a:rPr>
              <a:t>mobilisable</a:t>
            </a:r>
            <a:r>
              <a:rPr lang="en-US" sz="1000" dirty="0">
                <a:solidFill>
                  <a:schemeClr val="dk1"/>
                </a:solidFill>
              </a:rPr>
              <a:t> : </a:t>
            </a:r>
            <a:r>
              <a:rPr lang="en-US" sz="1000" dirty="0" err="1">
                <a:solidFill>
                  <a:schemeClr val="dk1"/>
                </a:solidFill>
              </a:rPr>
              <a:t>gisement</a:t>
            </a:r>
            <a:r>
              <a:rPr lang="en-US" sz="1000" dirty="0">
                <a:solidFill>
                  <a:schemeClr val="dk1"/>
                </a:solidFill>
              </a:rPr>
              <a:t> </a:t>
            </a:r>
            <a:r>
              <a:rPr lang="en-US" sz="1000" dirty="0" err="1">
                <a:solidFill>
                  <a:schemeClr val="dk1"/>
                </a:solidFill>
              </a:rPr>
              <a:t>limité</a:t>
            </a:r>
            <a:r>
              <a:rPr lang="en-US" sz="1000" dirty="0">
                <a:solidFill>
                  <a:schemeClr val="dk1"/>
                </a:solidFill>
              </a:rPr>
              <a:t> </a:t>
            </a:r>
            <a:r>
              <a:rPr lang="en-US" sz="1000" dirty="0" err="1">
                <a:solidFill>
                  <a:schemeClr val="dk1"/>
                </a:solidFill>
              </a:rPr>
              <a:t>mais</a:t>
            </a:r>
            <a:r>
              <a:rPr lang="en-US" sz="1000" dirty="0">
                <a:solidFill>
                  <a:schemeClr val="dk1"/>
                </a:solidFill>
              </a:rPr>
              <a:t> </a:t>
            </a:r>
            <a:r>
              <a:rPr lang="en-US" sz="1000" dirty="0" err="1">
                <a:solidFill>
                  <a:schemeClr val="dk1"/>
                </a:solidFill>
              </a:rPr>
              <a:t>réel</a:t>
            </a:r>
            <a:endParaRPr sz="1000" dirty="0">
              <a:solidFill>
                <a:schemeClr val="dk1"/>
              </a:solidFill>
            </a:endParaRPr>
          </a:p>
        </p:txBody>
      </p:sp>
      <p:sp>
        <p:nvSpPr>
          <p:cNvPr id="249" name="Google Shape;249;p31"/>
          <p:cNvSpPr/>
          <p:nvPr/>
        </p:nvSpPr>
        <p:spPr>
          <a:xfrm rot="-5400000">
            <a:off x="1632500" y="2371650"/>
            <a:ext cx="1578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000091"/>
                </a:solidFill>
                <a:latin typeface="Calibri"/>
                <a:ea typeface="Calibri"/>
                <a:cs typeface="Calibri"/>
                <a:sym typeface="Calibri"/>
              </a:rPr>
              <a:t>Besoin en logements supplémentaires</a:t>
            </a:r>
            <a:endParaRPr sz="1200" b="1">
              <a:solidFill>
                <a:srgbClr val="00009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31"/>
          <p:cNvSpPr/>
          <p:nvPr/>
        </p:nvSpPr>
        <p:spPr>
          <a:xfrm rot="-5400000">
            <a:off x="1808888" y="3773850"/>
            <a:ext cx="1225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000091"/>
                </a:solidFill>
                <a:latin typeface="Calibri"/>
                <a:ea typeface="Calibri"/>
                <a:cs typeface="Calibri"/>
                <a:sym typeface="Calibri"/>
              </a:rPr>
              <a:t>Optimisation du parc existant</a:t>
            </a:r>
            <a:endParaRPr sz="1200" b="1">
              <a:solidFill>
                <a:srgbClr val="00009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91;p14">
            <a:extLst>
              <a:ext uri="{FF2B5EF4-FFF2-40B4-BE49-F238E27FC236}">
                <a16:creationId xmlns:a16="http://schemas.microsoft.com/office/drawing/2014/main" id="{44F4D7C8-38AE-18D3-FDBD-1D3F57FE5F49}"/>
              </a:ext>
            </a:extLst>
          </p:cNvPr>
          <p:cNvSpPr txBox="1">
            <a:spLocks/>
          </p:cNvSpPr>
          <p:nvPr/>
        </p:nvSpPr>
        <p:spPr>
          <a:xfrm>
            <a:off x="355025" y="484524"/>
            <a:ext cx="1535700" cy="346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/>
            <a:r>
              <a:rPr lang="en-US" sz="1100" i="1"/>
              <a:t>EPCI {{layoutEpciName}} / BH {{layoutBassinName}}</a:t>
            </a:r>
            <a:endParaRPr lang="en-US" sz="1100" i="1" dirty="0"/>
          </a:p>
        </p:txBody>
      </p:sp>
      <p:sp>
        <p:nvSpPr>
          <p:cNvPr id="3" name="Google Shape;92;p14">
            <a:extLst>
              <a:ext uri="{FF2B5EF4-FFF2-40B4-BE49-F238E27FC236}">
                <a16:creationId xmlns:a16="http://schemas.microsoft.com/office/drawing/2014/main" id="{756038B3-CDFA-ADB2-1177-B275553DFB04}"/>
              </a:ext>
            </a:extLst>
          </p:cNvPr>
          <p:cNvSpPr txBox="1">
            <a:spLocks/>
          </p:cNvSpPr>
          <p:nvPr/>
        </p:nvSpPr>
        <p:spPr>
          <a:xfrm>
            <a:off x="355025" y="1017925"/>
            <a:ext cx="1535700" cy="733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/>
            <a:r>
              <a:rPr lang="en-US" sz="1100" dirty="0"/>
              <a:t>Estimation sur la </a:t>
            </a:r>
            <a:r>
              <a:rPr lang="en-US" sz="1100" dirty="0" err="1"/>
              <a:t>période</a:t>
            </a:r>
            <a:r>
              <a:rPr lang="en-US" sz="1100" dirty="0"/>
              <a:t> </a:t>
            </a:r>
            <a:r>
              <a:rPr lang="en-US" sz="1100" dirty="0" err="1"/>
              <a:t>{{layoutStart}}</a:t>
            </a:r>
            <a:r>
              <a:rPr lang="en-US" sz="1100" dirty="0"/>
              <a:t> – </a:t>
            </a:r>
            <a:r>
              <a:rPr lang="en-US" sz="1100" dirty="0" err="1"/>
              <a:t>{{layoutEnd}}</a:t>
            </a:r>
            <a:r>
              <a:rPr lang="en-US" sz="1100" dirty="0"/>
              <a:t> pour le </a:t>
            </a:r>
            <a:r>
              <a:rPr lang="en-US" sz="1100" dirty="0" err="1"/>
              <a:t>{{layoutDocumentType}}</a:t>
            </a:r>
            <a:endParaRPr lang="en-US" sz="1100" i="1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2"/>
          <p:cNvSpPr txBox="1"/>
          <p:nvPr/>
        </p:nvSpPr>
        <p:spPr>
          <a:xfrm>
            <a:off x="2600446" y="209550"/>
            <a:ext cx="6267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262626"/>
                </a:solidFill>
              </a:rPr>
              <a:t>Résorption du mal-logement</a:t>
            </a:r>
            <a:endParaRPr sz="1200" i="1">
              <a:solidFill>
                <a:srgbClr val="262626"/>
              </a:solidFill>
            </a:endParaRPr>
          </a:p>
        </p:txBody>
      </p:sp>
      <p:sp>
        <p:nvSpPr>
          <p:cNvPr id="258" name="Google Shape;258;p32"/>
          <p:cNvSpPr txBox="1"/>
          <p:nvPr/>
        </p:nvSpPr>
        <p:spPr>
          <a:xfrm>
            <a:off x="2600438" y="589159"/>
            <a:ext cx="626730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rial"/>
              <a:buNone/>
            </a:pPr>
            <a:r>
              <a:rPr lang="en-US" sz="2000" i="1" dirty="0">
                <a:solidFill>
                  <a:srgbClr val="262626"/>
                </a:solidFill>
              </a:rPr>
              <a:t>Objectif : </a:t>
            </a:r>
            <a:r>
              <a:rPr lang="en-US" sz="2000" i="1" dirty="0" err="1">
                <a:solidFill>
                  <a:srgbClr val="262626"/>
                </a:solidFill>
              </a:rPr>
              <a:t>{{nbSituations}}</a:t>
            </a:r>
            <a:r>
              <a:rPr lang="en-US" sz="2000" i="1" dirty="0">
                <a:solidFill>
                  <a:srgbClr val="262626"/>
                </a:solidFill>
              </a:rPr>
              <a:t> situations </a:t>
            </a:r>
            <a:r>
              <a:rPr lang="en-US" sz="2000" i="1" dirty="0" err="1">
                <a:solidFill>
                  <a:srgbClr val="262626"/>
                </a:solidFill>
              </a:rPr>
              <a:t>à</a:t>
            </a:r>
            <a:r>
              <a:rPr lang="en-US" sz="2000" i="1" dirty="0">
                <a:solidFill>
                  <a:srgbClr val="262626"/>
                </a:solidFill>
              </a:rPr>
              <a:t> </a:t>
            </a:r>
            <a:r>
              <a:rPr lang="en-US" sz="2000" i="1" dirty="0" err="1">
                <a:solidFill>
                  <a:srgbClr val="262626"/>
                </a:solidFill>
              </a:rPr>
              <a:t>régler</a:t>
            </a:r>
            <a:endParaRPr sz="800" i="1" dirty="0">
              <a:solidFill>
                <a:srgbClr val="262626"/>
              </a:solidFill>
            </a:endParaRPr>
          </a:p>
        </p:txBody>
      </p:sp>
      <p:graphicFrame>
        <p:nvGraphicFramePr>
          <p:cNvPr id="259" name="Google Shape;259;p32"/>
          <p:cNvGraphicFramePr/>
          <p:nvPr>
            <p:extLst>
              <p:ext uri="{D42A27DB-BD31-4B8C-83A1-F6EECF244321}">
                <p14:modId xmlns:p14="http://schemas.microsoft.com/office/powerpoint/2010/main" val="2576935817"/>
              </p:ext>
            </p:extLst>
          </p:nvPr>
        </p:nvGraphicFramePr>
        <p:xfrm>
          <a:off x="2633713" y="1214913"/>
          <a:ext cx="6267275" cy="2530900"/>
        </p:xfrm>
        <a:graphic>
          <a:graphicData uri="http://schemas.openxmlformats.org/drawingml/2006/table">
            <a:tbl>
              <a:tblPr>
                <a:noFill/>
                <a:tableStyleId>{8782ED91-6AAA-4FC9-A8D7-22FAF3BB82A8}</a:tableStyleId>
              </a:tblPr>
              <a:tblGrid>
                <a:gridCol w="2722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7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7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4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2"/>
                          </a:solidFill>
                        </a:rPr>
                        <a:t>Situation</a:t>
                      </a:r>
                      <a:endParaRPr sz="1200" b="1">
                        <a:solidFill>
                          <a:schemeClr val="dk2"/>
                        </a:solidFill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2"/>
                          </a:solidFill>
                        </a:rPr>
                        <a:t>Ménages concernés</a:t>
                      </a:r>
                      <a:endParaRPr sz="1200" b="1">
                        <a:solidFill>
                          <a:schemeClr val="dk2"/>
                        </a:solidFill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2"/>
                          </a:solidFill>
                        </a:rPr>
                        <a:t>% du total</a:t>
                      </a:r>
                      <a:endParaRPr sz="1200" b="1">
                        <a:solidFill>
                          <a:schemeClr val="dk2"/>
                        </a:solidFill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74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🏠 Hébergés</a:t>
                      </a:r>
                      <a:endParaRPr sz="1200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 err="1"/>
                        <a:t>{{nbHosted}}</a:t>
                      </a:r>
                      <a:endParaRPr sz="1200" dirty="0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 err="1"/>
                        <a:t>{{percentHosted}}</a:t>
                      </a:r>
                      <a:endParaRPr sz="1200" dirty="0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4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🚫 Hors logement</a:t>
                      </a:r>
                      <a:endParaRPr sz="1200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 err="1"/>
                        <a:t>{{nbNoAccommodation}}</a:t>
                      </a: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 err="1"/>
                        <a:t>{{percentNoAcc}}</a:t>
                      </a: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74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/>
                        <a:t>💰 </a:t>
                      </a:r>
                      <a:r>
                        <a:rPr lang="en-US" sz="1200" dirty="0" err="1"/>
                        <a:t>Inadéquation</a:t>
                      </a:r>
                      <a:r>
                        <a:rPr lang="en-US" sz="1200" dirty="0"/>
                        <a:t> financière</a:t>
                      </a:r>
                      <a:endParaRPr sz="1200" dirty="0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 err="1"/>
                        <a:t>{{nbFinancialInadequation}}</a:t>
                      </a: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 err="1"/>
                        <a:t>{{percentFI}}</a:t>
                      </a: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4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🔧 Inadéquation physique</a:t>
                      </a:r>
                      <a:endParaRPr sz="1200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 err="1"/>
                        <a:t>{{nbPhysicalInadequation}}</a:t>
                      </a: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 err="1"/>
                        <a:t>{{percentPI}}</a:t>
                      </a: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4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/>
                        <a:t>⚠️ </a:t>
                      </a:r>
                      <a:r>
                        <a:rPr lang="en-US" sz="1200" dirty="0" err="1"/>
                        <a:t>Mauvaise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qualité</a:t>
                      </a:r>
                      <a:endParaRPr sz="1200" dirty="0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 err="1"/>
                        <a:t>{{nbBadQuality}}</a:t>
                      </a: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 err="1"/>
                        <a:t>{{percentBadQ}}</a:t>
                      </a: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60" name="Google Shape;260;p32"/>
          <p:cNvSpPr txBox="1"/>
          <p:nvPr/>
        </p:nvSpPr>
        <p:spPr>
          <a:xfrm>
            <a:off x="2600438" y="3870449"/>
            <a:ext cx="6267300" cy="122764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chemeClr val="dk1"/>
                </a:solidFill>
              </a:rPr>
              <a:t>🎯 </a:t>
            </a:r>
            <a:r>
              <a:rPr lang="en-US" sz="1100" b="1" dirty="0" err="1">
                <a:solidFill>
                  <a:schemeClr val="dk1"/>
                </a:solidFill>
              </a:rPr>
              <a:t>Stratégie</a:t>
            </a:r>
            <a:r>
              <a:rPr lang="en-US" sz="1100" b="1" dirty="0">
                <a:solidFill>
                  <a:schemeClr val="dk1"/>
                </a:solidFill>
              </a:rPr>
              <a:t> de </a:t>
            </a:r>
            <a:r>
              <a:rPr lang="en-US" sz="1100" b="1" dirty="0" err="1">
                <a:solidFill>
                  <a:schemeClr val="dk1"/>
                </a:solidFill>
              </a:rPr>
              <a:t>résorption</a:t>
            </a:r>
            <a:endParaRPr sz="1100" b="1" dirty="0">
              <a:solidFill>
                <a:schemeClr val="dk1"/>
              </a:solidFill>
            </a:endParaRPr>
          </a:p>
          <a:p>
            <a:pPr marL="228600" lvl="0" indent="-184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 dirty="0">
                <a:solidFill>
                  <a:schemeClr val="dk1"/>
                </a:solidFill>
              </a:rPr>
              <a:t>Objectif</a:t>
            </a:r>
            <a:r>
              <a:rPr lang="en-US" sz="1100" dirty="0">
                <a:solidFill>
                  <a:schemeClr val="dk1"/>
                </a:solidFill>
              </a:rPr>
              <a:t> : </a:t>
            </a:r>
            <a:r>
              <a:rPr lang="en-US" sz="1100" dirty="0" err="1">
                <a:solidFill>
                  <a:schemeClr val="dk1"/>
                </a:solidFill>
              </a:rPr>
              <a:t>résorption</a:t>
            </a:r>
            <a:r>
              <a:rPr lang="en-US" sz="1100" dirty="0">
                <a:solidFill>
                  <a:schemeClr val="dk1"/>
                </a:solidFill>
              </a:rPr>
              <a:t> </a:t>
            </a:r>
            <a:r>
              <a:rPr lang="en-US" sz="1100" dirty="0" err="1">
                <a:solidFill>
                  <a:schemeClr val="dk1"/>
                </a:solidFill>
              </a:rPr>
              <a:t>complète</a:t>
            </a:r>
            <a:r>
              <a:rPr lang="en-US" sz="1100" dirty="0">
                <a:solidFill>
                  <a:schemeClr val="dk1"/>
                </a:solidFill>
              </a:rPr>
              <a:t> </a:t>
            </a:r>
            <a:r>
              <a:rPr lang="en-US" sz="1100" dirty="0" err="1">
                <a:solidFill>
                  <a:schemeClr val="dk1"/>
                </a:solidFill>
              </a:rPr>
              <a:t>d'ici</a:t>
            </a:r>
            <a:r>
              <a:rPr lang="en-US" sz="1100" b="1" dirty="0" err="1">
                <a:solidFill>
                  <a:schemeClr val="dk1"/>
                </a:solidFill>
              </a:rPr>
              <a:t> {{resorbYear}}</a:t>
            </a:r>
            <a:endParaRPr sz="1100" b="1" dirty="0">
              <a:solidFill>
                <a:schemeClr val="dk1"/>
              </a:solidFill>
            </a:endParaRPr>
          </a:p>
          <a:p>
            <a:pPr marL="228600" lvl="0" indent="-184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 dirty="0">
                <a:solidFill>
                  <a:schemeClr val="dk1"/>
                </a:solidFill>
              </a:rPr>
              <a:t>Publics </a:t>
            </a:r>
            <a:r>
              <a:rPr lang="en-US" sz="1100" b="1" dirty="0" err="1">
                <a:solidFill>
                  <a:schemeClr val="dk1"/>
                </a:solidFill>
              </a:rPr>
              <a:t>prioritaires</a:t>
            </a:r>
            <a:r>
              <a:rPr lang="en-US" sz="1100" b="1" dirty="0">
                <a:solidFill>
                  <a:schemeClr val="dk1"/>
                </a:solidFill>
              </a:rPr>
              <a:t> </a:t>
            </a:r>
            <a:r>
              <a:rPr lang="en-US" sz="1100" dirty="0">
                <a:solidFill>
                  <a:schemeClr val="dk1"/>
                </a:solidFill>
              </a:rPr>
              <a:t>: </a:t>
            </a:r>
            <a:r>
              <a:rPr lang="en-US" sz="1100" dirty="0" err="1">
                <a:solidFill>
                  <a:schemeClr val="dk1"/>
                </a:solidFill>
              </a:rPr>
              <a:t>personnes</a:t>
            </a:r>
            <a:r>
              <a:rPr lang="en-US" sz="1100" dirty="0">
                <a:solidFill>
                  <a:schemeClr val="dk1"/>
                </a:solidFill>
              </a:rPr>
              <a:t> </a:t>
            </a:r>
            <a:r>
              <a:rPr lang="en-US" sz="1100" dirty="0" err="1">
                <a:solidFill>
                  <a:schemeClr val="dk1"/>
                </a:solidFill>
              </a:rPr>
              <a:t>hébergées</a:t>
            </a:r>
            <a:r>
              <a:rPr lang="en-US" sz="1100" dirty="0">
                <a:solidFill>
                  <a:schemeClr val="dk1"/>
                </a:solidFill>
              </a:rPr>
              <a:t> (tiers, </a:t>
            </a:r>
            <a:r>
              <a:rPr lang="en-US" sz="1100" dirty="0" err="1">
                <a:solidFill>
                  <a:schemeClr val="dk1"/>
                </a:solidFill>
              </a:rPr>
              <a:t>famille</a:t>
            </a:r>
            <a:r>
              <a:rPr lang="en-US" sz="1100" dirty="0">
                <a:solidFill>
                  <a:schemeClr val="dk1"/>
                </a:solidFill>
              </a:rPr>
              <a:t>) et sans </a:t>
            </a:r>
            <a:r>
              <a:rPr lang="en-US" sz="1100" dirty="0" err="1">
                <a:solidFill>
                  <a:schemeClr val="dk1"/>
                </a:solidFill>
              </a:rPr>
              <a:t>logement</a:t>
            </a:r>
            <a:endParaRPr lang="en-US" sz="1100" dirty="0">
              <a:solidFill>
                <a:schemeClr val="dk1"/>
              </a:solidFill>
            </a:endParaRPr>
          </a:p>
        </p:txBody>
      </p:sp>
      <p:sp>
        <p:nvSpPr>
          <p:cNvPr id="4" name="Google Shape;91;p14">
            <a:extLst>
              <a:ext uri="{FF2B5EF4-FFF2-40B4-BE49-F238E27FC236}">
                <a16:creationId xmlns:a16="http://schemas.microsoft.com/office/drawing/2014/main" id="{F74E27FA-3884-9AF9-4EB5-CE1330A51D18}"/>
              </a:ext>
            </a:extLst>
          </p:cNvPr>
          <p:cNvSpPr txBox="1">
            <a:spLocks/>
          </p:cNvSpPr>
          <p:nvPr/>
        </p:nvSpPr>
        <p:spPr>
          <a:xfrm>
            <a:off x="355025" y="484524"/>
            <a:ext cx="1535700" cy="346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/>
            <a:r>
              <a:rPr lang="en-US" sz="1100" i="1"/>
              <a:t>EPCI {{layoutEpciName}} / BH {{layoutBassinName}}</a:t>
            </a:r>
            <a:endParaRPr lang="en-US" sz="1100" i="1" dirty="0"/>
          </a:p>
        </p:txBody>
      </p:sp>
      <p:sp>
        <p:nvSpPr>
          <p:cNvPr id="5" name="Google Shape;92;p14">
            <a:extLst>
              <a:ext uri="{FF2B5EF4-FFF2-40B4-BE49-F238E27FC236}">
                <a16:creationId xmlns:a16="http://schemas.microsoft.com/office/drawing/2014/main" id="{03F9F405-CE2A-A9C4-0EEB-1499F5F332F8}"/>
              </a:ext>
            </a:extLst>
          </p:cNvPr>
          <p:cNvSpPr txBox="1">
            <a:spLocks/>
          </p:cNvSpPr>
          <p:nvPr/>
        </p:nvSpPr>
        <p:spPr>
          <a:xfrm>
            <a:off x="355025" y="1017925"/>
            <a:ext cx="1535700" cy="733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/>
            <a:r>
              <a:rPr lang="en-US" sz="1100" dirty="0"/>
              <a:t>Estimation sur la </a:t>
            </a:r>
            <a:r>
              <a:rPr lang="en-US" sz="1100" dirty="0" err="1"/>
              <a:t>période</a:t>
            </a:r>
            <a:r>
              <a:rPr lang="en-US" sz="1100" dirty="0"/>
              <a:t> </a:t>
            </a:r>
            <a:r>
              <a:rPr lang="en-US" sz="1100" dirty="0" err="1"/>
              <a:t>{{layoutStart}}</a:t>
            </a:r>
            <a:r>
              <a:rPr lang="en-US" sz="1100" dirty="0"/>
              <a:t> – </a:t>
            </a:r>
            <a:r>
              <a:rPr lang="en-US" sz="1100" dirty="0" err="1"/>
              <a:t>{{layoutEnd}}</a:t>
            </a:r>
            <a:r>
              <a:rPr lang="en-US" sz="1100" dirty="0"/>
              <a:t> pour le </a:t>
            </a:r>
            <a:r>
              <a:rPr lang="en-US" sz="1100" dirty="0" err="1"/>
              <a:t>{{layoutDocumentType}}</a:t>
            </a:r>
            <a:endParaRPr lang="en-US" sz="1100" i="1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3"/>
          <p:cNvSpPr txBox="1"/>
          <p:nvPr/>
        </p:nvSpPr>
        <p:spPr>
          <a:xfrm>
            <a:off x="2600446" y="209550"/>
            <a:ext cx="6267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262626"/>
                </a:solidFill>
              </a:rPr>
              <a:t>Mobilisation des logements vacants</a:t>
            </a:r>
            <a:endParaRPr sz="1200" i="1">
              <a:solidFill>
                <a:srgbClr val="262626"/>
              </a:solidFill>
            </a:endParaRPr>
          </a:p>
        </p:txBody>
      </p:sp>
      <p:sp>
        <p:nvSpPr>
          <p:cNvPr id="269" name="Google Shape;269;p33"/>
          <p:cNvSpPr txBox="1"/>
          <p:nvPr/>
        </p:nvSpPr>
        <p:spPr>
          <a:xfrm flipH="1">
            <a:off x="2600450" y="3973650"/>
            <a:ext cx="6171600" cy="1110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chemeClr val="dk1"/>
                </a:solidFill>
              </a:rPr>
              <a:t>Pour </a:t>
            </a:r>
            <a:r>
              <a:rPr lang="en-US" sz="1100" b="1" dirty="0" err="1">
                <a:solidFill>
                  <a:schemeClr val="dk1"/>
                </a:solidFill>
              </a:rPr>
              <a:t>aller</a:t>
            </a:r>
            <a:r>
              <a:rPr lang="en-US" sz="1100" b="1" dirty="0">
                <a:solidFill>
                  <a:schemeClr val="dk1"/>
                </a:solidFill>
              </a:rPr>
              <a:t> plus loin : </a:t>
            </a:r>
            <a:r>
              <a:rPr lang="en-US" sz="1100" b="1" u="sng" dirty="0">
                <a:solidFill>
                  <a:schemeClr val="hlink"/>
                </a:solidFill>
                <a:hlinkClick r:id="rId3"/>
              </a:rPr>
              <a:t>ZéroLogementVacant</a:t>
            </a:r>
            <a:endParaRPr sz="11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chemeClr val="dk1"/>
                </a:solidFill>
              </a:rPr>
              <a:t>La </a:t>
            </a:r>
            <a:r>
              <a:rPr lang="en-US" sz="1100" dirty="0" err="1">
                <a:solidFill>
                  <a:schemeClr val="dk1"/>
                </a:solidFill>
              </a:rPr>
              <a:t>plateforme</a:t>
            </a:r>
            <a:r>
              <a:rPr lang="en-US" sz="1100" dirty="0">
                <a:solidFill>
                  <a:schemeClr val="dk1"/>
                </a:solidFill>
              </a:rPr>
              <a:t> </a:t>
            </a:r>
            <a:r>
              <a:rPr lang="en-US" sz="1100" dirty="0" err="1">
                <a:solidFill>
                  <a:schemeClr val="dk1"/>
                </a:solidFill>
              </a:rPr>
              <a:t>permet</a:t>
            </a:r>
            <a:r>
              <a:rPr lang="en-US" sz="1100" dirty="0">
                <a:solidFill>
                  <a:schemeClr val="dk1"/>
                </a:solidFill>
              </a:rPr>
              <a:t> aux </a:t>
            </a:r>
            <a:r>
              <a:rPr lang="en-US" sz="1100" dirty="0" err="1">
                <a:solidFill>
                  <a:schemeClr val="dk1"/>
                </a:solidFill>
              </a:rPr>
              <a:t>collectivités</a:t>
            </a:r>
            <a:r>
              <a:rPr lang="en-US" sz="1100" dirty="0">
                <a:solidFill>
                  <a:schemeClr val="dk1"/>
                </a:solidFill>
              </a:rPr>
              <a:t> de </a:t>
            </a:r>
            <a:r>
              <a:rPr lang="en-US" sz="1100" dirty="0" err="1">
                <a:solidFill>
                  <a:schemeClr val="dk1"/>
                </a:solidFill>
              </a:rPr>
              <a:t>repérer</a:t>
            </a:r>
            <a:r>
              <a:rPr lang="en-US" sz="1100" dirty="0">
                <a:solidFill>
                  <a:schemeClr val="dk1"/>
                </a:solidFill>
              </a:rPr>
              <a:t> les </a:t>
            </a:r>
            <a:r>
              <a:rPr lang="en-US" sz="1100" dirty="0" err="1">
                <a:solidFill>
                  <a:schemeClr val="dk1"/>
                </a:solidFill>
              </a:rPr>
              <a:t>logements</a:t>
            </a:r>
            <a:r>
              <a:rPr lang="en-US" sz="1100" dirty="0">
                <a:solidFill>
                  <a:schemeClr val="dk1"/>
                </a:solidFill>
              </a:rPr>
              <a:t> </a:t>
            </a:r>
            <a:r>
              <a:rPr lang="en-US" sz="1100" dirty="0" err="1">
                <a:solidFill>
                  <a:schemeClr val="dk1"/>
                </a:solidFill>
              </a:rPr>
              <a:t>vacants</a:t>
            </a:r>
            <a:r>
              <a:rPr lang="en-US" sz="1100" dirty="0">
                <a:solidFill>
                  <a:schemeClr val="dk1"/>
                </a:solidFill>
              </a:rPr>
              <a:t> </a:t>
            </a:r>
            <a:r>
              <a:rPr lang="en-US" sz="1100" dirty="0" err="1">
                <a:solidFill>
                  <a:schemeClr val="dk1"/>
                </a:solidFill>
              </a:rPr>
              <a:t>actuels</a:t>
            </a:r>
            <a:r>
              <a:rPr lang="en-US" sz="1100" dirty="0">
                <a:solidFill>
                  <a:schemeClr val="dk1"/>
                </a:solidFill>
              </a:rPr>
              <a:t> et </a:t>
            </a:r>
            <a:r>
              <a:rPr lang="en-US" sz="1100" dirty="0" err="1">
                <a:solidFill>
                  <a:schemeClr val="dk1"/>
                </a:solidFill>
              </a:rPr>
              <a:t>potentiels</a:t>
            </a:r>
            <a:r>
              <a:rPr lang="en-US" sz="1100" dirty="0">
                <a:solidFill>
                  <a:schemeClr val="dk1"/>
                </a:solidFill>
              </a:rPr>
              <a:t> et </a:t>
            </a:r>
            <a:r>
              <a:rPr lang="en-US" sz="1100" dirty="0" err="1">
                <a:solidFill>
                  <a:schemeClr val="dk1"/>
                </a:solidFill>
              </a:rPr>
              <a:t>d'accompagner</a:t>
            </a:r>
            <a:r>
              <a:rPr lang="en-US" sz="1100" dirty="0">
                <a:solidFill>
                  <a:schemeClr val="dk1"/>
                </a:solidFill>
              </a:rPr>
              <a:t> </a:t>
            </a:r>
            <a:r>
              <a:rPr lang="en-US" sz="1100" dirty="0" err="1">
                <a:solidFill>
                  <a:schemeClr val="dk1"/>
                </a:solidFill>
              </a:rPr>
              <a:t>leurs</a:t>
            </a:r>
            <a:r>
              <a:rPr lang="en-US" sz="1100" dirty="0">
                <a:solidFill>
                  <a:schemeClr val="dk1"/>
                </a:solidFill>
              </a:rPr>
              <a:t> propriétaires dans la sortie de la </a:t>
            </a:r>
            <a:r>
              <a:rPr lang="en-US" sz="1100" dirty="0" err="1">
                <a:solidFill>
                  <a:schemeClr val="dk1"/>
                </a:solidFill>
              </a:rPr>
              <a:t>vacance</a:t>
            </a:r>
            <a:r>
              <a:rPr lang="en-US" sz="1100" dirty="0">
                <a:solidFill>
                  <a:schemeClr val="dk1"/>
                </a:solidFill>
              </a:rPr>
              <a:t> </a:t>
            </a:r>
            <a:r>
              <a:rPr lang="en-US" sz="1100" dirty="0" err="1">
                <a:solidFill>
                  <a:schemeClr val="dk1"/>
                </a:solidFill>
              </a:rPr>
              <a:t>ou</a:t>
            </a:r>
            <a:r>
              <a:rPr lang="en-US" sz="1100" dirty="0">
                <a:solidFill>
                  <a:schemeClr val="dk1"/>
                </a:solidFill>
              </a:rPr>
              <a:t> la </a:t>
            </a:r>
            <a:r>
              <a:rPr lang="en-US" sz="1100" dirty="0" err="1">
                <a:solidFill>
                  <a:schemeClr val="dk1"/>
                </a:solidFill>
              </a:rPr>
              <a:t>rénovation</a:t>
            </a:r>
            <a:r>
              <a:rPr lang="en-US" sz="1100" dirty="0">
                <a:solidFill>
                  <a:schemeClr val="dk1"/>
                </a:solidFill>
              </a:rPr>
              <a:t> de </a:t>
            </a:r>
            <a:r>
              <a:rPr lang="en-US" sz="1100" dirty="0" err="1">
                <a:solidFill>
                  <a:schemeClr val="dk1"/>
                </a:solidFill>
              </a:rPr>
              <a:t>leurs</a:t>
            </a:r>
            <a:r>
              <a:rPr lang="en-US" sz="1100" dirty="0">
                <a:solidFill>
                  <a:schemeClr val="dk1"/>
                </a:solidFill>
              </a:rPr>
              <a:t> </a:t>
            </a:r>
            <a:r>
              <a:rPr lang="en-US" sz="1100" dirty="0" err="1">
                <a:solidFill>
                  <a:schemeClr val="dk1"/>
                </a:solidFill>
              </a:rPr>
              <a:t>logements</a:t>
            </a:r>
            <a:r>
              <a:rPr lang="en-US" sz="1100" dirty="0">
                <a:solidFill>
                  <a:schemeClr val="dk1"/>
                </a:solidFill>
              </a:rPr>
              <a:t> via de </a:t>
            </a:r>
            <a:r>
              <a:rPr lang="en-US" sz="1100" dirty="0" err="1">
                <a:solidFill>
                  <a:schemeClr val="dk1"/>
                </a:solidFill>
              </a:rPr>
              <a:t>nombreuses</a:t>
            </a:r>
            <a:r>
              <a:rPr lang="en-US" sz="1100" dirty="0">
                <a:solidFill>
                  <a:schemeClr val="dk1"/>
                </a:solidFill>
              </a:rPr>
              <a:t> </a:t>
            </a:r>
            <a:r>
              <a:rPr lang="en-US" sz="1100" dirty="0" err="1">
                <a:solidFill>
                  <a:schemeClr val="dk1"/>
                </a:solidFill>
              </a:rPr>
              <a:t>ressources</a:t>
            </a:r>
            <a:r>
              <a:rPr lang="en-US" sz="1100" dirty="0">
                <a:solidFill>
                  <a:schemeClr val="dk1"/>
                </a:solidFill>
              </a:rPr>
              <a:t> et </a:t>
            </a:r>
            <a:r>
              <a:rPr lang="en-US" sz="1100" dirty="0" err="1">
                <a:solidFill>
                  <a:schemeClr val="dk1"/>
                </a:solidFill>
              </a:rPr>
              <a:t>fonctionnalités</a:t>
            </a:r>
            <a:r>
              <a:rPr lang="en-US" sz="1100" dirty="0">
                <a:solidFill>
                  <a:schemeClr val="dk1"/>
                </a:solidFill>
              </a:rPr>
              <a:t>.</a:t>
            </a:r>
            <a:endParaRPr sz="11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100" dirty="0">
              <a:solidFill>
                <a:schemeClr val="dk1"/>
              </a:solidFill>
            </a:endParaRPr>
          </a:p>
        </p:txBody>
      </p:sp>
      <p:sp>
        <p:nvSpPr>
          <p:cNvPr id="2" name="Google Shape;91;p14">
            <a:extLst>
              <a:ext uri="{FF2B5EF4-FFF2-40B4-BE49-F238E27FC236}">
                <a16:creationId xmlns:a16="http://schemas.microsoft.com/office/drawing/2014/main" id="{D3A3D5ED-DC9C-5E63-9EB1-FE944CCEFB23}"/>
              </a:ext>
            </a:extLst>
          </p:cNvPr>
          <p:cNvSpPr txBox="1">
            <a:spLocks/>
          </p:cNvSpPr>
          <p:nvPr/>
        </p:nvSpPr>
        <p:spPr>
          <a:xfrm>
            <a:off x="355025" y="484524"/>
            <a:ext cx="1535700" cy="346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/>
            <a:r>
              <a:rPr lang="en-US" sz="1100" i="1"/>
              <a:t>EPCI {{layoutEpciName}} / BH {{layoutBassinName}}</a:t>
            </a:r>
            <a:endParaRPr lang="en-US" sz="1100" i="1" dirty="0"/>
          </a:p>
        </p:txBody>
      </p:sp>
      <p:sp>
        <p:nvSpPr>
          <p:cNvPr id="3" name="Google Shape;92;p14">
            <a:extLst>
              <a:ext uri="{FF2B5EF4-FFF2-40B4-BE49-F238E27FC236}">
                <a16:creationId xmlns:a16="http://schemas.microsoft.com/office/drawing/2014/main" id="{A0BEA2D8-DE5C-EB54-5E9F-94CEC846B55B}"/>
              </a:ext>
            </a:extLst>
          </p:cNvPr>
          <p:cNvSpPr txBox="1">
            <a:spLocks/>
          </p:cNvSpPr>
          <p:nvPr/>
        </p:nvSpPr>
        <p:spPr>
          <a:xfrm>
            <a:off x="355025" y="1017925"/>
            <a:ext cx="1535700" cy="733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/>
            <a:r>
              <a:rPr lang="en-US" sz="1100"/>
              <a:t>Estimation sur la période {{layoutStart}} – {{layoutEnd}} pour le {{layoutDocumentType}}</a:t>
            </a:r>
            <a:endParaRPr lang="en-US" sz="1100" i="1" dirty="0"/>
          </a:p>
        </p:txBody>
      </p:sp>
      <p:pic>
        <p:nvPicPr>
          <p:cNvPr id="4" name="Google Shape;237;p30">
            <a:extLst>
              <a:ext uri="{FF2B5EF4-FFF2-40B4-BE49-F238E27FC236}">
                <a16:creationId xmlns:a16="http://schemas.microsoft.com/office/drawing/2014/main" id="{59FA0B4B-D891-69BD-88AD-4B13D94D742E}"/>
              </a:ext>
            </a:extLst>
          </p:cNvPr>
          <p:cNvPicPr preferRelativeResize="0">
            <a:picLocks/>
          </p:cNvPicPr>
          <p:nvPr/>
        </p:nvPicPr>
        <p:blipFill>
          <a:blip r:embed="rId4"/>
          <a:srcRect t="10874" b="10874"/>
          <a:stretch/>
        </p:blipFill>
        <p:spPr>
          <a:xfrm>
            <a:off x="2600446" y="657698"/>
            <a:ext cx="6171600" cy="322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4"/>
          <p:cNvSpPr txBox="1"/>
          <p:nvPr/>
        </p:nvSpPr>
        <p:spPr>
          <a:xfrm>
            <a:off x="2600446" y="209550"/>
            <a:ext cx="62673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262626"/>
                </a:solidFill>
              </a:rPr>
              <a:t>Indicateurs : évolution de la population et de la composition des ménages</a:t>
            </a:r>
            <a:endParaRPr sz="2400" b="1">
              <a:solidFill>
                <a:srgbClr val="262626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rial"/>
              <a:buNone/>
            </a:pPr>
            <a:endParaRPr sz="1200" i="1">
              <a:solidFill>
                <a:srgbClr val="262626"/>
              </a:solidFill>
            </a:endParaRPr>
          </a:p>
        </p:txBody>
      </p:sp>
      <p:sp>
        <p:nvSpPr>
          <p:cNvPr id="277" name="Google Shape;277;p34"/>
          <p:cNvSpPr txBox="1"/>
          <p:nvPr/>
        </p:nvSpPr>
        <p:spPr>
          <a:xfrm>
            <a:off x="2600450" y="1723825"/>
            <a:ext cx="2224200" cy="3079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2"/>
                </a:solidFill>
              </a:rPr>
              <a:t>📉 Évolution continue de la population</a:t>
            </a:r>
            <a:endParaRPr sz="1200" b="1">
              <a:solidFill>
                <a:schemeClr val="dk2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>
                <a:solidFill>
                  <a:schemeClr val="dk1"/>
                </a:solidFill>
              </a:rPr>
              <a:t>2021</a:t>
            </a:r>
            <a:r>
              <a:rPr lang="en-US" sz="1100">
                <a:solidFill>
                  <a:schemeClr val="dk1"/>
                </a:solidFill>
              </a:rPr>
              <a:t> : xxx personnes/ménage</a:t>
            </a:r>
            <a:br>
              <a:rPr lang="en-US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>
                <a:solidFill>
                  <a:schemeClr val="dk1"/>
                </a:solidFill>
              </a:rPr>
              <a:t>2028</a:t>
            </a:r>
            <a:r>
              <a:rPr lang="en-US" sz="1100">
                <a:solidFill>
                  <a:schemeClr val="dk1"/>
                </a:solidFill>
              </a:rPr>
              <a:t> : xxx  personnes/ménage</a:t>
            </a:r>
            <a:br>
              <a:rPr lang="en-US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>
                <a:solidFill>
                  <a:schemeClr val="dk1"/>
                </a:solidFill>
              </a:rPr>
              <a:t>2034</a:t>
            </a:r>
            <a:r>
              <a:rPr lang="en-US" sz="1100">
                <a:solidFill>
                  <a:schemeClr val="dk1"/>
                </a:solidFill>
              </a:rPr>
              <a:t> : xxx  personnes/ménage</a:t>
            </a:r>
            <a:br>
              <a:rPr lang="en-US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>
                <a:solidFill>
                  <a:schemeClr val="dk1"/>
                </a:solidFill>
              </a:rPr>
              <a:t>2040</a:t>
            </a:r>
            <a:r>
              <a:rPr lang="en-US" sz="1100">
                <a:solidFill>
                  <a:schemeClr val="dk1"/>
                </a:solidFill>
              </a:rPr>
              <a:t> : xxx personnes/ménage</a:t>
            </a:r>
            <a:endParaRPr sz="1100" b="1">
              <a:solidFill>
                <a:schemeClr val="dk2"/>
              </a:solidFill>
            </a:endParaRPr>
          </a:p>
        </p:txBody>
      </p:sp>
      <p:sp>
        <p:nvSpPr>
          <p:cNvPr id="278" name="Google Shape;278;p34"/>
          <p:cNvSpPr txBox="1"/>
          <p:nvPr/>
        </p:nvSpPr>
        <p:spPr>
          <a:xfrm>
            <a:off x="5235450" y="1723825"/>
            <a:ext cx="3313500" cy="3079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2"/>
                </a:solidFill>
              </a:rPr>
              <a:t>📈 Deux typologies en forte croissance</a:t>
            </a:r>
            <a:endParaRPr sz="1200" b="1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dk1"/>
                </a:solidFill>
              </a:rPr>
              <a:t>👤 Personnes seules : +30% d'ici 2040</a:t>
            </a:r>
            <a:endParaRPr sz="1100" b="1">
              <a:solidFill>
                <a:schemeClr val="dk1"/>
              </a:solidFill>
            </a:endParaRPr>
          </a:p>
          <a:p>
            <a:pPr marL="228600" lvl="0" indent="-184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>
                <a:solidFill>
                  <a:schemeClr val="dk1"/>
                </a:solidFill>
              </a:rPr>
              <a:t>2021-2040</a:t>
            </a:r>
            <a:r>
              <a:rPr lang="en-US" sz="1100">
                <a:solidFill>
                  <a:schemeClr val="dk1"/>
                </a:solidFill>
              </a:rPr>
              <a:t> : xxx → xxx ménages</a:t>
            </a:r>
            <a:endParaRPr sz="1100">
              <a:solidFill>
                <a:schemeClr val="dk1"/>
              </a:solidFill>
            </a:endParaRPr>
          </a:p>
          <a:p>
            <a:pPr marL="228600" lvl="0" indent="-184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 i="1">
                <a:solidFill>
                  <a:schemeClr val="dk1"/>
                </a:solidFill>
              </a:rPr>
              <a:t>doc </a:t>
            </a:r>
            <a:r>
              <a:rPr lang="en-US" sz="1100" b="1">
                <a:solidFill>
                  <a:schemeClr val="dk1"/>
                </a:solidFill>
              </a:rPr>
              <a:t>2028-2034</a:t>
            </a:r>
            <a:r>
              <a:rPr lang="en-US" sz="1100">
                <a:solidFill>
                  <a:schemeClr val="dk1"/>
                </a:solidFill>
              </a:rPr>
              <a:t> : xxx → xxx </a:t>
            </a:r>
            <a:r>
              <a:rPr lang="en-US" sz="1100" i="1">
                <a:solidFill>
                  <a:schemeClr val="dk1"/>
                </a:solidFill>
              </a:rPr>
              <a:t>(+X%)</a:t>
            </a:r>
            <a:br>
              <a:rPr lang="en-US" sz="1100" i="1">
                <a:solidFill>
                  <a:schemeClr val="dk1"/>
                </a:solidFill>
              </a:rPr>
            </a:br>
            <a:br>
              <a:rPr lang="en-US" sz="1100" i="1">
                <a:solidFill>
                  <a:schemeClr val="dk1"/>
                </a:solidFill>
              </a:rPr>
            </a:br>
            <a:r>
              <a:rPr lang="en-US" sz="1100" i="1">
                <a:solidFill>
                  <a:schemeClr val="dk1"/>
                </a:solidFill>
              </a:rPr>
              <a:t>→ </a:t>
            </a:r>
            <a:r>
              <a:rPr lang="en-US" sz="1100" b="1">
                <a:solidFill>
                  <a:schemeClr val="dk1"/>
                </a:solidFill>
              </a:rPr>
              <a:t>Profils concernés :</a:t>
            </a:r>
            <a:endParaRPr sz="1100" b="1">
              <a:solidFill>
                <a:schemeClr val="dk1"/>
              </a:solidFill>
            </a:endParaRPr>
          </a:p>
          <a:p>
            <a:pPr marL="228600" marR="0" lvl="0" indent="-184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>
                <a:solidFill>
                  <a:schemeClr val="dk1"/>
                </a:solidFill>
              </a:rPr>
              <a:t>Jeunes adultes</a:t>
            </a:r>
            <a:r>
              <a:rPr lang="en-US" sz="1100">
                <a:solidFill>
                  <a:schemeClr val="dk1"/>
                </a:solidFill>
              </a:rPr>
              <a:t> (+xxx des 18-29 ans)</a:t>
            </a:r>
            <a:endParaRPr sz="1100">
              <a:solidFill>
                <a:schemeClr val="dk1"/>
              </a:solidFill>
            </a:endParaRPr>
          </a:p>
          <a:p>
            <a:pPr marL="228600" marR="0" lvl="0" indent="-184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>
                <a:solidFill>
                  <a:schemeClr val="dk1"/>
                </a:solidFill>
              </a:rPr>
              <a:t>Seniors</a:t>
            </a:r>
            <a:r>
              <a:rPr lang="en-US" sz="1100">
                <a:solidFill>
                  <a:schemeClr val="dk1"/>
                </a:solidFill>
              </a:rPr>
              <a:t> (+xxx des +65 ans)</a:t>
            </a:r>
            <a:br>
              <a:rPr lang="en-US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dk1"/>
                </a:solidFill>
              </a:rPr>
              <a:t>👩‍👧 Familles monoparentales : +24% d'ici 2040</a:t>
            </a:r>
            <a:endParaRPr sz="1100" b="1">
              <a:solidFill>
                <a:schemeClr val="dk1"/>
              </a:solidFill>
            </a:endParaRPr>
          </a:p>
          <a:p>
            <a:pPr marL="228600" marR="0" lvl="0" indent="-184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>
                <a:solidFill>
                  <a:schemeClr val="dk1"/>
                </a:solidFill>
              </a:rPr>
              <a:t>2021-2040</a:t>
            </a:r>
            <a:r>
              <a:rPr lang="en-US" sz="1100">
                <a:solidFill>
                  <a:schemeClr val="dk1"/>
                </a:solidFill>
              </a:rPr>
              <a:t> : xxx → xxx ménages</a:t>
            </a:r>
            <a:endParaRPr sz="1100">
              <a:solidFill>
                <a:schemeClr val="dk1"/>
              </a:solidFill>
            </a:endParaRPr>
          </a:p>
          <a:p>
            <a:pPr marL="228600" marR="0" lvl="0" indent="-184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 i="1">
                <a:solidFill>
                  <a:schemeClr val="dk1"/>
                </a:solidFill>
              </a:rPr>
              <a:t>doc </a:t>
            </a:r>
            <a:r>
              <a:rPr lang="en-US" sz="1100" b="1">
                <a:solidFill>
                  <a:schemeClr val="dk1"/>
                </a:solidFill>
              </a:rPr>
              <a:t>2028-2034</a:t>
            </a:r>
            <a:r>
              <a:rPr lang="en-US" sz="1100">
                <a:solidFill>
                  <a:schemeClr val="dk1"/>
                </a:solidFill>
              </a:rPr>
              <a:t> : xxx → xxx </a:t>
            </a:r>
            <a:r>
              <a:rPr lang="en-US" sz="1100" i="1">
                <a:solidFill>
                  <a:schemeClr val="dk1"/>
                </a:solidFill>
              </a:rPr>
              <a:t>(+X%)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79" name="Google Shape;279;p34"/>
          <p:cNvSpPr/>
          <p:nvPr/>
        </p:nvSpPr>
        <p:spPr>
          <a:xfrm>
            <a:off x="6366250" y="1266575"/>
            <a:ext cx="2501400" cy="1210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Ne pas automatiser dans un premier temps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91;p14">
            <a:extLst>
              <a:ext uri="{FF2B5EF4-FFF2-40B4-BE49-F238E27FC236}">
                <a16:creationId xmlns:a16="http://schemas.microsoft.com/office/drawing/2014/main" id="{14C3687D-EB15-5126-ADAF-DA16FFB90D53}"/>
              </a:ext>
            </a:extLst>
          </p:cNvPr>
          <p:cNvSpPr txBox="1">
            <a:spLocks/>
          </p:cNvSpPr>
          <p:nvPr/>
        </p:nvSpPr>
        <p:spPr>
          <a:xfrm>
            <a:off x="355025" y="484524"/>
            <a:ext cx="1535700" cy="346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/>
            <a:r>
              <a:rPr lang="en-US" sz="1100" i="1"/>
              <a:t>EPCI {{layoutEpciName}} / BH {{layoutBassinName}}</a:t>
            </a:r>
            <a:endParaRPr lang="en-US" sz="1100" i="1" dirty="0"/>
          </a:p>
        </p:txBody>
      </p:sp>
      <p:sp>
        <p:nvSpPr>
          <p:cNvPr id="3" name="Google Shape;92;p14">
            <a:extLst>
              <a:ext uri="{FF2B5EF4-FFF2-40B4-BE49-F238E27FC236}">
                <a16:creationId xmlns:a16="http://schemas.microsoft.com/office/drawing/2014/main" id="{B3843203-D3C5-65DB-E499-F3D428D629B4}"/>
              </a:ext>
            </a:extLst>
          </p:cNvPr>
          <p:cNvSpPr txBox="1">
            <a:spLocks/>
          </p:cNvSpPr>
          <p:nvPr/>
        </p:nvSpPr>
        <p:spPr>
          <a:xfrm>
            <a:off x="355025" y="1017925"/>
            <a:ext cx="1535700" cy="733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/>
            <a:r>
              <a:rPr lang="en-US" sz="1100"/>
              <a:t>Estimation sur la période {{layoutStart}} – {{layoutEnd}} pour le {{layoutDocumentType}}</a:t>
            </a:r>
            <a:endParaRPr lang="en-US" sz="1100" i="1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5"/>
          <p:cNvSpPr txBox="1"/>
          <p:nvPr/>
        </p:nvSpPr>
        <p:spPr>
          <a:xfrm>
            <a:off x="2600446" y="209550"/>
            <a:ext cx="62673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262626"/>
                </a:solidFill>
              </a:rPr>
              <a:t>Indicateurs : évolution de la population (scénario </a:t>
            </a:r>
            <a:r>
              <a:rPr lang="en-US" sz="2400" b="1" i="1">
                <a:solidFill>
                  <a:srgbClr val="262626"/>
                </a:solidFill>
              </a:rPr>
              <a:t>xxxxx </a:t>
            </a:r>
            <a:r>
              <a:rPr lang="en-US" sz="2400" b="1">
                <a:solidFill>
                  <a:srgbClr val="262626"/>
                </a:solidFill>
              </a:rPr>
              <a:t>de l’INSEE)</a:t>
            </a:r>
            <a:endParaRPr sz="2400" b="1">
              <a:solidFill>
                <a:srgbClr val="262626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rial"/>
              <a:buNone/>
            </a:pPr>
            <a:endParaRPr sz="1200" i="1">
              <a:solidFill>
                <a:srgbClr val="262626"/>
              </a:solidFill>
            </a:endParaRPr>
          </a:p>
        </p:txBody>
      </p:sp>
      <p:sp>
        <p:nvSpPr>
          <p:cNvPr id="287" name="Google Shape;287;p35"/>
          <p:cNvSpPr txBox="1"/>
          <p:nvPr/>
        </p:nvSpPr>
        <p:spPr>
          <a:xfrm>
            <a:off x="2600446" y="1047750"/>
            <a:ext cx="62673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rial"/>
              <a:buNone/>
            </a:pPr>
            <a:r>
              <a:rPr lang="en-US" sz="2000" i="1" dirty="0" err="1">
                <a:solidFill>
                  <a:srgbClr val="262626"/>
                </a:solidFill>
              </a:rPr>
              <a:t>Vieillissement</a:t>
            </a:r>
            <a:r>
              <a:rPr lang="en-US" sz="2000" i="1" dirty="0">
                <a:solidFill>
                  <a:srgbClr val="262626"/>
                </a:solidFill>
              </a:rPr>
              <a:t> de la population = </a:t>
            </a:r>
            <a:r>
              <a:rPr lang="en-US" sz="2000" i="1" dirty="0" err="1">
                <a:solidFill>
                  <a:srgbClr val="262626"/>
                </a:solidFill>
              </a:rPr>
              <a:t>enjeu</a:t>
            </a:r>
            <a:r>
              <a:rPr lang="en-US" sz="2000" i="1" dirty="0">
                <a:solidFill>
                  <a:srgbClr val="262626"/>
                </a:solidFill>
              </a:rPr>
              <a:t> </a:t>
            </a:r>
            <a:r>
              <a:rPr lang="en-US" sz="2000" i="1" dirty="0" err="1">
                <a:solidFill>
                  <a:srgbClr val="262626"/>
                </a:solidFill>
              </a:rPr>
              <a:t>majeur</a:t>
            </a:r>
            <a:r>
              <a:rPr lang="en-US" sz="2000" i="1" dirty="0">
                <a:solidFill>
                  <a:srgbClr val="262626"/>
                </a:solidFill>
              </a:rPr>
              <a:t> pour </a:t>
            </a:r>
            <a:r>
              <a:rPr lang="en-US" sz="2000" i="1" dirty="0" err="1">
                <a:solidFill>
                  <a:srgbClr val="262626"/>
                </a:solidFill>
              </a:rPr>
              <a:t>l'adaptation</a:t>
            </a:r>
            <a:r>
              <a:rPr lang="en-US" sz="2000" i="1" dirty="0">
                <a:solidFill>
                  <a:srgbClr val="262626"/>
                </a:solidFill>
              </a:rPr>
              <a:t> de </a:t>
            </a:r>
            <a:r>
              <a:rPr lang="en-US" sz="2000" i="1" dirty="0" err="1">
                <a:solidFill>
                  <a:srgbClr val="262626"/>
                </a:solidFill>
              </a:rPr>
              <a:t>l'offre</a:t>
            </a:r>
            <a:r>
              <a:rPr lang="en-US" sz="2000" i="1" dirty="0">
                <a:solidFill>
                  <a:srgbClr val="262626"/>
                </a:solidFill>
              </a:rPr>
              <a:t> de </a:t>
            </a:r>
            <a:r>
              <a:rPr lang="en-US" sz="2000" i="1" dirty="0" err="1">
                <a:solidFill>
                  <a:srgbClr val="262626"/>
                </a:solidFill>
              </a:rPr>
              <a:t>logement</a:t>
            </a:r>
            <a:endParaRPr sz="800" i="1" dirty="0">
              <a:solidFill>
                <a:srgbClr val="262626"/>
              </a:solidFill>
            </a:endParaRPr>
          </a:p>
        </p:txBody>
      </p:sp>
      <p:sp>
        <p:nvSpPr>
          <p:cNvPr id="288" name="Google Shape;288;p35"/>
          <p:cNvSpPr txBox="1"/>
          <p:nvPr/>
        </p:nvSpPr>
        <p:spPr>
          <a:xfrm>
            <a:off x="2600450" y="1952425"/>
            <a:ext cx="2531700" cy="3019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dk2"/>
                </a:solidFill>
              </a:rPr>
              <a:t>🔄 Transformation de la pyramide des âges</a:t>
            </a:r>
            <a:endParaRPr sz="1100" b="1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dk1"/>
                </a:solidFill>
              </a:rPr>
              <a:t>📉 Baisse des jeunes (-18 ans)</a:t>
            </a: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>
                <a:solidFill>
                  <a:schemeClr val="dk1"/>
                </a:solidFill>
              </a:rPr>
              <a:t>2021</a:t>
            </a:r>
            <a:r>
              <a:rPr lang="en-US" sz="1100">
                <a:solidFill>
                  <a:schemeClr val="dk1"/>
                </a:solidFill>
              </a:rPr>
              <a:t> : XXX → </a:t>
            </a:r>
            <a:r>
              <a:rPr lang="en-US" sz="1100" b="1">
                <a:solidFill>
                  <a:schemeClr val="dk1"/>
                </a:solidFill>
              </a:rPr>
              <a:t>2040</a:t>
            </a:r>
            <a:r>
              <a:rPr lang="en-US" sz="1100">
                <a:solidFill>
                  <a:schemeClr val="dk1"/>
                </a:solidFill>
              </a:rPr>
              <a:t> : XXX </a:t>
            </a:r>
            <a:r>
              <a:rPr lang="en-US" sz="1100" i="1">
                <a:solidFill>
                  <a:schemeClr val="dk1"/>
                </a:solidFill>
              </a:rPr>
              <a:t>(-X%)</a:t>
            </a:r>
            <a:endParaRPr sz="1100" i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>
                <a:solidFill>
                  <a:schemeClr val="dk1"/>
                </a:solidFill>
              </a:rPr>
              <a:t>PLH 2028-2034</a:t>
            </a:r>
            <a:r>
              <a:rPr lang="en-US" sz="1100">
                <a:solidFill>
                  <a:schemeClr val="dk1"/>
                </a:solidFill>
              </a:rPr>
              <a:t> : XXX → XXX </a:t>
            </a:r>
            <a:r>
              <a:rPr lang="en-US" sz="1100" i="1">
                <a:solidFill>
                  <a:schemeClr val="dk1"/>
                </a:solidFill>
              </a:rPr>
              <a:t>(-X%)</a:t>
            </a:r>
            <a:endParaRPr sz="1100" i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dk1"/>
                </a:solidFill>
              </a:rPr>
              <a:t>📈 Explosion des seniors (+65 ans)</a:t>
            </a: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>
                <a:solidFill>
                  <a:schemeClr val="dk1"/>
                </a:solidFill>
              </a:rPr>
              <a:t>2021</a:t>
            </a:r>
            <a:r>
              <a:rPr lang="en-US" sz="1100">
                <a:solidFill>
                  <a:schemeClr val="dk1"/>
                </a:solidFill>
              </a:rPr>
              <a:t> : XXX → </a:t>
            </a:r>
            <a:r>
              <a:rPr lang="en-US" sz="1100" b="1">
                <a:solidFill>
                  <a:schemeClr val="dk1"/>
                </a:solidFill>
              </a:rPr>
              <a:t>2040</a:t>
            </a:r>
            <a:r>
              <a:rPr lang="en-US" sz="1100">
                <a:solidFill>
                  <a:schemeClr val="dk1"/>
                </a:solidFill>
              </a:rPr>
              <a:t> : XXX </a:t>
            </a:r>
            <a:r>
              <a:rPr lang="en-US" sz="1100" i="1">
                <a:solidFill>
                  <a:schemeClr val="dk1"/>
                </a:solidFill>
              </a:rPr>
              <a:t>(+X%)</a:t>
            </a:r>
            <a:endParaRPr sz="1100" i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>
                <a:solidFill>
                  <a:schemeClr val="dk1"/>
                </a:solidFill>
              </a:rPr>
              <a:t>PLH 2028-2034</a:t>
            </a:r>
            <a:r>
              <a:rPr lang="en-US" sz="1100">
                <a:solidFill>
                  <a:schemeClr val="dk1"/>
                </a:solidFill>
              </a:rPr>
              <a:t> : XXX → XXX </a:t>
            </a:r>
            <a:r>
              <a:rPr lang="en-US" sz="1100" i="1">
                <a:solidFill>
                  <a:schemeClr val="dk1"/>
                </a:solidFill>
              </a:rPr>
              <a:t>(+X%)</a:t>
            </a:r>
            <a:endParaRPr sz="1200" b="1">
              <a:solidFill>
                <a:schemeClr val="dk2"/>
              </a:solidFill>
            </a:endParaRPr>
          </a:p>
        </p:txBody>
      </p:sp>
      <p:grpSp>
        <p:nvGrpSpPr>
          <p:cNvPr id="289" name="Google Shape;289;p35"/>
          <p:cNvGrpSpPr/>
          <p:nvPr/>
        </p:nvGrpSpPr>
        <p:grpSpPr>
          <a:xfrm rot="-5400000">
            <a:off x="5370860" y="1974957"/>
            <a:ext cx="145231" cy="266236"/>
            <a:chOff x="-1" y="0"/>
            <a:chExt cx="190917" cy="349988"/>
          </a:xfrm>
        </p:grpSpPr>
        <p:sp>
          <p:nvSpPr>
            <p:cNvPr id="290" name="Google Shape;290;p35"/>
            <p:cNvSpPr/>
            <p:nvPr/>
          </p:nvSpPr>
          <p:spPr>
            <a:xfrm>
              <a:off x="-1" y="241556"/>
              <a:ext cx="113778" cy="108432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459" y="0"/>
                  </a:moveTo>
                  <a:lnTo>
                    <a:pt x="1534" y="189"/>
                  </a:lnTo>
                  <a:lnTo>
                    <a:pt x="722" y="757"/>
                  </a:lnTo>
                  <a:lnTo>
                    <a:pt x="180" y="1612"/>
                  </a:lnTo>
                  <a:lnTo>
                    <a:pt x="0" y="2584"/>
                  </a:lnTo>
                  <a:lnTo>
                    <a:pt x="180" y="3555"/>
                  </a:lnTo>
                  <a:lnTo>
                    <a:pt x="722" y="4407"/>
                  </a:lnTo>
                  <a:lnTo>
                    <a:pt x="16382" y="20844"/>
                  </a:lnTo>
                  <a:lnTo>
                    <a:pt x="17197" y="21411"/>
                  </a:lnTo>
                  <a:lnTo>
                    <a:pt x="18124" y="21600"/>
                  </a:lnTo>
                  <a:lnTo>
                    <a:pt x="19049" y="21411"/>
                  </a:lnTo>
                  <a:lnTo>
                    <a:pt x="19861" y="20844"/>
                  </a:lnTo>
                  <a:lnTo>
                    <a:pt x="21600" y="19018"/>
                  </a:lnTo>
                  <a:lnTo>
                    <a:pt x="15662" y="19018"/>
                  </a:lnTo>
                  <a:lnTo>
                    <a:pt x="15662" y="12780"/>
                  </a:lnTo>
                  <a:lnTo>
                    <a:pt x="4200" y="757"/>
                  </a:lnTo>
                  <a:lnTo>
                    <a:pt x="3385" y="189"/>
                  </a:lnTo>
                  <a:lnTo>
                    <a:pt x="245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Calibri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" name="Google Shape;291;p35"/>
            <p:cNvSpPr/>
            <p:nvPr/>
          </p:nvSpPr>
          <p:spPr>
            <a:xfrm>
              <a:off x="108404" y="241556"/>
              <a:ext cx="82512" cy="95472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209" y="0"/>
                  </a:moveTo>
                  <a:lnTo>
                    <a:pt x="16931" y="215"/>
                  </a:lnTo>
                  <a:lnTo>
                    <a:pt x="15807" y="860"/>
                  </a:lnTo>
                  <a:lnTo>
                    <a:pt x="6" y="14515"/>
                  </a:lnTo>
                  <a:lnTo>
                    <a:pt x="0" y="21600"/>
                  </a:lnTo>
                  <a:lnTo>
                    <a:pt x="1405" y="21600"/>
                  </a:lnTo>
                  <a:lnTo>
                    <a:pt x="20605" y="5006"/>
                  </a:lnTo>
                  <a:lnTo>
                    <a:pt x="21351" y="4038"/>
                  </a:lnTo>
                  <a:lnTo>
                    <a:pt x="21600" y="2935"/>
                  </a:lnTo>
                  <a:lnTo>
                    <a:pt x="21351" y="1831"/>
                  </a:lnTo>
                  <a:lnTo>
                    <a:pt x="20605" y="860"/>
                  </a:lnTo>
                  <a:lnTo>
                    <a:pt x="19485" y="215"/>
                  </a:lnTo>
                  <a:lnTo>
                    <a:pt x="1820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Calibri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" name="Google Shape;292;p35"/>
            <p:cNvSpPr/>
            <p:nvPr/>
          </p:nvSpPr>
          <p:spPr>
            <a:xfrm>
              <a:off x="82493" y="0"/>
              <a:ext cx="25920" cy="318654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1600" y="0"/>
                  </a:moveTo>
                  <a:lnTo>
                    <a:pt x="0" y="0"/>
                  </a:lnTo>
                  <a:lnTo>
                    <a:pt x="18" y="20723"/>
                  </a:lnTo>
                  <a:lnTo>
                    <a:pt x="10811" y="21600"/>
                  </a:lnTo>
                  <a:lnTo>
                    <a:pt x="21600" y="20723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Calibri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" name="Google Shape;293;p35"/>
            <p:cNvSpPr/>
            <p:nvPr/>
          </p:nvSpPr>
          <p:spPr>
            <a:xfrm>
              <a:off x="82493" y="305706"/>
              <a:ext cx="25920" cy="31320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8943"/>
                  </a:lnTo>
                  <a:lnTo>
                    <a:pt x="10811" y="8943"/>
                  </a:lnTo>
                  <a:lnTo>
                    <a:pt x="0" y="0"/>
                  </a:lnTo>
                  <a:close/>
                  <a:moveTo>
                    <a:pt x="21600" y="15"/>
                  </a:moveTo>
                  <a:lnTo>
                    <a:pt x="10811" y="8943"/>
                  </a:lnTo>
                  <a:lnTo>
                    <a:pt x="21600" y="8943"/>
                  </a:lnTo>
                  <a:lnTo>
                    <a:pt x="21600" y="15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Calibri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4" name="Google Shape;294;p35"/>
          <p:cNvSpPr txBox="1"/>
          <p:nvPr/>
        </p:nvSpPr>
        <p:spPr>
          <a:xfrm>
            <a:off x="5914025" y="1943325"/>
            <a:ext cx="2953800" cy="804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dk2"/>
                </a:solidFill>
              </a:rPr>
              <a:t>🏠 Implications pour le logement</a:t>
            </a:r>
            <a:endParaRPr sz="1100" b="1">
              <a:solidFill>
                <a:schemeClr val="dk2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>
                <a:solidFill>
                  <a:schemeClr val="dk1"/>
                </a:solidFill>
              </a:rPr>
              <a:t>{Analyse}</a:t>
            </a: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>
                <a:solidFill>
                  <a:schemeClr val="dk1"/>
                </a:solidFill>
              </a:rPr>
              <a:t>{Analyse}</a:t>
            </a:r>
            <a:endParaRPr sz="1100" b="1">
              <a:solidFill>
                <a:schemeClr val="dk1"/>
              </a:solidFill>
            </a:endParaRPr>
          </a:p>
        </p:txBody>
      </p:sp>
      <p:sp>
        <p:nvSpPr>
          <p:cNvPr id="295" name="Google Shape;295;p35"/>
          <p:cNvSpPr/>
          <p:nvPr/>
        </p:nvSpPr>
        <p:spPr>
          <a:xfrm>
            <a:off x="2615600" y="3321875"/>
            <a:ext cx="2501400" cy="1210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Ne pas automatiser dans un premier temps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91;p14">
            <a:extLst>
              <a:ext uri="{FF2B5EF4-FFF2-40B4-BE49-F238E27FC236}">
                <a16:creationId xmlns:a16="http://schemas.microsoft.com/office/drawing/2014/main" id="{5B2E0224-6C35-77A4-9742-D2886C19CFD9}"/>
              </a:ext>
            </a:extLst>
          </p:cNvPr>
          <p:cNvSpPr txBox="1">
            <a:spLocks/>
          </p:cNvSpPr>
          <p:nvPr/>
        </p:nvSpPr>
        <p:spPr>
          <a:xfrm>
            <a:off x="355025" y="484524"/>
            <a:ext cx="1535700" cy="346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/>
            <a:r>
              <a:rPr lang="en-US" sz="1100" i="1"/>
              <a:t>EPCI {{layoutEpciName}} / BH {{layoutBassinName}}</a:t>
            </a:r>
            <a:endParaRPr lang="en-US" sz="1100" i="1" dirty="0"/>
          </a:p>
        </p:txBody>
      </p:sp>
      <p:sp>
        <p:nvSpPr>
          <p:cNvPr id="3" name="Google Shape;92;p14">
            <a:extLst>
              <a:ext uri="{FF2B5EF4-FFF2-40B4-BE49-F238E27FC236}">
                <a16:creationId xmlns:a16="http://schemas.microsoft.com/office/drawing/2014/main" id="{3176A229-AFA4-EBD8-BE94-E8521F11ED57}"/>
              </a:ext>
            </a:extLst>
          </p:cNvPr>
          <p:cNvSpPr txBox="1">
            <a:spLocks/>
          </p:cNvSpPr>
          <p:nvPr/>
        </p:nvSpPr>
        <p:spPr>
          <a:xfrm>
            <a:off x="355025" y="1017925"/>
            <a:ext cx="1535700" cy="733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/>
            <a:r>
              <a:rPr lang="en-US" sz="1100" dirty="0"/>
              <a:t>Estimation sur la </a:t>
            </a:r>
            <a:r>
              <a:rPr lang="en-US" sz="1100" dirty="0" err="1"/>
              <a:t>période</a:t>
            </a:r>
            <a:r>
              <a:rPr lang="en-US" sz="1100" dirty="0"/>
              <a:t> </a:t>
            </a:r>
            <a:r>
              <a:rPr lang="en-US" sz="1100" dirty="0" err="1"/>
              <a:t>{{layoutStart}}</a:t>
            </a:r>
            <a:r>
              <a:rPr lang="en-US" sz="1100" dirty="0"/>
              <a:t> – </a:t>
            </a:r>
            <a:r>
              <a:rPr lang="en-US" sz="1100" dirty="0" err="1"/>
              <a:t>{{layoutEnd}}</a:t>
            </a:r>
            <a:r>
              <a:rPr lang="en-US" sz="1100" dirty="0"/>
              <a:t> pour le </a:t>
            </a:r>
            <a:r>
              <a:rPr lang="en-US" sz="1100" dirty="0" err="1"/>
              <a:t>{{layoutDocumentType}}</a:t>
            </a:r>
            <a:endParaRPr lang="en-US" sz="1100" i="1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" name="Google Shape;302;p36"/>
          <p:cNvPicPr preferRelativeResize="0"/>
          <p:nvPr/>
        </p:nvPicPr>
        <p:blipFill rotWithShape="1">
          <a:blip r:embed="rId3">
            <a:alphaModFix/>
          </a:blip>
          <a:srcRect t="10770"/>
          <a:stretch/>
        </p:blipFill>
        <p:spPr>
          <a:xfrm>
            <a:off x="3084098" y="1745801"/>
            <a:ext cx="5713525" cy="3144977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6"/>
          <p:cNvSpPr txBox="1"/>
          <p:nvPr/>
        </p:nvSpPr>
        <p:spPr>
          <a:xfrm>
            <a:off x="2600446" y="209550"/>
            <a:ext cx="62673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262626"/>
                </a:solidFill>
              </a:rPr>
              <a:t>Indicateurs : évolution de la population (scénario </a:t>
            </a:r>
            <a:r>
              <a:rPr lang="en-US" sz="2400" b="1" i="1">
                <a:solidFill>
                  <a:srgbClr val="262626"/>
                </a:solidFill>
              </a:rPr>
              <a:t>xxxxx </a:t>
            </a:r>
            <a:r>
              <a:rPr lang="en-US" sz="2400" b="1">
                <a:solidFill>
                  <a:srgbClr val="262626"/>
                </a:solidFill>
              </a:rPr>
              <a:t>de l’INSEE)</a:t>
            </a:r>
            <a:endParaRPr sz="2400" b="1">
              <a:solidFill>
                <a:srgbClr val="262626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rial"/>
              <a:buNone/>
            </a:pPr>
            <a:endParaRPr sz="1200" i="1">
              <a:solidFill>
                <a:srgbClr val="262626"/>
              </a:solidFill>
            </a:endParaRPr>
          </a:p>
        </p:txBody>
      </p:sp>
      <p:sp>
        <p:nvSpPr>
          <p:cNvPr id="304" name="Google Shape;304;p36"/>
          <p:cNvSpPr txBox="1"/>
          <p:nvPr/>
        </p:nvSpPr>
        <p:spPr>
          <a:xfrm>
            <a:off x="2600446" y="1047750"/>
            <a:ext cx="6267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rial"/>
              <a:buNone/>
            </a:pPr>
            <a:r>
              <a:rPr lang="en-US" sz="1300" i="1">
                <a:solidFill>
                  <a:srgbClr val="262626"/>
                </a:solidFill>
              </a:rPr>
              <a:t>Vieillissement de la population = enjeu majeur pour l'adaptation de l'offre de logement</a:t>
            </a:r>
            <a:endParaRPr sz="100" i="1">
              <a:solidFill>
                <a:srgbClr val="262626"/>
              </a:solidFill>
            </a:endParaRPr>
          </a:p>
        </p:txBody>
      </p:sp>
      <p:sp>
        <p:nvSpPr>
          <p:cNvPr id="305" name="Google Shape;305;p36"/>
          <p:cNvSpPr txBox="1"/>
          <p:nvPr/>
        </p:nvSpPr>
        <p:spPr>
          <a:xfrm>
            <a:off x="2600450" y="4834200"/>
            <a:ext cx="63702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Evolution de la population par groupe d’âge</a:t>
            </a:r>
            <a:endParaRPr sz="1200" i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36"/>
          <p:cNvSpPr/>
          <p:nvPr/>
        </p:nvSpPr>
        <p:spPr>
          <a:xfrm>
            <a:off x="4173675" y="2898650"/>
            <a:ext cx="2501400" cy="1210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Ne pas automatiser dans un premier temps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91;p14">
            <a:extLst>
              <a:ext uri="{FF2B5EF4-FFF2-40B4-BE49-F238E27FC236}">
                <a16:creationId xmlns:a16="http://schemas.microsoft.com/office/drawing/2014/main" id="{A3DF835C-068C-E6D7-0D54-1275FE769F4D}"/>
              </a:ext>
            </a:extLst>
          </p:cNvPr>
          <p:cNvSpPr txBox="1">
            <a:spLocks/>
          </p:cNvSpPr>
          <p:nvPr/>
        </p:nvSpPr>
        <p:spPr>
          <a:xfrm>
            <a:off x="355025" y="484524"/>
            <a:ext cx="1535700" cy="346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/>
            <a:r>
              <a:rPr lang="en-US" sz="1100" i="1"/>
              <a:t>EPCI {{layoutEpciName}} / BH {{layoutBassinName}}</a:t>
            </a:r>
            <a:endParaRPr lang="en-US" sz="1100" i="1" dirty="0"/>
          </a:p>
        </p:txBody>
      </p:sp>
      <p:sp>
        <p:nvSpPr>
          <p:cNvPr id="3" name="Google Shape;92;p14">
            <a:extLst>
              <a:ext uri="{FF2B5EF4-FFF2-40B4-BE49-F238E27FC236}">
                <a16:creationId xmlns:a16="http://schemas.microsoft.com/office/drawing/2014/main" id="{FE242365-6F8F-FC07-EF92-2BA7DAE670A0}"/>
              </a:ext>
            </a:extLst>
          </p:cNvPr>
          <p:cNvSpPr txBox="1">
            <a:spLocks/>
          </p:cNvSpPr>
          <p:nvPr/>
        </p:nvSpPr>
        <p:spPr>
          <a:xfrm>
            <a:off x="355025" y="1017925"/>
            <a:ext cx="1535700" cy="733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/>
            <a:r>
              <a:rPr lang="en-US" sz="1100"/>
              <a:t>Estimation sur la période {{layoutStart}} – {{layoutEnd}} pour le {{layoutDocumentType}}</a:t>
            </a:r>
            <a:endParaRPr lang="en-US" sz="1100" i="1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" name="Google Shape;313;p37"/>
          <p:cNvPicPr preferRelativeResize="0">
            <a:picLocks noGrp="1"/>
          </p:cNvPicPr>
          <p:nvPr>
            <p:ph type="body" idx="4294967295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955038" y="1519175"/>
            <a:ext cx="5558100" cy="343230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37"/>
          <p:cNvSpPr txBox="1"/>
          <p:nvPr/>
        </p:nvSpPr>
        <p:spPr>
          <a:xfrm>
            <a:off x="2600446" y="209550"/>
            <a:ext cx="6267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262626"/>
                </a:solidFill>
              </a:rPr>
              <a:t>Indicateurs : évolution de la population</a:t>
            </a:r>
            <a:endParaRPr sz="2400" b="1">
              <a:solidFill>
                <a:srgbClr val="262626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rial"/>
              <a:buNone/>
            </a:pPr>
            <a:endParaRPr sz="1200" i="1">
              <a:solidFill>
                <a:srgbClr val="262626"/>
              </a:solidFill>
            </a:endParaRPr>
          </a:p>
        </p:txBody>
      </p:sp>
      <p:sp>
        <p:nvSpPr>
          <p:cNvPr id="315" name="Google Shape;315;p37"/>
          <p:cNvSpPr/>
          <p:nvPr/>
        </p:nvSpPr>
        <p:spPr>
          <a:xfrm>
            <a:off x="4721050" y="1713425"/>
            <a:ext cx="729600" cy="1893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37"/>
          <p:cNvSpPr/>
          <p:nvPr/>
        </p:nvSpPr>
        <p:spPr>
          <a:xfrm>
            <a:off x="7900100" y="3181000"/>
            <a:ext cx="532200" cy="1359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37"/>
          <p:cNvSpPr/>
          <p:nvPr/>
        </p:nvSpPr>
        <p:spPr>
          <a:xfrm>
            <a:off x="4173675" y="2898650"/>
            <a:ext cx="2501400" cy="1210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Ne pas automatiser dans un premier temps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91;p14">
            <a:extLst>
              <a:ext uri="{FF2B5EF4-FFF2-40B4-BE49-F238E27FC236}">
                <a16:creationId xmlns:a16="http://schemas.microsoft.com/office/drawing/2014/main" id="{F9E17D01-A28F-816A-0E30-BDF02D5698CE}"/>
              </a:ext>
            </a:extLst>
          </p:cNvPr>
          <p:cNvSpPr txBox="1">
            <a:spLocks/>
          </p:cNvSpPr>
          <p:nvPr/>
        </p:nvSpPr>
        <p:spPr>
          <a:xfrm>
            <a:off x="355025" y="484524"/>
            <a:ext cx="1535700" cy="346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/>
            <a:r>
              <a:rPr lang="en-US" sz="1100" i="1"/>
              <a:t>EPCI {{layoutEpciName}} / BH {{layoutBassinName}}</a:t>
            </a:r>
            <a:endParaRPr lang="en-US" sz="1100" i="1" dirty="0"/>
          </a:p>
        </p:txBody>
      </p:sp>
      <p:sp>
        <p:nvSpPr>
          <p:cNvPr id="3" name="Google Shape;92;p14">
            <a:extLst>
              <a:ext uri="{FF2B5EF4-FFF2-40B4-BE49-F238E27FC236}">
                <a16:creationId xmlns:a16="http://schemas.microsoft.com/office/drawing/2014/main" id="{CE18EDAE-706B-AD17-CC53-42F824CA3B28}"/>
              </a:ext>
            </a:extLst>
          </p:cNvPr>
          <p:cNvSpPr txBox="1">
            <a:spLocks/>
          </p:cNvSpPr>
          <p:nvPr/>
        </p:nvSpPr>
        <p:spPr>
          <a:xfrm>
            <a:off x="355025" y="1017925"/>
            <a:ext cx="1535700" cy="733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/>
            <a:r>
              <a:rPr lang="en-US" sz="1100"/>
              <a:t>Estimation sur la période {{layoutStart}} – {{layoutEnd}} pour le {{layoutDocumentType}}</a:t>
            </a:r>
            <a:endParaRPr lang="en-US" sz="1100" i="1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8"/>
          <p:cNvSpPr txBox="1"/>
          <p:nvPr/>
        </p:nvSpPr>
        <p:spPr>
          <a:xfrm>
            <a:off x="2600446" y="209550"/>
            <a:ext cx="6267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262626"/>
                </a:solidFill>
              </a:rPr>
              <a:t>Indicateurs : évolution de la population</a:t>
            </a:r>
            <a:endParaRPr sz="2400" b="1">
              <a:solidFill>
                <a:srgbClr val="262626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rial"/>
              <a:buNone/>
            </a:pPr>
            <a:endParaRPr sz="1200" i="1">
              <a:solidFill>
                <a:srgbClr val="262626"/>
              </a:solidFill>
            </a:endParaRPr>
          </a:p>
        </p:txBody>
      </p:sp>
      <p:pic>
        <p:nvPicPr>
          <p:cNvPr id="325" name="Google Shape;325;p38"/>
          <p:cNvPicPr preferRelativeResize="0">
            <a:picLocks noGrp="1"/>
          </p:cNvPicPr>
          <p:nvPr>
            <p:ph type="body" idx="4294967295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600449" y="1248924"/>
            <a:ext cx="6032700" cy="3721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38"/>
          <p:cNvSpPr txBox="1"/>
          <p:nvPr/>
        </p:nvSpPr>
        <p:spPr>
          <a:xfrm>
            <a:off x="2600446" y="742950"/>
            <a:ext cx="6267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rial"/>
              <a:buNone/>
            </a:pPr>
            <a:r>
              <a:rPr lang="en-US" sz="2000" i="1">
                <a:solidFill>
                  <a:srgbClr val="262626"/>
                </a:solidFill>
              </a:rPr>
              <a:t>Pyramide des âges</a:t>
            </a:r>
            <a:endParaRPr sz="800" i="1">
              <a:solidFill>
                <a:srgbClr val="262626"/>
              </a:solidFill>
            </a:endParaRPr>
          </a:p>
        </p:txBody>
      </p:sp>
      <p:sp>
        <p:nvSpPr>
          <p:cNvPr id="329" name="Google Shape;329;p38"/>
          <p:cNvSpPr/>
          <p:nvPr/>
        </p:nvSpPr>
        <p:spPr>
          <a:xfrm>
            <a:off x="4173675" y="2898650"/>
            <a:ext cx="2501400" cy="1210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Ne pas automatiser dans un premier temps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91;p14">
            <a:extLst>
              <a:ext uri="{FF2B5EF4-FFF2-40B4-BE49-F238E27FC236}">
                <a16:creationId xmlns:a16="http://schemas.microsoft.com/office/drawing/2014/main" id="{2B22ED0F-6294-F128-33CA-ACCC3E8D4952}"/>
              </a:ext>
            </a:extLst>
          </p:cNvPr>
          <p:cNvSpPr txBox="1">
            <a:spLocks/>
          </p:cNvSpPr>
          <p:nvPr/>
        </p:nvSpPr>
        <p:spPr>
          <a:xfrm>
            <a:off x="355025" y="484524"/>
            <a:ext cx="1535700" cy="346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/>
            <a:r>
              <a:rPr lang="en-US" sz="1100" i="1"/>
              <a:t>EPCI {{layoutEpciName}} / BH {{layoutBassinName}}</a:t>
            </a:r>
            <a:endParaRPr lang="en-US" sz="1100" i="1" dirty="0"/>
          </a:p>
        </p:txBody>
      </p:sp>
      <p:sp>
        <p:nvSpPr>
          <p:cNvPr id="3" name="Google Shape;92;p14">
            <a:extLst>
              <a:ext uri="{FF2B5EF4-FFF2-40B4-BE49-F238E27FC236}">
                <a16:creationId xmlns:a16="http://schemas.microsoft.com/office/drawing/2014/main" id="{4C5C2906-50DD-9DE8-E37A-68E2A07C7AD7}"/>
              </a:ext>
            </a:extLst>
          </p:cNvPr>
          <p:cNvSpPr txBox="1">
            <a:spLocks/>
          </p:cNvSpPr>
          <p:nvPr/>
        </p:nvSpPr>
        <p:spPr>
          <a:xfrm>
            <a:off x="355025" y="1017925"/>
            <a:ext cx="1535700" cy="733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/>
            <a:r>
              <a:rPr lang="en-US" sz="1100"/>
              <a:t>Estimation sur la période {{layoutStart}} – {{layoutEnd}} pour le {{layoutDocumentType}}</a:t>
            </a:r>
            <a:endParaRPr lang="en-US" sz="1100" i="1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9"/>
          <p:cNvSpPr txBox="1">
            <a:spLocks noGrp="1"/>
          </p:cNvSpPr>
          <p:nvPr>
            <p:ph type="body" idx="1"/>
          </p:nvPr>
        </p:nvSpPr>
        <p:spPr>
          <a:xfrm>
            <a:off x="2709800" y="2344050"/>
            <a:ext cx="5277600" cy="455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Conclusion</a:t>
            </a:r>
            <a:endParaRPr sz="3000" b="0" i="1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1;p14">
            <a:extLst>
              <a:ext uri="{FF2B5EF4-FFF2-40B4-BE49-F238E27FC236}">
                <a16:creationId xmlns:a16="http://schemas.microsoft.com/office/drawing/2014/main" id="{528815B0-67C5-E4C2-5A31-1ABF1020DC61}"/>
              </a:ext>
            </a:extLst>
          </p:cNvPr>
          <p:cNvSpPr txBox="1">
            <a:spLocks/>
          </p:cNvSpPr>
          <p:nvPr/>
        </p:nvSpPr>
        <p:spPr>
          <a:xfrm>
            <a:off x="355025" y="484524"/>
            <a:ext cx="1535700" cy="346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/>
            <a:r>
              <a:rPr lang="en-US" sz="1100" i="1"/>
              <a:t>EPCI {{layoutEpciName}} / BH {{layoutBassinName}}</a:t>
            </a:r>
            <a:endParaRPr lang="en-US" sz="1100" i="1" dirty="0"/>
          </a:p>
        </p:txBody>
      </p:sp>
      <p:sp>
        <p:nvSpPr>
          <p:cNvPr id="3" name="Google Shape;92;p14">
            <a:extLst>
              <a:ext uri="{FF2B5EF4-FFF2-40B4-BE49-F238E27FC236}">
                <a16:creationId xmlns:a16="http://schemas.microsoft.com/office/drawing/2014/main" id="{0CAAF03A-431F-62AF-E606-EB5963645232}"/>
              </a:ext>
            </a:extLst>
          </p:cNvPr>
          <p:cNvSpPr txBox="1">
            <a:spLocks/>
          </p:cNvSpPr>
          <p:nvPr/>
        </p:nvSpPr>
        <p:spPr>
          <a:xfrm>
            <a:off x="355025" y="1017925"/>
            <a:ext cx="1535700" cy="733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/>
            <a:r>
              <a:rPr lang="en-US" sz="1100"/>
              <a:t>Estimation sur la période {{layoutStart}} – {{layoutEnd}} pour le {{layoutDocumentType}}</a:t>
            </a:r>
            <a:endParaRPr lang="en-US" sz="1100" i="1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1"/>
          <p:cNvSpPr txBox="1"/>
          <p:nvPr/>
        </p:nvSpPr>
        <p:spPr>
          <a:xfrm>
            <a:off x="967450" y="1909950"/>
            <a:ext cx="5401200" cy="13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900"/>
              <a:buFont typeface="Arial"/>
              <a:buNone/>
            </a:pPr>
            <a:r>
              <a:rPr lang="en-US" sz="4000" dirty="0">
                <a:solidFill>
                  <a:schemeClr val="lt1"/>
                </a:solidFill>
              </a:rPr>
              <a:t>Pour </a:t>
            </a:r>
            <a:r>
              <a:rPr lang="en-US" sz="4000" dirty="0" err="1">
                <a:solidFill>
                  <a:schemeClr val="lt1"/>
                </a:solidFill>
              </a:rPr>
              <a:t>aller</a:t>
            </a:r>
            <a:r>
              <a:rPr lang="en-US" sz="4000" dirty="0">
                <a:solidFill>
                  <a:schemeClr val="lt1"/>
                </a:solidFill>
              </a:rPr>
              <a:t> plus loin</a:t>
            </a:r>
            <a:endParaRPr sz="4000" b="1" dirty="0">
              <a:solidFill>
                <a:schemeClr val="lt1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900"/>
              <a:buFont typeface="Arial"/>
              <a:buNone/>
            </a:pPr>
            <a:r>
              <a:rPr lang="en-US" sz="4000" b="1" dirty="0" err="1">
                <a:solidFill>
                  <a:schemeClr val="lt1"/>
                </a:solidFill>
              </a:rPr>
              <a:t>otelo.beta.gouv.fr</a:t>
            </a:r>
            <a:endParaRPr sz="4000" b="1" dirty="0">
              <a:solidFill>
                <a:schemeClr val="lt1"/>
              </a:solidFill>
            </a:endParaRPr>
          </a:p>
        </p:txBody>
      </p:sp>
      <p:pic>
        <p:nvPicPr>
          <p:cNvPr id="346" name="Google Shape;346;p41" title="Capture d’écran 2025-07-30 à 12.09.3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18975" y="478063"/>
            <a:ext cx="2263800" cy="41873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696AF5"/>
      </a:dk2>
      <a:lt2>
        <a:srgbClr val="000091"/>
      </a:lt2>
      <a:accent1>
        <a:srgbClr val="E1000F"/>
      </a:accent1>
      <a:accent2>
        <a:srgbClr val="5393FF"/>
      </a:accent2>
      <a:accent3>
        <a:srgbClr val="F1F2FF"/>
      </a:accent3>
      <a:accent4>
        <a:srgbClr val="CED1FF"/>
      </a:accent4>
      <a:accent5>
        <a:srgbClr val="434343"/>
      </a:accent5>
      <a:accent6>
        <a:srgbClr val="E0E0E0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2078</Words>
  <Application>Microsoft Macintosh PowerPoint</Application>
  <PresentationFormat>On-screen Show (16:9)</PresentationFormat>
  <Paragraphs>328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PowerPoint Presentation</vt:lpstr>
      <vt:lpstr>Ordre du jour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Microsoft Office User</cp:lastModifiedBy>
  <cp:revision>65</cp:revision>
  <dcterms:modified xsi:type="dcterms:W3CDTF">2025-11-20T20:07:45Z</dcterms:modified>
</cp:coreProperties>
</file>