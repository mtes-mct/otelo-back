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7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uc bercegol" initials="" lastIdx="1" clrIdx="0"/>
  <p:cmAuthor id="1" name="Kévin Gallet" initials="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782ED91-6AAA-4FC9-A8D7-22FAF3BB82A8}">
  <a:tblStyle styleId="{8782ED91-6AAA-4FC9-A8D7-22FAF3BB82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/>
    <p:restoredTop sz="94687"/>
  </p:normalViewPr>
  <p:slideViewPr>
    <p:cSldViewPr snapToGrid="0">
      <p:cViewPr varScale="1">
        <p:scale>
          <a:sx n="203" d="100"/>
          <a:sy n="203" d="100"/>
        </p:scale>
        <p:origin x="192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5-10-07T22:38:16.276" idx="1">
    <p:pos x="6000" y="0"/>
    <p:text>Comparer les projections des scenarios - potentiellement scenario bas-décélaration // haut-accélération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0-07T13:33:33.704" idx="1">
    <p:pos x="6000" y="0"/>
    <p:text>Reprendre les paramétrage des scenarios choisis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0-07T13:54:53.338" idx="2">
    <p:pos x="6000" y="0"/>
    <p:text>Phase 3 à mettre que si elle existe (en fonction de l'horizon de projection)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44fd065450_0_3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g344fd065450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44fd065450_1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g344fd06545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44fd065450_1_7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g344fd065450_1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44fd065450_1_2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344fd065450_1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44fd065450_1_5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44fd065450_1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851d7b12f9_2_8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851d7b12f9_2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851d7b12f9_2_8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g3851d7b12f9_2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851d7b12f9_2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851d7b12f9_2_10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44fd065450_1_16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g344fd065450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44fd065450_1_24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44fd065450_1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851d7b12f9_2_12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3851d7b12f9_2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44fd065450_1_27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g344fd065450_1_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44fd065450_1_14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44fd065450_1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44fd065450_1_4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g344fd065450_1_4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44fd065450_1_48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44fd065450_1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44fd065450_1_29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g344fd065450_1_2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44fd065450_1_28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g344fd065450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44fd065450_1_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44fd065450_1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44fd065450_1_35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344fd065450_1_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4fd065450_1_6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g344fd065450_1_6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44fd065450_1_62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g344fd065450_1_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44fd065450_1_54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344fd065450_1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44fd065450_1_49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g344fd065450_1_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44fd065450_1_52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g344fd065450_1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44fd065450_1_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344fd065450_1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44fd065450_1_56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g344fd065450_1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24eb1bdc4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g3724eb1bdc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851d7b12f9_2_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g3851d7b12f9_2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2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">
  <p:cSld name="TITLE_AND_BODY_1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body" idx="1"/>
          </p:nvPr>
        </p:nvSpPr>
        <p:spPr>
          <a:xfrm>
            <a:off x="2709800" y="1384950"/>
            <a:ext cx="51252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3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Google Shape;16;p3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25" y="62804"/>
            <a:ext cx="1037625" cy="951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oogle Shape;18;p3"/>
          <p:cNvGrpSpPr/>
          <p:nvPr/>
        </p:nvGrpSpPr>
        <p:grpSpPr>
          <a:xfrm>
            <a:off x="113825" y="1080753"/>
            <a:ext cx="1122300" cy="839400"/>
            <a:chOff x="235775" y="4026900"/>
            <a:chExt cx="1122300" cy="839400"/>
          </a:xfrm>
        </p:grpSpPr>
        <p:sp>
          <p:nvSpPr>
            <p:cNvPr id="19" name="Google Shape;19;p3"/>
            <p:cNvSpPr/>
            <p:nvPr/>
          </p:nvSpPr>
          <p:spPr>
            <a:xfrm>
              <a:off x="235775" y="4026900"/>
              <a:ext cx="1122300" cy="839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rgbClr val="06009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0" name="Google Shape;20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44008" y="4518538"/>
              <a:ext cx="936893" cy="2731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20604" y="4178039"/>
              <a:ext cx="423606" cy="1441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44000" y="4055487"/>
              <a:ext cx="389260" cy="38926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 2">
  <p:cSld name="TITLE_AND_BODY_1_2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5" name="Google Shape;25;p4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6" name="Google Shape;26;p4" descr="Kit logo Cerema | Cerema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571" y="181873"/>
            <a:ext cx="859174" cy="25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4" title="otelo-logo-hd-alternative1.png"/>
          <p:cNvPicPr preferRelativeResize="0"/>
          <p:nvPr/>
        </p:nvPicPr>
        <p:blipFill rotWithShape="1">
          <a:blip r:embed="rId3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2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927125" y="1088825"/>
            <a:ext cx="3632700" cy="25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 rot="10800000">
            <a:off x="4432666" y="1104846"/>
            <a:ext cx="0" cy="259080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686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1646300" y="1088825"/>
            <a:ext cx="2225100" cy="25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900"/>
              <a:buFont typeface="Arial"/>
              <a:buNone/>
              <a:defRPr sz="49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5" name="Google Shape;35;p6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 1">
  <p:cSld name="TITLE_AND_BODY_1_1">
    <p:bg>
      <p:bgPr>
        <a:solidFill>
          <a:schemeClr val="dk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20562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0" name="Google Shape;40;p7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25" y="62804"/>
            <a:ext cx="1037625" cy="951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" name="Google Shape;42;p7"/>
          <p:cNvGrpSpPr/>
          <p:nvPr/>
        </p:nvGrpSpPr>
        <p:grpSpPr>
          <a:xfrm>
            <a:off x="113825" y="1080753"/>
            <a:ext cx="1122300" cy="839400"/>
            <a:chOff x="235775" y="4026900"/>
            <a:chExt cx="1122300" cy="839400"/>
          </a:xfrm>
        </p:grpSpPr>
        <p:sp>
          <p:nvSpPr>
            <p:cNvPr id="43" name="Google Shape;43;p7"/>
            <p:cNvSpPr/>
            <p:nvPr/>
          </p:nvSpPr>
          <p:spPr>
            <a:xfrm>
              <a:off x="235775" y="4026900"/>
              <a:ext cx="1122300" cy="839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rgbClr val="06009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4" name="Google Shape;44;p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44008" y="4518538"/>
              <a:ext cx="936893" cy="2731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Google Shape;45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20604" y="4178039"/>
              <a:ext cx="423606" cy="1441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" name="Google Shape;46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44000" y="4055487"/>
              <a:ext cx="389260" cy="38926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3977641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comments" Target="../comments/commen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zerologementvacant.beta.gouv.fr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oogle Shape;62;p11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" name="Google Shape;63;p11"/>
          <p:cNvSpPr txBox="1">
            <a:spLocks noGrp="1"/>
          </p:cNvSpPr>
          <p:nvPr>
            <p:ph type="body" idx="1"/>
          </p:nvPr>
        </p:nvSpPr>
        <p:spPr>
          <a:xfrm>
            <a:off x="2709800" y="1384625"/>
            <a:ext cx="5125200" cy="231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i="1" dirty="0" err="1"/>
              <a:t>{{documentType}}</a:t>
            </a:r>
            <a:r>
              <a:rPr lang="en-US" sz="2000" dirty="0"/>
              <a:t> {{period}}</a:t>
            </a:r>
            <a:endParaRPr sz="2000" i="1" dirty="0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4294967295"/>
          </p:nvPr>
        </p:nvSpPr>
        <p:spPr>
          <a:xfrm>
            <a:off x="2709800" y="5958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u="sng" dirty="0"/>
              <a:t>EPCI </a:t>
            </a:r>
            <a:r>
              <a:rPr lang="en-US" sz="2400" b="1" i="1" u="sng" dirty="0" err="1"/>
              <a:t>{{selectedEpciName}}</a:t>
            </a:r>
            <a:endParaRPr sz="2400" b="1" i="1" u="sng" dirty="0"/>
          </a:p>
        </p:txBody>
      </p:sp>
      <p:sp>
        <p:nvSpPr>
          <p:cNvPr id="65" name="Google Shape;65;p11"/>
          <p:cNvSpPr txBox="1">
            <a:spLocks noGrp="1"/>
          </p:cNvSpPr>
          <p:nvPr>
            <p:ph type="body" idx="4294967295"/>
          </p:nvPr>
        </p:nvSpPr>
        <p:spPr>
          <a:xfrm>
            <a:off x="2709800" y="1851000"/>
            <a:ext cx="5125200" cy="231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Date : {{date}}</a:t>
            </a:r>
            <a:endParaRPr sz="2000" dirty="0"/>
          </a:p>
        </p:txBody>
      </p:sp>
      <p:grpSp>
        <p:nvGrpSpPr>
          <p:cNvPr id="66" name="Google Shape;66;p11"/>
          <p:cNvGrpSpPr/>
          <p:nvPr/>
        </p:nvGrpSpPr>
        <p:grpSpPr>
          <a:xfrm>
            <a:off x="4724074" y="2622206"/>
            <a:ext cx="3901513" cy="2088553"/>
            <a:chOff x="3078800" y="1741450"/>
            <a:chExt cx="5546650" cy="2969225"/>
          </a:xfrm>
        </p:grpSpPr>
        <p:pic>
          <p:nvPicPr>
            <p:cNvPr id="67" name="Google Shape;67;p11" title="Capture d’écran 2025-07-28 à 11.40.43.png"/>
            <p:cNvPicPr preferRelativeResize="0"/>
            <p:nvPr/>
          </p:nvPicPr>
          <p:blipFill rotWithShape="1">
            <a:blip r:embed="rId3">
              <a:alphaModFix/>
            </a:blip>
            <a:srcRect t="1487"/>
            <a:stretch/>
          </p:blipFill>
          <p:spPr>
            <a:xfrm>
              <a:off x="3078800" y="1818400"/>
              <a:ext cx="5546650" cy="2892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8" name="Google Shape;68;p11"/>
            <p:cNvSpPr/>
            <p:nvPr/>
          </p:nvSpPr>
          <p:spPr>
            <a:xfrm>
              <a:off x="4348825" y="1741450"/>
              <a:ext cx="255600" cy="255600"/>
            </a:xfrm>
            <a:prstGeom prst="ellipse">
              <a:avLst/>
            </a:prstGeom>
            <a:solidFill>
              <a:srgbClr val="000091"/>
            </a:solidFill>
            <a:ln>
              <a:noFill/>
            </a:ln>
          </p:spPr>
          <p:txBody>
            <a:bodyPr spcFirstLastPara="1" wrap="square" lIns="64300" tIns="64300" rIns="64300" bIns="643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84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1"/>
            <p:cNvSpPr/>
            <p:nvPr/>
          </p:nvSpPr>
          <p:spPr>
            <a:xfrm>
              <a:off x="4241450" y="1799158"/>
              <a:ext cx="152400" cy="152400"/>
            </a:xfrm>
            <a:prstGeom prst="ellipse">
              <a:avLst/>
            </a:prstGeom>
            <a:solidFill>
              <a:srgbClr val="000091"/>
            </a:solidFill>
            <a:ln>
              <a:noFill/>
            </a:ln>
          </p:spPr>
          <p:txBody>
            <a:bodyPr spcFirstLastPara="1" wrap="square" lIns="64300" tIns="64300" rIns="64300" bIns="643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84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>
            <a:off x="4928650" y="661950"/>
            <a:ext cx="3632700" cy="3819600"/>
          </a:xfrm>
          <a:prstGeom prst="rect">
            <a:avLst/>
          </a:prstGeom>
          <a:noFill/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</a:pPr>
            <a:r>
              <a:rPr lang="en-US" sz="1600" dirty="0" err="1"/>
              <a:t>Synthèse</a:t>
            </a:r>
            <a:br>
              <a:rPr lang="en-US" sz="1600" dirty="0"/>
            </a:br>
            <a:r>
              <a:rPr lang="en-US" sz="1400" b="0" i="1" dirty="0" err="1"/>
              <a:t>L’essentiel</a:t>
            </a:r>
            <a:r>
              <a:rPr lang="en-US" sz="1400" b="0" i="1" dirty="0"/>
              <a:t> </a:t>
            </a:r>
            <a:r>
              <a:rPr lang="en-US" sz="1400" b="0" i="1" dirty="0" err="1"/>
              <a:t>à</a:t>
            </a:r>
            <a:r>
              <a:rPr lang="en-US" sz="1400" b="0" i="1" dirty="0"/>
              <a:t> </a:t>
            </a:r>
            <a:r>
              <a:rPr lang="en-US" sz="1400" b="0" i="1" dirty="0" err="1"/>
              <a:t>retenir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 err="1"/>
              <a:t>Méthodologie</a:t>
            </a:r>
            <a:r>
              <a:rPr lang="en-US" sz="1600" dirty="0"/>
              <a:t> : </a:t>
            </a:r>
            <a:r>
              <a:rPr lang="en-US" sz="1600" dirty="0" err="1"/>
              <a:t>l'outil</a:t>
            </a:r>
            <a:r>
              <a:rPr lang="en-US" sz="1600" dirty="0"/>
              <a:t> </a:t>
            </a:r>
            <a:r>
              <a:rPr lang="en-US" sz="1600" dirty="0" err="1"/>
              <a:t>Otelo</a:t>
            </a:r>
            <a:br>
              <a:rPr lang="en-US" sz="1600" dirty="0"/>
            </a:br>
            <a:r>
              <a:rPr lang="en-US" sz="1400" b="0" i="1" dirty="0"/>
              <a:t>Comment </a:t>
            </a:r>
            <a:r>
              <a:rPr lang="en-US" sz="1400" b="0" i="1" dirty="0" err="1"/>
              <a:t>sont</a:t>
            </a:r>
            <a:r>
              <a:rPr lang="en-US" sz="1400" b="0" i="1" dirty="0"/>
              <a:t> </a:t>
            </a:r>
            <a:r>
              <a:rPr lang="en-US" sz="1400" b="0" i="1" dirty="0" err="1"/>
              <a:t>calculés</a:t>
            </a:r>
            <a:r>
              <a:rPr lang="en-US" sz="1400" b="0" i="1" dirty="0"/>
              <a:t> </a:t>
            </a:r>
            <a:r>
              <a:rPr lang="en-US" sz="1400" b="0" i="1" dirty="0" err="1"/>
              <a:t>vos</a:t>
            </a:r>
            <a:r>
              <a:rPr lang="en-US" sz="1400" b="0" i="1" dirty="0"/>
              <a:t> </a:t>
            </a:r>
            <a:r>
              <a:rPr lang="en-US" sz="1400" b="0" i="1" dirty="0" err="1"/>
              <a:t>besoins</a:t>
            </a:r>
            <a:r>
              <a:rPr lang="en-US" sz="1400" b="0" i="1" dirty="0"/>
              <a:t> </a:t>
            </a:r>
            <a:r>
              <a:rPr lang="en-US" sz="1400" b="0" i="1" dirty="0" err="1"/>
              <a:t>en</a:t>
            </a:r>
            <a:r>
              <a:rPr lang="en-US" sz="1400" b="0" i="1" dirty="0"/>
              <a:t> </a:t>
            </a:r>
            <a:r>
              <a:rPr lang="en-US" sz="1400" b="0" i="1" dirty="0" err="1"/>
              <a:t>logement</a:t>
            </a:r>
            <a:r>
              <a:rPr lang="en-US" sz="1400" b="0" i="1" dirty="0"/>
              <a:t> ?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/>
              <a:t>Les </a:t>
            </a:r>
            <a:r>
              <a:rPr lang="en-US" sz="1600" dirty="0" err="1"/>
              <a:t>données</a:t>
            </a:r>
            <a:r>
              <a:rPr lang="en-US" sz="1600" dirty="0"/>
              <a:t> de </a:t>
            </a:r>
            <a:r>
              <a:rPr lang="en-US" sz="1600" dirty="0" err="1"/>
              <a:t>cadrage</a:t>
            </a:r>
            <a:br>
              <a:rPr lang="en-US" sz="1600" dirty="0"/>
            </a:br>
            <a:r>
              <a:rPr lang="en-US" sz="1400" b="0" i="1" dirty="0"/>
              <a:t>Quelle </a:t>
            </a:r>
            <a:r>
              <a:rPr lang="en-US" sz="1400" b="0" i="1" dirty="0" err="1"/>
              <a:t>est</a:t>
            </a:r>
            <a:r>
              <a:rPr lang="en-US" sz="1400" b="0" i="1" dirty="0"/>
              <a:t> la </a:t>
            </a:r>
            <a:r>
              <a:rPr lang="en-US" sz="1400" b="0" i="1" dirty="0" err="1"/>
              <a:t>dynamique</a:t>
            </a:r>
            <a:r>
              <a:rPr lang="en-US" sz="1400" b="0" i="1" dirty="0"/>
              <a:t> de </a:t>
            </a:r>
            <a:r>
              <a:rPr lang="en-US" sz="1400" b="0" i="1" dirty="0" err="1"/>
              <a:t>mon</a:t>
            </a:r>
            <a:r>
              <a:rPr lang="en-US" sz="1400" b="0" i="1" dirty="0"/>
              <a:t> </a:t>
            </a:r>
            <a:r>
              <a:rPr lang="en-US" sz="1400" b="0" i="1" dirty="0" err="1"/>
              <a:t>territoire</a:t>
            </a:r>
            <a:r>
              <a:rPr lang="en-US" sz="1400" b="0" i="1" dirty="0"/>
              <a:t> ?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/>
              <a:t>Les</a:t>
            </a:r>
            <a:r>
              <a:rPr lang="en-US" sz="1600" dirty="0" err="1"/>
              <a:t> {{nb}} scénarios</a:t>
            </a:r>
            <a:r>
              <a:rPr lang="en-US" sz="1600" dirty="0"/>
              <a:t> </a:t>
            </a:r>
            <a:r>
              <a:rPr lang="en-US" sz="1600" dirty="0" err="1"/>
              <a:t>étudiés</a:t>
            </a:r>
            <a:br>
              <a:rPr lang="en-US" sz="1600" dirty="0"/>
            </a:br>
            <a:r>
              <a:rPr lang="en-US" sz="1400" b="0" i="1" dirty="0" err="1"/>
              <a:t>Paramètres</a:t>
            </a:r>
            <a:r>
              <a:rPr lang="en-US" sz="1400" b="0" i="1" dirty="0"/>
              <a:t> et </a:t>
            </a:r>
            <a:r>
              <a:rPr lang="en-US" sz="1400" b="0" i="1" dirty="0" err="1"/>
              <a:t>hypothèses</a:t>
            </a:r>
            <a:r>
              <a:rPr lang="en-US" sz="1400" b="0" i="1" dirty="0"/>
              <a:t> </a:t>
            </a:r>
            <a:r>
              <a:rPr lang="en-US" sz="1400" b="0" i="1" dirty="0" err="1"/>
              <a:t>testées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1800"/>
              </a:spcAft>
              <a:buClr>
                <a:schemeClr val="lt1"/>
              </a:buClr>
              <a:buSzPts val="1400"/>
              <a:buNone/>
            </a:pPr>
            <a:r>
              <a:rPr lang="en-US" sz="1600" dirty="0" err="1"/>
              <a:t>Décryptage</a:t>
            </a:r>
            <a:r>
              <a:rPr lang="en-US" sz="1600" dirty="0"/>
              <a:t> et justification du </a:t>
            </a:r>
            <a:r>
              <a:rPr lang="en-US" sz="1600" dirty="0" err="1"/>
              <a:t>scénario</a:t>
            </a:r>
            <a:r>
              <a:rPr lang="en-US" sz="1600" dirty="0"/>
              <a:t> </a:t>
            </a:r>
            <a:r>
              <a:rPr lang="en-US" sz="1600" dirty="0" err="1"/>
              <a:t>privilégié</a:t>
            </a:r>
            <a:br>
              <a:rPr lang="en-US" sz="1600" dirty="0"/>
            </a:br>
            <a:r>
              <a:rPr lang="en-US" sz="1400" b="0" i="1" dirty="0" err="1"/>
              <a:t>Scénario {{privilegedScenario}}</a:t>
            </a:r>
            <a:endParaRPr sz="1400" b="0" i="1" dirty="0"/>
          </a:p>
        </p:txBody>
      </p:sp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>
            <a:off x="1646300" y="1088825"/>
            <a:ext cx="2225100" cy="25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Ordre du jour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Synthèse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 txBox="1"/>
          <p:nvPr/>
        </p:nvSpPr>
        <p:spPr>
          <a:xfrm>
            <a:off x="2333831" y="369174"/>
            <a:ext cx="36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L’essentiel à retenir</a:t>
            </a:r>
            <a:endParaRPr sz="2400" b="1">
              <a:solidFill>
                <a:srgbClr val="262626"/>
              </a:solidFill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2333813" y="1430013"/>
            <a:ext cx="3170100" cy="2738700"/>
          </a:xfrm>
          <a:prstGeom prst="rect">
            <a:avLst/>
          </a:prstGeom>
          <a:solidFill>
            <a:srgbClr val="CED1FF">
              <a:alpha val="27840"/>
            </a:srgbClr>
          </a:solidFill>
          <a:ln>
            <a:noFill/>
          </a:ln>
        </p:spPr>
        <p:txBody>
          <a:bodyPr spcFirstLastPara="1" wrap="square" lIns="45700" tIns="182875" rIns="45700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1" dirty="0">
                <a:solidFill>
                  <a:schemeClr val="dk1"/>
                </a:solidFill>
              </a:rPr>
              <a:t>Sur la </a:t>
            </a:r>
            <a:r>
              <a:rPr lang="en-US" b="1" i="1" dirty="0" err="1">
                <a:solidFill>
                  <a:schemeClr val="dk1"/>
                </a:solidFill>
              </a:rPr>
              <a:t>période</a:t>
            </a:r>
            <a:r>
              <a:rPr lang="en-US" b="1" i="1" dirty="0">
                <a:solidFill>
                  <a:schemeClr val="dk1"/>
                </a:solidFill>
              </a:rPr>
              <a:t> {{start}}-{{end}}</a:t>
            </a:r>
            <a:endParaRPr b="1" i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i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1" dirty="0" err="1">
                <a:solidFill>
                  <a:schemeClr val="dk1"/>
                </a:solidFill>
              </a:rPr>
              <a:t>{{nbSupp}} logements</a:t>
            </a:r>
            <a:r>
              <a:rPr lang="en-US" sz="1200" b="1" i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supplémentaires</a:t>
            </a:r>
            <a:r>
              <a:rPr lang="en-US" sz="1200" b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attendus</a:t>
            </a:r>
            <a:r>
              <a:rPr lang="en-US" sz="1200" b="1" dirty="0">
                <a:solidFill>
                  <a:schemeClr val="dk1"/>
                </a:solidFill>
              </a:rPr>
              <a:t> sur le </a:t>
            </a:r>
            <a:r>
              <a:rPr lang="en-US" sz="1200" b="1" dirty="0" err="1">
                <a:solidFill>
                  <a:schemeClr val="dk1"/>
                </a:solidFill>
              </a:rPr>
              <a:t>territoire</a:t>
            </a:r>
            <a:r>
              <a:rPr lang="en-US" sz="1200" b="1" dirty="0">
                <a:solidFill>
                  <a:schemeClr val="dk1"/>
                </a:solidFill>
              </a:rPr>
              <a:t> :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{{nbNew}}</a:t>
            </a:r>
            <a:r>
              <a:rPr lang="en-US" sz="1100" b="1" dirty="0" err="1">
                <a:solidFill>
                  <a:schemeClr val="dk1"/>
                </a:solidFill>
              </a:rPr>
              <a:t> logements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neufs</a:t>
            </a:r>
            <a:r>
              <a:rPr lang="en-US" sz="1100" dirty="0">
                <a:solidFill>
                  <a:schemeClr val="dk1"/>
                </a:solidFill>
              </a:rPr>
              <a:t> par an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construire</a:t>
            </a:r>
            <a:r>
              <a:rPr lang="en-US" sz="1100" dirty="0">
                <a:solidFill>
                  <a:schemeClr val="dk1"/>
                </a:solidFill>
              </a:rPr>
              <a:t> sur </a:t>
            </a:r>
            <a:r>
              <a:rPr lang="en-US" sz="1100" i="1" dirty="0">
                <a:solidFill>
                  <a:schemeClr val="dk1"/>
                </a:solidFill>
              </a:rPr>
              <a:t>la </a:t>
            </a:r>
            <a:r>
              <a:rPr lang="en-US" sz="1100" i="1" dirty="0" err="1">
                <a:solidFill>
                  <a:schemeClr val="dk1"/>
                </a:solidFill>
              </a:rPr>
              <a:t>période</a:t>
            </a:r>
            <a:r>
              <a:rPr lang="en-US" sz="1100" i="1" dirty="0">
                <a:solidFill>
                  <a:schemeClr val="dk1"/>
                </a:solidFill>
              </a:rPr>
              <a:t>.</a:t>
            </a:r>
            <a:endParaRPr sz="1100" i="1" dirty="0">
              <a:solidFill>
                <a:schemeClr val="dk1"/>
              </a:solidFill>
            </a:endParaRPr>
          </a:p>
          <a:p>
            <a:pPr marL="0" marR="148107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i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 err="1">
                <a:solidFill>
                  <a:schemeClr val="dk1"/>
                </a:solidFill>
              </a:rPr>
              <a:t>{{nb}} logements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mobiliser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partir</a:t>
            </a:r>
            <a:r>
              <a:rPr lang="en-US" sz="1100" dirty="0">
                <a:solidFill>
                  <a:schemeClr val="dk1"/>
                </a:solidFill>
              </a:rPr>
              <a:t> du parc </a:t>
            </a:r>
            <a:r>
              <a:rPr lang="en-US" sz="1100" dirty="0" err="1">
                <a:solidFill>
                  <a:schemeClr val="dk1"/>
                </a:solidFill>
              </a:rPr>
              <a:t>existant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/>
          </a:p>
        </p:txBody>
      </p:sp>
      <p:sp>
        <p:nvSpPr>
          <p:cNvPr id="87" name="Google Shape;87;p14"/>
          <p:cNvSpPr txBox="1"/>
          <p:nvPr/>
        </p:nvSpPr>
        <p:spPr>
          <a:xfrm>
            <a:off x="2333825" y="946500"/>
            <a:ext cx="3170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b="1">
                <a:solidFill>
                  <a:schemeClr val="dk2"/>
                </a:solidFill>
              </a:rPr>
              <a:t>Le besoin en logements supplémentaires</a:t>
            </a:r>
            <a:endParaRPr>
              <a:solidFill>
                <a:srgbClr val="060091"/>
              </a:solidFill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5702150" y="1054200"/>
            <a:ext cx="3170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b="1">
                <a:solidFill>
                  <a:schemeClr val="dk2"/>
                </a:solidFill>
              </a:rPr>
              <a:t>Pourquoi ces besoins ?</a:t>
            </a:r>
            <a:endParaRPr>
              <a:solidFill>
                <a:srgbClr val="060091"/>
              </a:solidFill>
            </a:endParaRPr>
          </a:p>
        </p:txBody>
      </p:sp>
      <p:sp>
        <p:nvSpPr>
          <p:cNvPr id="89" name="Google Shape;89;p14"/>
          <p:cNvSpPr/>
          <p:nvPr/>
        </p:nvSpPr>
        <p:spPr>
          <a:xfrm>
            <a:off x="5702150" y="1430013"/>
            <a:ext cx="3170100" cy="2738700"/>
          </a:xfrm>
          <a:prstGeom prst="rect">
            <a:avLst/>
          </a:prstGeom>
          <a:solidFill>
            <a:srgbClr val="CED1FF">
              <a:alpha val="27840"/>
            </a:srgbClr>
          </a:solidFill>
          <a:ln>
            <a:noFill/>
          </a:ln>
        </p:spPr>
        <p:txBody>
          <a:bodyPr spcFirstLastPara="1" wrap="square" lIns="45700" tIns="182875" rIns="45700" bIns="45700" anchor="ctr" anchorCtr="0">
            <a:noAutofit/>
          </a:bodyPr>
          <a:lstStyle/>
          <a:p>
            <a:pPr marL="342900" marR="148107" lvl="0" indent="-2413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{{percentMenages}}</a:t>
            </a:r>
            <a:r>
              <a:rPr lang="en-US" sz="1100" b="1" i="1" dirty="0">
                <a:solidFill>
                  <a:schemeClr val="dk1"/>
                </a:solidFill>
              </a:rPr>
              <a:t>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à</a:t>
            </a:r>
            <a:r>
              <a:rPr lang="en-US" sz="1100" b="1" dirty="0">
                <a:solidFill>
                  <a:schemeClr val="dk1"/>
                </a:solidFill>
              </a:rPr>
              <a:t> la </a:t>
            </a:r>
            <a:r>
              <a:rPr lang="en-US" sz="1100" b="1" dirty="0" err="1">
                <a:solidFill>
                  <a:schemeClr val="dk1"/>
                </a:solidFill>
              </a:rPr>
              <a:t>croissance</a:t>
            </a:r>
            <a:r>
              <a:rPr lang="en-US" sz="1100" b="1" dirty="0">
                <a:solidFill>
                  <a:schemeClr val="dk1"/>
                </a:solidFill>
              </a:rPr>
              <a:t> du </a:t>
            </a:r>
            <a:r>
              <a:rPr lang="en-US" sz="1100" b="1" dirty="0" err="1">
                <a:solidFill>
                  <a:schemeClr val="dk1"/>
                </a:solidFill>
              </a:rPr>
              <a:t>nombre</a:t>
            </a:r>
            <a:r>
              <a:rPr lang="en-US" sz="1100" b="1" dirty="0">
                <a:solidFill>
                  <a:schemeClr val="dk1"/>
                </a:solidFill>
              </a:rPr>
              <a:t> de ménages </a:t>
            </a:r>
            <a:r>
              <a:rPr lang="en-US" sz="1100" dirty="0">
                <a:solidFill>
                  <a:schemeClr val="dk1"/>
                </a:solidFill>
              </a:rPr>
              <a:t>(</a:t>
            </a:r>
            <a:r>
              <a:rPr lang="en-US" sz="1100" i="1" dirty="0" err="1">
                <a:solidFill>
                  <a:schemeClr val="dk1"/>
                </a:solidFill>
              </a:rPr>
              <a:t>{{nbMenages}}</a:t>
            </a:r>
            <a:r>
              <a:rPr lang="en-US" sz="1100" i="1" dirty="0">
                <a:solidFill>
                  <a:schemeClr val="dk1"/>
                </a:solidFill>
              </a:rPr>
              <a:t> ménages </a:t>
            </a:r>
            <a:r>
              <a:rPr lang="en-US" sz="1100" dirty="0" err="1">
                <a:solidFill>
                  <a:schemeClr val="dk1"/>
                </a:solidFill>
              </a:rPr>
              <a:t>attendus</a:t>
            </a:r>
            <a:r>
              <a:rPr lang="en-US" sz="1100" dirty="0">
                <a:solidFill>
                  <a:schemeClr val="dk1"/>
                </a:solidFill>
              </a:rPr>
              <a:t>).</a:t>
            </a:r>
            <a:endParaRPr sz="1100" dirty="0">
              <a:solidFill>
                <a:schemeClr val="dk1"/>
              </a:solidFill>
            </a:endParaRPr>
          </a:p>
          <a:p>
            <a:pPr marL="0" marR="148107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{{percentBadHousing}}</a:t>
            </a:r>
            <a:r>
              <a:rPr lang="en-US" sz="1100" b="1" i="1" dirty="0">
                <a:solidFill>
                  <a:schemeClr val="dk1"/>
                </a:solidFill>
              </a:rPr>
              <a:t>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au mal-</a:t>
            </a:r>
            <a:r>
              <a:rPr lang="en-US" sz="1100" b="1" dirty="0" err="1">
                <a:solidFill>
                  <a:schemeClr val="dk1"/>
                </a:solidFill>
              </a:rPr>
              <a:t>logement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résorption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i="1" dirty="0" err="1">
                <a:solidFill>
                  <a:schemeClr val="dk1"/>
                </a:solidFill>
              </a:rPr>
              <a:t>{{nbResorption}}</a:t>
            </a:r>
            <a:r>
              <a:rPr lang="en-US" sz="1100" i="1" dirty="0">
                <a:solidFill>
                  <a:schemeClr val="dk1"/>
                </a:solidFill>
              </a:rPr>
              <a:t> situations de mal-</a:t>
            </a:r>
            <a:r>
              <a:rPr lang="en-US" sz="1100" i="1" dirty="0" err="1">
                <a:solidFill>
                  <a:schemeClr val="dk1"/>
                </a:solidFill>
              </a:rPr>
              <a:t>logement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d’ici {{peakYear}}</a:t>
            </a:r>
            <a:r>
              <a:rPr lang="en-US" sz="1100" i="1" dirty="0">
                <a:solidFill>
                  <a:schemeClr val="dk1"/>
                </a:solidFill>
              </a:rPr>
              <a:t>.</a:t>
            </a:r>
            <a:endParaRPr sz="1100" i="1" dirty="0">
              <a:solidFill>
                <a:schemeClr val="dk1"/>
              </a:solidFill>
            </a:endParaRPr>
          </a:p>
          <a:p>
            <a:pPr marL="0" marR="148107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i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>
                <a:solidFill>
                  <a:schemeClr val="dk1"/>
                </a:solidFill>
              </a:rPr>
              <a:t>{{percentFluidity}}%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à</a:t>
            </a:r>
            <a:r>
              <a:rPr lang="en-US" sz="1100" b="1" dirty="0">
                <a:solidFill>
                  <a:schemeClr val="dk1"/>
                </a:solidFill>
              </a:rPr>
              <a:t> la </a:t>
            </a:r>
            <a:r>
              <a:rPr lang="en-US" sz="1100" b="1" dirty="0" err="1">
                <a:solidFill>
                  <a:schemeClr val="dk1"/>
                </a:solidFill>
              </a:rPr>
              <a:t>fluidité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maintien</a:t>
            </a:r>
            <a:r>
              <a:rPr lang="en-US" sz="1100" dirty="0">
                <a:solidFill>
                  <a:schemeClr val="dk1"/>
                </a:solidFill>
              </a:rPr>
              <a:t> d'un </a:t>
            </a:r>
            <a:r>
              <a:rPr lang="en-US" sz="1100" dirty="0" err="1">
                <a:solidFill>
                  <a:schemeClr val="dk1"/>
                </a:solidFill>
              </a:rPr>
              <a:t>marché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équilibré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90" name="Google Shape;90;p14"/>
          <p:cNvSpPr/>
          <p:nvPr/>
        </p:nvSpPr>
        <p:spPr>
          <a:xfrm>
            <a:off x="2600325" y="4236750"/>
            <a:ext cx="6267300" cy="7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450" tIns="26450" rIns="26450" bIns="2645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dirty="0">
                <a:solidFill>
                  <a:schemeClr val="dk1"/>
                </a:solidFill>
              </a:rPr>
              <a:t>💡Le </a:t>
            </a:r>
            <a:r>
              <a:rPr lang="en-US" sz="1200" b="1" dirty="0" err="1">
                <a:solidFill>
                  <a:schemeClr val="dk1"/>
                </a:solidFill>
              </a:rPr>
              <a:t>scénario</a:t>
            </a:r>
            <a:r>
              <a:rPr lang="en-US" sz="1200" b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recommandé</a:t>
            </a:r>
            <a:r>
              <a:rPr lang="en-US" sz="1200" b="1" dirty="0">
                <a:solidFill>
                  <a:schemeClr val="dk1"/>
                </a:solidFill>
              </a:rPr>
              <a:t> : "🟣</a:t>
            </a:r>
            <a:r>
              <a:rPr lang="en-US" sz="1200" b="1" dirty="0" err="1">
                <a:solidFill>
                  <a:schemeClr val="dk1"/>
                </a:solidFill>
              </a:rPr>
              <a:t> {{privilegedScenario}}</a:t>
            </a:r>
            <a:r>
              <a:rPr lang="en-US" sz="1200" b="1" dirty="0">
                <a:solidFill>
                  <a:schemeClr val="dk1"/>
                </a:solidFill>
              </a:rPr>
              <a:t>"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i="1" dirty="0">
                <a:solidFill>
                  <a:schemeClr val="dk1"/>
                </a:solidFill>
              </a:rPr>
              <a:t>jeu de </a:t>
            </a:r>
            <a:r>
              <a:rPr lang="en-US" sz="1100" i="1" dirty="0" err="1">
                <a:solidFill>
                  <a:schemeClr val="dk1"/>
                </a:solidFill>
              </a:rPr>
              <a:t>paramètres</a:t>
            </a:r>
            <a:r>
              <a:rPr lang="en-US" sz="1100" i="1" dirty="0">
                <a:solidFill>
                  <a:schemeClr val="dk1"/>
                </a:solidFill>
              </a:rPr>
              <a:t> </a:t>
            </a:r>
            <a:r>
              <a:rPr lang="en-US" sz="1100" i="1" dirty="0" err="1">
                <a:solidFill>
                  <a:schemeClr val="dk1"/>
                </a:solidFill>
              </a:rPr>
              <a:t>retenu</a:t>
            </a:r>
            <a:r>
              <a:rPr lang="en-US" sz="1100" i="1" dirty="0">
                <a:solidFill>
                  <a:schemeClr val="dk1"/>
                </a:solidFill>
              </a:rPr>
              <a:t> par </a:t>
            </a:r>
            <a:r>
              <a:rPr lang="en-US" sz="1100" i="1" dirty="0" err="1">
                <a:solidFill>
                  <a:schemeClr val="dk1"/>
                </a:solidFill>
              </a:rPr>
              <a:t>{{orgName}}</a:t>
            </a:r>
            <a:endParaRPr sz="405" dirty="0">
              <a:solidFill>
                <a:srgbClr val="CED1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E21772DC-88F2-207E-2A88-1BE235EE6CEB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02820A7-A4EF-4C14-464B-B29F8DE1C386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 {{layoutStart}} - {{layoutEnd}}</a:t>
            </a:r>
            <a:r>
              <a:rPr lang="en-US" sz="1100" dirty="0"/>
              <a:t> pour le</a:t>
            </a:r>
            <a:r>
              <a:rPr lang="en-US" sz="1100" dirty="0" err="1"/>
              <a:t>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1. Méthodologie : l’outil Otelo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/>
        </p:nvSpPr>
        <p:spPr>
          <a:xfrm>
            <a:off x="2370696" y="369175"/>
            <a:ext cx="623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L’outil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Otelo</a:t>
            </a:r>
            <a:r>
              <a:rPr lang="en-US" sz="2400" b="1" dirty="0">
                <a:solidFill>
                  <a:srgbClr val="262626"/>
                </a:solidFill>
              </a:rPr>
              <a:t> pour </a:t>
            </a:r>
            <a:r>
              <a:rPr lang="en-US" sz="2400" b="1">
                <a:solidFill>
                  <a:srgbClr val="262626"/>
                </a:solidFill>
              </a:rPr>
              <a:t>{{territory}}</a:t>
            </a:r>
            <a:endParaRPr sz="2400" b="1" dirty="0">
              <a:solidFill>
                <a:srgbClr val="262626"/>
              </a:solidFill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2076525" y="2134450"/>
            <a:ext cx="6712500" cy="2828100"/>
          </a:xfrm>
          <a:prstGeom prst="rect">
            <a:avLst/>
          </a:prstGeom>
          <a:solidFill>
            <a:srgbClr val="696AF5"/>
          </a:solidFill>
          <a:ln>
            <a:noFill/>
          </a:ln>
        </p:spPr>
        <p:txBody>
          <a:bodyPr spcFirstLastPara="1" wrap="square" lIns="79675" tIns="79675" rIns="79675" bIns="796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20"/>
              <a:buFont typeface="Arial"/>
              <a:buNone/>
            </a:pPr>
            <a:endParaRPr sz="122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" name="Google Shape;104;p16"/>
          <p:cNvGrpSpPr/>
          <p:nvPr/>
        </p:nvGrpSpPr>
        <p:grpSpPr>
          <a:xfrm>
            <a:off x="2991715" y="1799407"/>
            <a:ext cx="475363" cy="475176"/>
            <a:chOff x="3912667" y="4991665"/>
            <a:chExt cx="1869300" cy="1869300"/>
          </a:xfrm>
        </p:grpSpPr>
        <p:sp>
          <p:nvSpPr>
            <p:cNvPr id="105" name="Google Shape;105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7" name="Google Shape;107;p16"/>
          <p:cNvGrpSpPr/>
          <p:nvPr/>
        </p:nvGrpSpPr>
        <p:grpSpPr>
          <a:xfrm>
            <a:off x="5248063" y="1799407"/>
            <a:ext cx="475363" cy="475176"/>
            <a:chOff x="3912667" y="4991665"/>
            <a:chExt cx="1869300" cy="1869300"/>
          </a:xfrm>
        </p:grpSpPr>
        <p:sp>
          <p:nvSpPr>
            <p:cNvPr id="108" name="Google Shape;108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" name="Google Shape;110;p16"/>
          <p:cNvGrpSpPr/>
          <p:nvPr/>
        </p:nvGrpSpPr>
        <p:grpSpPr>
          <a:xfrm>
            <a:off x="7504411" y="1799407"/>
            <a:ext cx="475363" cy="475176"/>
            <a:chOff x="3912667" y="4991665"/>
            <a:chExt cx="1869300" cy="1869300"/>
          </a:xfrm>
        </p:grpSpPr>
        <p:sp>
          <p:nvSpPr>
            <p:cNvPr id="111" name="Google Shape;111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3" name="Google Shape;113;p16"/>
          <p:cNvSpPr txBox="1"/>
          <p:nvPr/>
        </p:nvSpPr>
        <p:spPr>
          <a:xfrm>
            <a:off x="4491500" y="236427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None/>
            </a:pPr>
            <a:r>
              <a:rPr lang="en-US" sz="1220" b="1" u="sng" dirty="0">
                <a:solidFill>
                  <a:schemeClr val="lt1"/>
                </a:solidFill>
              </a:rPr>
              <a:t>Vos </a:t>
            </a:r>
            <a:r>
              <a:rPr lang="en-US" sz="1220" b="1" u="sng" dirty="0" err="1">
                <a:solidFill>
                  <a:schemeClr val="lt1"/>
                </a:solidFill>
              </a:rPr>
              <a:t>paramètres</a:t>
            </a:r>
            <a:r>
              <a:rPr lang="en-US" sz="1220" b="1" u="sng" dirty="0">
                <a:solidFill>
                  <a:schemeClr val="lt1"/>
                </a:solidFill>
              </a:rPr>
              <a:t> </a:t>
            </a:r>
            <a:endParaRPr sz="1220" b="1" u="sng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None/>
            </a:pPr>
            <a:endParaRPr sz="820" b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 err="1">
                <a:solidFill>
                  <a:schemeClr val="lt1"/>
                </a:solidFill>
              </a:rPr>
              <a:t>Évolution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en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nombre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d’habitants</a:t>
            </a:r>
            <a:r>
              <a:rPr lang="en-US" sz="1000" dirty="0">
                <a:solidFill>
                  <a:schemeClr val="lt1"/>
                </a:solidFill>
              </a:rPr>
              <a:t> et de ménages</a:t>
            </a:r>
            <a:endParaRPr sz="1000" i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>
                <a:solidFill>
                  <a:schemeClr val="lt1"/>
                </a:solidFill>
              </a:rPr>
              <a:t>Un </a:t>
            </a:r>
            <a:r>
              <a:rPr lang="en-US" sz="1000" dirty="0" err="1">
                <a:solidFill>
                  <a:schemeClr val="lt1"/>
                </a:solidFill>
              </a:rPr>
              <a:t>objectif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réduction</a:t>
            </a:r>
            <a:r>
              <a:rPr lang="en-US" sz="1000" dirty="0">
                <a:solidFill>
                  <a:schemeClr val="lt1"/>
                </a:solidFill>
              </a:rPr>
              <a:t> de la part des </a:t>
            </a:r>
            <a:r>
              <a:rPr lang="en-US" sz="1000" dirty="0" err="1">
                <a:solidFill>
                  <a:schemeClr val="lt1"/>
                </a:solidFill>
              </a:rPr>
              <a:t>logements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vacants</a:t>
            </a:r>
            <a:r>
              <a:rPr lang="en-US" sz="1000" dirty="0">
                <a:solidFill>
                  <a:schemeClr val="lt1"/>
                </a:solidFill>
              </a:rPr>
              <a:t> de plus de 2 ans.</a:t>
            </a:r>
            <a:endParaRPr sz="1000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>
                <a:solidFill>
                  <a:schemeClr val="lt1"/>
                </a:solidFill>
              </a:rPr>
              <a:t>Un </a:t>
            </a:r>
            <a:r>
              <a:rPr lang="en-US" sz="1000" dirty="0" err="1">
                <a:solidFill>
                  <a:schemeClr val="lt1"/>
                </a:solidFill>
              </a:rPr>
              <a:t>objectif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taux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résidences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secondaires</a:t>
            </a:r>
            <a:r>
              <a:rPr lang="en-US" sz="1000" dirty="0">
                <a:solidFill>
                  <a:schemeClr val="lt1"/>
                </a:solidFill>
              </a:rPr>
              <a:t>.</a:t>
            </a:r>
            <a:endParaRPr sz="1000" i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523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 err="1">
                <a:solidFill>
                  <a:schemeClr val="lt1"/>
                </a:solidFill>
              </a:rPr>
              <a:t>Résorption</a:t>
            </a:r>
            <a:r>
              <a:rPr lang="en-US" sz="1000" dirty="0">
                <a:solidFill>
                  <a:schemeClr val="lt1"/>
                </a:solidFill>
              </a:rPr>
              <a:t> du mal-</a:t>
            </a:r>
            <a:r>
              <a:rPr lang="en-US" sz="1000" dirty="0" err="1">
                <a:solidFill>
                  <a:schemeClr val="lt1"/>
                </a:solidFill>
              </a:rPr>
              <a:t>logement</a:t>
            </a:r>
            <a:r>
              <a:rPr lang="en-US" sz="1000" dirty="0">
                <a:solidFill>
                  <a:schemeClr val="lt1"/>
                </a:solidFill>
              </a:rPr>
              <a:t>.</a:t>
            </a:r>
            <a:endParaRPr sz="1220" b="1" i="1" dirty="0">
              <a:solidFill>
                <a:srgbClr val="FFFFFF"/>
              </a:solidFill>
            </a:endParaRPr>
          </a:p>
        </p:txBody>
      </p:sp>
      <p:cxnSp>
        <p:nvCxnSpPr>
          <p:cNvPr id="114" name="Google Shape;114;p16"/>
          <p:cNvCxnSpPr/>
          <p:nvPr/>
        </p:nvCxnSpPr>
        <p:spPr>
          <a:xfrm>
            <a:off x="4306025" y="2474226"/>
            <a:ext cx="0" cy="2307000"/>
          </a:xfrm>
          <a:prstGeom prst="straightConnector1">
            <a:avLst/>
          </a:prstGeom>
          <a:noFill/>
          <a:ln w="83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5" name="Google Shape;115;p16"/>
          <p:cNvSpPr txBox="1"/>
          <p:nvPr/>
        </p:nvSpPr>
        <p:spPr>
          <a:xfrm>
            <a:off x="6744900" y="236427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r>
              <a:rPr lang="en-US" sz="1220" b="1" u="sng">
                <a:solidFill>
                  <a:srgbClr val="FFFFFF"/>
                </a:solidFill>
              </a:rPr>
              <a:t>Les résultats d’Otelo</a:t>
            </a:r>
            <a:endParaRPr sz="1220" b="1" u="sng">
              <a:solidFill>
                <a:srgbClr val="FFFFFF"/>
              </a:solidFill>
            </a:endParaRPr>
          </a:p>
          <a:p>
            <a:pPr marL="0" lvl="0" indent="0" algn="just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endParaRPr sz="820" b="1">
              <a:solidFill>
                <a:srgbClr val="FFFFFF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b="1">
                <a:solidFill>
                  <a:schemeClr val="lt1"/>
                </a:solidFill>
              </a:rPr>
              <a:t>Besoins en logements supplémentaires :</a:t>
            </a:r>
            <a:endParaRPr sz="1000" b="1">
              <a:solidFill>
                <a:schemeClr val="lt1"/>
              </a:solidFill>
            </a:endParaRPr>
          </a:p>
          <a:p>
            <a:pPr marL="228600" lvl="1" indent="-120650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◆"/>
            </a:pPr>
            <a:r>
              <a:rPr lang="en-US" sz="1000">
                <a:solidFill>
                  <a:schemeClr val="lt1"/>
                </a:solidFill>
              </a:rPr>
              <a:t>Nombre de </a:t>
            </a:r>
            <a:r>
              <a:rPr lang="en-US" sz="1000" b="1">
                <a:solidFill>
                  <a:schemeClr val="lt1"/>
                </a:solidFill>
              </a:rPr>
              <a:t>constructions neuves</a:t>
            </a:r>
            <a:r>
              <a:rPr lang="en-US" sz="1000">
                <a:solidFill>
                  <a:schemeClr val="lt1"/>
                </a:solidFill>
              </a:rPr>
              <a:t> nécessaires.</a:t>
            </a:r>
            <a:endParaRPr sz="1000">
              <a:solidFill>
                <a:schemeClr val="lt1"/>
              </a:solidFill>
            </a:endParaRPr>
          </a:p>
          <a:p>
            <a:pPr marL="228600" lvl="1" indent="-120650" algn="l" rtl="0">
              <a:spcBef>
                <a:spcPts val="523"/>
              </a:spcBef>
              <a:spcAft>
                <a:spcPts val="523"/>
              </a:spcAft>
              <a:buClr>
                <a:schemeClr val="lt1"/>
              </a:buClr>
              <a:buSzPts val="1000"/>
              <a:buChar char="◆"/>
            </a:pPr>
            <a:r>
              <a:rPr lang="en-US" sz="1000">
                <a:solidFill>
                  <a:schemeClr val="lt1"/>
                </a:solidFill>
              </a:rPr>
              <a:t>Nombre de </a:t>
            </a:r>
            <a:r>
              <a:rPr lang="en-US" sz="1000" b="1">
                <a:solidFill>
                  <a:schemeClr val="lt1"/>
                </a:solidFill>
              </a:rPr>
              <a:t>logements vacants à remettre sur le marché</a:t>
            </a:r>
            <a:r>
              <a:rPr lang="en-US" sz="1000">
                <a:solidFill>
                  <a:schemeClr val="lt1"/>
                </a:solidFill>
              </a:rPr>
              <a:t>.</a:t>
            </a:r>
            <a:endParaRPr sz="1000">
              <a:solidFill>
                <a:srgbClr val="FFFFFF"/>
              </a:solidFill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2370700" y="1113213"/>
            <a:ext cx="62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Otelo est un </a:t>
            </a:r>
            <a:r>
              <a:rPr lang="en-US" sz="1200" b="1">
                <a:solidFill>
                  <a:schemeClr val="dk1"/>
                </a:solidFill>
              </a:rPr>
              <a:t>outil numérique d'aide à la décision </a:t>
            </a:r>
            <a:r>
              <a:rPr lang="en-US" sz="1200">
                <a:solidFill>
                  <a:schemeClr val="dk1"/>
                </a:solidFill>
              </a:rPr>
              <a:t>développé par la DGALN et le Cerema. Il permet </a:t>
            </a:r>
            <a:r>
              <a:rPr lang="en-US" sz="1200" b="1">
                <a:solidFill>
                  <a:schemeClr val="dk1"/>
                </a:solidFill>
              </a:rPr>
              <a:t>d’estimer précisément les besoins en logement des collectivités </a:t>
            </a:r>
            <a:r>
              <a:rPr lang="en-US" sz="1200">
                <a:solidFill>
                  <a:schemeClr val="dk1"/>
                </a:solidFill>
              </a:rPr>
              <a:t>afin de prendre des décisions éclairées en matière d’aménagement du
                                territoire.</a:t>
            </a:r>
            <a:endParaRPr sz="1200"/>
          </a:p>
        </p:txBody>
      </p:sp>
      <p:sp>
        <p:nvSpPr>
          <p:cNvPr id="117" name="Google Shape;117;p16"/>
          <p:cNvSpPr txBox="1"/>
          <p:nvPr/>
        </p:nvSpPr>
        <p:spPr>
          <a:xfrm>
            <a:off x="2238050" y="236422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r>
              <a:rPr lang="en-US" sz="1220" b="1" u="sng" dirty="0">
                <a:solidFill>
                  <a:srgbClr val="FFFFFF"/>
                </a:solidFill>
              </a:rPr>
              <a:t>La </a:t>
            </a:r>
            <a:r>
              <a:rPr lang="en-US" sz="1220" b="1" u="sng" dirty="0" err="1">
                <a:solidFill>
                  <a:srgbClr val="FFFFFF"/>
                </a:solidFill>
              </a:rPr>
              <a:t>méthode</a:t>
            </a:r>
            <a:r>
              <a:rPr lang="en-US" sz="1220" b="1" u="sng" dirty="0">
                <a:solidFill>
                  <a:srgbClr val="FFFFFF"/>
                </a:solidFill>
              </a:rPr>
              <a:t> de </a:t>
            </a:r>
            <a:r>
              <a:rPr lang="en-US" sz="1220" b="1" u="sng" dirty="0" err="1">
                <a:solidFill>
                  <a:srgbClr val="FFFFFF"/>
                </a:solidFill>
              </a:rPr>
              <a:t>calcul</a:t>
            </a:r>
            <a:endParaRPr sz="1220" b="1" u="sng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endParaRPr sz="820" b="1" dirty="0">
              <a:solidFill>
                <a:srgbClr val="FFFFFF"/>
              </a:solidFill>
            </a:endParaRPr>
          </a:p>
          <a:p>
            <a:pPr marL="78433" marR="0" lvl="0" indent="-138209" algn="l" rtl="0">
              <a:lnSpc>
                <a:spcPct val="100000"/>
              </a:lnSpc>
              <a:spcBef>
                <a:spcPts val="523"/>
              </a:spcBef>
              <a:spcAft>
                <a:spcPts val="0"/>
              </a:spcAft>
              <a:buClr>
                <a:srgbClr val="FFFFFF"/>
              </a:buClr>
              <a:buSzPts val="1000"/>
              <a:buChar char="➔"/>
            </a:pPr>
            <a:r>
              <a:rPr lang="en-US" sz="1000" b="1" dirty="0" err="1">
                <a:solidFill>
                  <a:srgbClr val="FFFFFF"/>
                </a:solidFill>
              </a:rPr>
              <a:t>Otelo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analyse</a:t>
            </a:r>
            <a:r>
              <a:rPr lang="en-US" sz="1000" b="1" dirty="0">
                <a:solidFill>
                  <a:srgbClr val="FFFFFF"/>
                </a:solidFill>
              </a:rPr>
              <a:t> 2 types de </a:t>
            </a: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complémentaires</a:t>
            </a:r>
            <a:r>
              <a:rPr lang="en-US" sz="1000" b="1" dirty="0">
                <a:solidFill>
                  <a:srgbClr val="FFFFFF"/>
                </a:solidFill>
              </a:rPr>
              <a:t> :</a:t>
            </a:r>
            <a:endParaRPr sz="1000" b="1" dirty="0">
              <a:solidFill>
                <a:srgbClr val="FFFFFF"/>
              </a:solidFill>
            </a:endParaRPr>
          </a:p>
          <a:p>
            <a:pPr marL="228600" marR="0" lvl="1" indent="-120650" algn="l" rtl="0">
              <a:lnSpc>
                <a:spcPct val="100000"/>
              </a:lnSpc>
              <a:spcBef>
                <a:spcPts val="523"/>
              </a:spcBef>
              <a:spcAft>
                <a:spcPts val="0"/>
              </a:spcAft>
              <a:buClr>
                <a:srgbClr val="FFFFFF"/>
              </a:buClr>
              <a:buSzPts val="1000"/>
              <a:buChar char="◆"/>
            </a:pP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futurs</a:t>
            </a:r>
            <a:r>
              <a:rPr lang="en-US" sz="1000" dirty="0">
                <a:solidFill>
                  <a:srgbClr val="FFFFFF"/>
                </a:solidFill>
              </a:rPr>
              <a:t> : </a:t>
            </a:r>
            <a:r>
              <a:rPr lang="en-US" sz="1000" dirty="0" err="1">
                <a:solidFill>
                  <a:srgbClr val="FFFFFF"/>
                </a:solidFill>
              </a:rPr>
              <a:t>logements</a:t>
            </a:r>
            <a:r>
              <a:rPr lang="en-US" sz="1000" dirty="0">
                <a:solidFill>
                  <a:srgbClr val="FFFFFF"/>
                </a:solidFill>
              </a:rPr>
              <a:t> pour les nouveaux ménages qui </a:t>
            </a:r>
            <a:r>
              <a:rPr lang="en-US" sz="1000" dirty="0" err="1">
                <a:solidFill>
                  <a:srgbClr val="FFFFFF"/>
                </a:solidFill>
              </a:rPr>
              <a:t>vont</a:t>
            </a:r>
            <a:r>
              <a:rPr lang="en-US" sz="1000" dirty="0">
                <a:solidFill>
                  <a:srgbClr val="FFFFFF"/>
                </a:solidFill>
              </a:rPr>
              <a:t> se former.</a:t>
            </a:r>
            <a:endParaRPr sz="1000" dirty="0">
              <a:solidFill>
                <a:srgbClr val="FFFFFF"/>
              </a:solidFill>
            </a:endParaRPr>
          </a:p>
          <a:p>
            <a:pPr marL="228600" marR="0" lvl="1" indent="-120650" algn="l" rtl="0">
              <a:lnSpc>
                <a:spcPct val="100000"/>
              </a:lnSpc>
              <a:spcBef>
                <a:spcPts val="523"/>
              </a:spcBef>
              <a:spcAft>
                <a:spcPts val="523"/>
              </a:spcAft>
              <a:buClr>
                <a:srgbClr val="FFFFFF"/>
              </a:buClr>
              <a:buSzPts val="1000"/>
              <a:buChar char="◆"/>
            </a:pP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actuels</a:t>
            </a:r>
            <a:r>
              <a:rPr lang="en-US" sz="1000" dirty="0">
                <a:solidFill>
                  <a:srgbClr val="FFFFFF"/>
                </a:solidFill>
              </a:rPr>
              <a:t> : </a:t>
            </a:r>
            <a:r>
              <a:rPr lang="en-US" sz="1000" dirty="0" err="1">
                <a:solidFill>
                  <a:srgbClr val="FFFFFF"/>
                </a:solidFill>
              </a:rPr>
              <a:t>logements</a:t>
            </a:r>
            <a:r>
              <a:rPr lang="en-US" sz="1000" dirty="0">
                <a:solidFill>
                  <a:srgbClr val="FFFFFF"/>
                </a:solidFill>
              </a:rPr>
              <a:t> pour </a:t>
            </a:r>
            <a:r>
              <a:rPr lang="en-US" sz="1000" dirty="0" err="1">
                <a:solidFill>
                  <a:srgbClr val="FFFFFF"/>
                </a:solidFill>
              </a:rPr>
              <a:t>résoudre</a:t>
            </a:r>
            <a:r>
              <a:rPr lang="en-US" sz="1000" dirty="0">
                <a:solidFill>
                  <a:srgbClr val="FFFFFF"/>
                </a:solidFill>
              </a:rPr>
              <a:t> les situations de mal-</a:t>
            </a:r>
            <a:r>
              <a:rPr lang="en-US" sz="1000" dirty="0" err="1">
                <a:solidFill>
                  <a:srgbClr val="FFFFFF"/>
                </a:solidFill>
              </a:rPr>
              <a:t>logement</a:t>
            </a:r>
            <a:r>
              <a:rPr lang="en-US" sz="1000" dirty="0">
                <a:solidFill>
                  <a:srgbClr val="FFFFFF"/>
                </a:solidFill>
              </a:rPr>
              <a:t> </a:t>
            </a:r>
            <a:r>
              <a:rPr lang="en-US" sz="1000" dirty="0" err="1">
                <a:solidFill>
                  <a:srgbClr val="FFFFFF"/>
                </a:solidFill>
              </a:rPr>
              <a:t>existantes</a:t>
            </a:r>
            <a:r>
              <a:rPr lang="en-US" sz="1000" dirty="0">
                <a:solidFill>
                  <a:srgbClr val="FFFFFF"/>
                </a:solidFill>
              </a:rPr>
              <a:t>.</a:t>
            </a:r>
            <a:endParaRPr sz="1000" dirty="0">
              <a:solidFill>
                <a:srgbClr val="FFFFFF"/>
              </a:solidFill>
            </a:endParaRPr>
          </a:p>
        </p:txBody>
      </p:sp>
      <p:cxnSp>
        <p:nvCxnSpPr>
          <p:cNvPr id="120" name="Google Shape;120;p16"/>
          <p:cNvCxnSpPr/>
          <p:nvPr/>
        </p:nvCxnSpPr>
        <p:spPr>
          <a:xfrm>
            <a:off x="6544400" y="2474226"/>
            <a:ext cx="0" cy="2307000"/>
          </a:xfrm>
          <a:prstGeom prst="straightConnector1">
            <a:avLst/>
          </a:prstGeom>
          <a:noFill/>
          <a:ln w="83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91;p14">
            <a:extLst>
              <a:ext uri="{FF2B5EF4-FFF2-40B4-BE49-F238E27FC236}">
                <a16:creationId xmlns:a16="http://schemas.microsoft.com/office/drawing/2014/main" id="{0FB46CCA-AA96-7DF5-027D-FF66A112092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5" name="Google Shape;92;p14">
            <a:extLst>
              <a:ext uri="{FF2B5EF4-FFF2-40B4-BE49-F238E27FC236}">
                <a16:creationId xmlns:a16="http://schemas.microsoft.com/office/drawing/2014/main" id="{F75BE5EC-91BD-5E7F-2B50-FDAB07620020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 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2. Les données de cadrage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/>
        </p:nvSpPr>
        <p:spPr>
          <a:xfrm>
            <a:off x="2600446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Comparaison entre la construction récente et l’évolution de la population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AD9DD880-1E8B-101C-3917-FED770FA899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8619A1E2-864C-0AE1-6AB8-18EAC0EAB41E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  <p:pic>
        <p:nvPicPr>
          <p:cNvPr id="6" name="Google Shape;165;p22">
            <a:extLst>
              <a:ext uri="{FF2B5EF4-FFF2-40B4-BE49-F238E27FC236}">
                <a16:creationId xmlns:a16="http://schemas.microsoft.com/office/drawing/2014/main" id="{3D5FA5C1-9D4B-9C98-8821-2011527658B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4387" t="18633" r="4387"/>
          <a:stretch/>
        </p:blipFill>
        <p:spPr>
          <a:xfrm>
            <a:off x="2600446" y="1015525"/>
            <a:ext cx="5711704" cy="3696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2469158" y="369175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L’évolution du parc de logements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38" name="Google Shape;13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90976" y="1017925"/>
            <a:ext cx="4623651" cy="3853024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9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5F5EB2E-2833-5180-460C-4EB54C9A4D0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26316708-287E-4AAD-D84F-6B3BE805B2D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/>
        </p:nvSpPr>
        <p:spPr>
          <a:xfrm>
            <a:off x="2552821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Les trois scénarios de population du modèle OMPHALE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47" name="Google Shape;147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325" y="1609950"/>
            <a:ext cx="5021750" cy="30684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0" name="Google Shape;150;p20"/>
          <p:cNvGraphicFramePr/>
          <p:nvPr>
            <p:extLst>
              <p:ext uri="{D42A27DB-BD31-4B8C-83A1-F6EECF244321}">
                <p14:modId xmlns:p14="http://schemas.microsoft.com/office/powerpoint/2010/main" val="496623650"/>
              </p:ext>
            </p:extLst>
          </p:nvPr>
        </p:nvGraphicFramePr>
        <p:xfrm>
          <a:off x="5438700" y="1310800"/>
          <a:ext cx="3495725" cy="3068400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05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7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7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4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68575" marR="68575" marT="91425" marB="91425"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sng"/>
                        <a:t>Evolution annuelle moyenne (en %)</a:t>
                      </a:r>
                      <a:endParaRPr b="1" u="sng"/>
                    </a:p>
                  </a:txBody>
                  <a:tcPr marL="68575" marR="68575" marT="0" marB="0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350"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1"/>
                        <a:t>Périodes</a:t>
                      </a:r>
                      <a:endParaRPr sz="1200" b="1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2021 - 2030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2030 - 2040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2040 - 2050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/>
                        <a:t>Pop. </a:t>
                      </a:r>
                      <a:r>
                        <a:rPr lang="en-US" sz="1200" i="1" dirty="0" err="1"/>
                        <a:t>basse</a:t>
                      </a:r>
                      <a:endParaRPr sz="1200" i="1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{{pb1}}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{{pb2}}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{{pb3}}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Pop. centrale</a:t>
                      </a:r>
                      <a:endParaRPr sz="1200" i="1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{{pc1}}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{{pc2}}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{{pc3}}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/>
                        <a:t>Pop. haute</a:t>
                      </a:r>
                      <a:endParaRPr sz="1200" i="1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{{ph1}}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{{ph2}}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{{ph3}}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32A8B432-5E1E-6A8E-4277-770204E64AF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10A8A66-2EAC-AB57-3729-844C42590DA2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Les projections d’évolution du nombre de ménages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58" name="Google Shape;158;p21"/>
          <p:cNvPicPr preferRelativeResize="0"/>
          <p:nvPr/>
        </p:nvPicPr>
        <p:blipFill>
          <a:blip r:embed="rId3"/>
          <a:srcRect/>
          <a:stretch/>
        </p:blipFill>
        <p:spPr>
          <a:xfrm>
            <a:off x="234325" y="1846391"/>
            <a:ext cx="5067925" cy="287165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9" name="Google Shape;159;p21"/>
          <p:cNvGraphicFramePr/>
          <p:nvPr>
            <p:extLst>
              <p:ext uri="{D42A27DB-BD31-4B8C-83A1-F6EECF244321}">
                <p14:modId xmlns:p14="http://schemas.microsoft.com/office/powerpoint/2010/main" val="691776630"/>
              </p:ext>
            </p:extLst>
          </p:nvPr>
        </p:nvGraphicFramePr>
        <p:xfrm>
          <a:off x="5630600" y="872063"/>
          <a:ext cx="3406750" cy="4143875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193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4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4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 </a:t>
                      </a:r>
                      <a:endParaRPr/>
                    </a:p>
                  </a:txBody>
                  <a:tcPr marL="68575" marR="68575" marT="0" marB="0" anchor="ctr"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sng"/>
                        <a:t>Evolution annuelle moyenne (en %)</a:t>
                      </a:r>
                      <a:endParaRPr sz="1200" b="1" u="sng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900"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1"/>
                        <a:t>Périodes</a:t>
                      </a:r>
                      <a:endParaRPr sz="1100" b="1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2021 - 2030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2030 - 2040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2040 - 2050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Centrale - Décohabitation accélérée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{{pcA1}}</a:t>
                      </a:r>
                      <a:endParaRPr sz="1200" dirty="0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{{pcA2}}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{{pcA3}}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 dirty="0">
                          <a:solidFill>
                            <a:schemeClr val="tx1"/>
                          </a:solidFill>
                        </a:rPr>
                        <a:t>Pop. Centrale - </a:t>
                      </a:r>
                      <a:r>
                        <a:rPr lang="en-US" sz="1000" i="1" dirty="0" err="1">
                          <a:solidFill>
                            <a:schemeClr val="tx1"/>
                          </a:solidFill>
                        </a:rPr>
                        <a:t>Décohabitation</a:t>
                      </a:r>
                      <a:r>
                        <a:rPr lang="en-US" sz="1000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000" i="1" dirty="0" err="1">
                          <a:solidFill>
                            <a:schemeClr val="tx1"/>
                          </a:solidFill>
                        </a:rPr>
                        <a:t>tendancielle</a:t>
                      </a:r>
                      <a:endParaRPr sz="1000" i="1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Centrale - Décohabitation décélérée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{{pcD1}}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{{pcD2}}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{{pcD3}}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Haute - Décohabitation tendancielle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{{phT1}}</a:t>
                      </a:r>
                      <a:endParaRPr sz="1200" dirty="0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Basse - Décohabitation tendancielle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Google Shape;91;p14">
            <a:extLst>
              <a:ext uri="{FF2B5EF4-FFF2-40B4-BE49-F238E27FC236}">
                <a16:creationId xmlns:a16="http://schemas.microsoft.com/office/drawing/2014/main" id="{210AD738-62E3-87E6-2468-773D0087FAEB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6" name="Google Shape;92;p14">
            <a:extLst>
              <a:ext uri="{FF2B5EF4-FFF2-40B4-BE49-F238E27FC236}">
                <a16:creationId xmlns:a16="http://schemas.microsoft.com/office/drawing/2014/main" id="{E646B48C-896E-D64B-4F60-3A381FF5048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2"/>
          <p:cNvSpPr txBox="1"/>
          <p:nvPr/>
        </p:nvSpPr>
        <p:spPr>
          <a:xfrm>
            <a:off x="2577096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Répartition des situations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de mal-logements par type </a:t>
            </a:r>
            <a:endParaRPr sz="2400" b="1">
              <a:solidFill>
                <a:srgbClr val="262626"/>
              </a:solidFill>
            </a:endParaRPr>
          </a:p>
        </p:txBody>
      </p:sp>
      <p:pic>
        <p:nvPicPr>
          <p:cNvPr id="165" name="Google Shape;165;p22"/>
          <p:cNvPicPr preferRelativeResize="0"/>
          <p:nvPr/>
        </p:nvPicPr>
        <p:blipFill>
          <a:blip r:embed="rId3"/>
          <a:srcRect l="1139" r="1139"/>
          <a:stretch/>
        </p:blipFill>
        <p:spPr>
          <a:xfrm>
            <a:off x="2577096" y="1243174"/>
            <a:ext cx="6211879" cy="355107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6265B7A4-9349-A4F0-28F8-D3D056729B9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A5D5AEDF-E569-F0D5-71B3-84774F767AEA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3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3. </a:t>
            </a:r>
            <a:r>
              <a:rPr lang="en-US" dirty="0" err="1"/>
              <a:t>Comparaison</a:t>
            </a:r>
            <a:r>
              <a:rPr lang="en-US" dirty="0"/>
              <a:t> des </a:t>
            </a:r>
            <a:r>
              <a:rPr lang="en-US" dirty="0" err="1"/>
              <a:t>{{nb}}</a:t>
            </a:r>
            <a:r>
              <a:rPr lang="en-US" dirty="0"/>
              <a:t> scenarios </a:t>
            </a:r>
            <a:r>
              <a:rPr lang="en-US" dirty="0" err="1"/>
              <a:t>retenus</a:t>
            </a:r>
            <a:r>
              <a:rPr lang="en-US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Récapitulatif des </a:t>
            </a:r>
            <a:r>
              <a:rPr lang="en-US" sz="2400" b="1" i="1">
                <a:solidFill>
                  <a:srgbClr val="262626"/>
                </a:solidFill>
              </a:rPr>
              <a:t>X scénarios</a:t>
            </a:r>
            <a:r>
              <a:rPr lang="en-US" sz="2400" b="1">
                <a:solidFill>
                  <a:srgbClr val="262626"/>
                </a:solidFill>
              </a:rPr>
              <a:t> étudiés</a:t>
            </a:r>
            <a:endParaRPr sz="1200" i="1">
              <a:solidFill>
                <a:srgbClr val="262626"/>
              </a:solidFill>
            </a:endParaRPr>
          </a:p>
        </p:txBody>
      </p:sp>
      <p:graphicFrame>
        <p:nvGraphicFramePr>
          <p:cNvPr id="179" name="Google Shape;179;p24"/>
          <p:cNvGraphicFramePr/>
          <p:nvPr>
            <p:extLst>
              <p:ext uri="{D42A27DB-BD31-4B8C-83A1-F6EECF244321}">
                <p14:modId xmlns:p14="http://schemas.microsoft.com/office/powerpoint/2010/main" val="2093039157"/>
              </p:ext>
            </p:extLst>
          </p:nvPr>
        </p:nvGraphicFramePr>
        <p:xfrm>
          <a:off x="2154425" y="866100"/>
          <a:ext cx="6837225" cy="2971389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52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9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Critères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2"/>
                          </a:solidFill>
                        </a:rPr>
                        <a:t>🟠 </a:t>
                      </a:r>
                      <a:r>
                        <a:rPr lang="en-US" sz="1200" b="1" dirty="0" err="1">
                          <a:solidFill>
                            <a:schemeClr val="dk2"/>
                          </a:solidFill>
                        </a:rPr>
                        <a:t>Tendanciel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2"/>
                          </a:solidFill>
                        </a:rPr>
                        <a:t>🟣 </a:t>
                      </a:r>
                      <a:r>
                        <a:rPr lang="en-US" sz="1200" b="1" dirty="0" err="1">
                          <a:solidFill>
                            <a:schemeClr val="dk2"/>
                          </a:solidFill>
                        </a:rPr>
                        <a:t>Accélération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🔵 Par défaut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Population </a:t>
                      </a:r>
                      <a:r>
                        <a:rPr lang="en-US" sz="1100" b="1" i="1" dirty="0">
                          <a:solidFill>
                            <a:schemeClr val="accent5"/>
                          </a:solidFill>
                        </a:rPr>
                        <a:t>{{horizon}}</a:t>
                      </a:r>
                      <a:endParaRPr sz="1100" b="1" i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{{scenarioName1}} </a:t>
                      </a:r>
                      <a:r>
                        <a:rPr lang="en-US" sz="1100" i="1" dirty="0" err="1">
                          <a:solidFill>
                            <a:schemeClr val="dk1"/>
                          </a:solidFill>
                        </a:rPr>
                        <a:t>{{tendanciel}}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i="1" dirty="0"/>
                        <a:t>hab.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{{scenarioName2}} {{acceleration}}</a:t>
                      </a:r>
                      <a:r>
                        <a:rPr lang="en-US" sz="1100" dirty="0"/>
                        <a:t> hab.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>
                          <a:solidFill>
                            <a:schemeClr val="dk1"/>
                          </a:solidFill>
                        </a:rPr>
                        <a:t>{{scenarioName3}} </a:t>
                      </a: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{{default}}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dirty="0"/>
                        <a:t>hab.</a:t>
                      </a:r>
                      <a:endParaRPr sz="1100" dirty="0"/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Ménages </a:t>
                      </a:r>
                      <a:r>
                        <a:rPr lang="en-US" sz="1100" b="1" i="1" dirty="0">
                          <a:solidFill>
                            <a:schemeClr val="accent5"/>
                          </a:solidFill>
                        </a:rPr>
                        <a:t>{{horizon}}</a:t>
                      </a:r>
                      <a:endParaRPr sz="1100" b="1" i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 {{prin1}} </a:t>
                      </a:r>
                      <a:r>
                        <a:rPr lang="en-US" sz="1100" dirty="0" err="1"/>
                        <a:t>Rés</a:t>
                      </a:r>
                      <a:r>
                        <a:rPr lang="en-US" sz="1100" dirty="0"/>
                        <a:t>. </a:t>
                      </a:r>
                      <a:r>
                        <a:rPr lang="en-US" sz="1100" dirty="0" err="1"/>
                        <a:t>Principales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{{prin2}}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Rés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.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Principales</a:t>
                      </a:r>
                      <a:endParaRPr sz="11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{{prin3}}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Rés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.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Principales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82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Évolution démographique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Tendance </a:t>
                      </a:r>
                      <a:r>
                        <a:rPr lang="en-US" sz="1100" i="1" dirty="0" err="1"/>
                        <a:t>actuelle</a:t>
                      </a:r>
                      <a:br>
                        <a:rPr lang="en-US" sz="1100" i="1" dirty="0"/>
                      </a:b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{{menagesHorizon1}}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Décohabitation</a:t>
                      </a:r>
                      <a:r>
                        <a:rPr lang="en-US" sz="1100" i="1" dirty="0"/>
                        <a:t> </a:t>
                      </a:r>
                      <a:r>
                        <a:rPr lang="en-US" sz="1100" i="1" dirty="0" err="1"/>
                        <a:t>accélérée</a:t>
                      </a:r>
                      <a:endParaRPr sz="1100" i="1" dirty="0"/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{{menagesHorizon2}}</a:t>
                      </a:r>
                      <a:endParaRPr lang="en-US"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Tendance </a:t>
                      </a:r>
                      <a:r>
                        <a:rPr lang="en-US" sz="1100" i="1" dirty="0" err="1"/>
                        <a:t>actuelle</a:t>
                      </a:r>
                      <a:endParaRPr sz="1100" i="1" dirty="0"/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{{menagesHorizon3}}</a:t>
                      </a:r>
                      <a:endParaRPr sz="1100" i="1" dirty="0"/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Réduction vacance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{{vacance1}}%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{{vacance2}}%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Aucune</a:t>
                      </a:r>
                      <a:endParaRPr sz="1100" i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5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Résidences secondaires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{{rs1}}%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/>
                        <a:t>{{rs2}}</a:t>
                      </a: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 Stable</a:t>
                      </a:r>
                      <a:endParaRPr sz="1100" i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5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Résorption mal-logement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{{resorb1}}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{{resorb2}}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{{resorb3}}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0" name="Google Shape;180;p24"/>
          <p:cNvSpPr txBox="1"/>
          <p:nvPr/>
        </p:nvSpPr>
        <p:spPr>
          <a:xfrm flipH="1">
            <a:off x="2600450" y="4166975"/>
            <a:ext cx="6171600" cy="742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u="sng" dirty="0" err="1">
                <a:solidFill>
                  <a:schemeClr val="dk1"/>
                </a:solidFill>
              </a:rPr>
              <a:t>Pourquoi</a:t>
            </a:r>
            <a:r>
              <a:rPr lang="en-US" sz="1100" b="1" u="sng" dirty="0">
                <a:solidFill>
                  <a:schemeClr val="dk1"/>
                </a:solidFill>
              </a:rPr>
              <a:t> </a:t>
            </a:r>
            <a:r>
              <a:rPr lang="en-US" sz="1100" b="1" u="sng" dirty="0" err="1">
                <a:solidFill>
                  <a:schemeClr val="dk1"/>
                </a:solidFill>
              </a:rPr>
              <a:t>avoir</a:t>
            </a:r>
            <a:r>
              <a:rPr lang="en-US" sz="1100" b="1" u="sng" dirty="0">
                <a:solidFill>
                  <a:schemeClr val="dk1"/>
                </a:solidFill>
              </a:rPr>
              <a:t> </a:t>
            </a:r>
            <a:r>
              <a:rPr lang="en-US" sz="1100" b="1" u="sng" dirty="0" err="1">
                <a:solidFill>
                  <a:schemeClr val="dk1"/>
                </a:solidFill>
              </a:rPr>
              <a:t>choisir</a:t>
            </a:r>
            <a:r>
              <a:rPr lang="en-US" sz="1100" b="1" u="sng" dirty="0">
                <a:solidFill>
                  <a:schemeClr val="dk1"/>
                </a:solidFill>
              </a:rPr>
              <a:t> le scenario </a:t>
            </a:r>
            <a:r>
              <a:rPr lang="en-US" sz="1100" b="1" u="sng" dirty="0" err="1">
                <a:solidFill>
                  <a:schemeClr val="dk1"/>
                </a:solidFill>
              </a:rPr>
              <a:t>{{privilegedScenario}}</a:t>
            </a:r>
            <a:r>
              <a:rPr lang="en-US" sz="1100" b="1" u="sng" dirty="0">
                <a:solidFill>
                  <a:schemeClr val="dk1"/>
                </a:solidFill>
              </a:rPr>
              <a:t> :</a:t>
            </a:r>
            <a:endParaRPr sz="1100" u="sng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E2968BBA-C3CE-87EA-1D41-65760BC0F6CF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41A200EC-57ED-8FDC-23EE-195FB515939A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5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Comparaison des besoins par scénario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188" name="Google Shape;188;p25"/>
          <p:cNvSpPr txBox="1"/>
          <p:nvPr/>
        </p:nvSpPr>
        <p:spPr>
          <a:xfrm>
            <a:off x="2600446" y="617725"/>
            <a:ext cx="626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 err="1">
                <a:solidFill>
                  <a:srgbClr val="262626"/>
                </a:solidFill>
              </a:rPr>
              <a:t>Période</a:t>
            </a:r>
            <a:r>
              <a:rPr lang="en-US" sz="2000" i="1" dirty="0">
                <a:solidFill>
                  <a:srgbClr val="262626"/>
                </a:solidFill>
              </a:rPr>
              <a:t> document {{start}}-{{end}}</a:t>
            </a:r>
            <a:endParaRPr sz="800" i="1" dirty="0">
              <a:solidFill>
                <a:srgbClr val="262626"/>
              </a:solidFill>
            </a:endParaRPr>
          </a:p>
        </p:txBody>
      </p:sp>
      <p:graphicFrame>
        <p:nvGraphicFramePr>
          <p:cNvPr id="189" name="Google Shape;189;p25"/>
          <p:cNvGraphicFramePr/>
          <p:nvPr>
            <p:extLst>
              <p:ext uri="{D42A27DB-BD31-4B8C-83A1-F6EECF244321}">
                <p14:modId xmlns:p14="http://schemas.microsoft.com/office/powerpoint/2010/main" val="3619413292"/>
              </p:ext>
            </p:extLst>
          </p:nvPr>
        </p:nvGraphicFramePr>
        <p:xfrm>
          <a:off x="2191725" y="1064650"/>
          <a:ext cx="6804500" cy="3853187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70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Type de besoin</a:t>
                      </a:r>
                      <a:endParaRPr b="1"/>
                    </a:p>
                  </a:txBody>
                  <a:tcPr marL="28575" marR="0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🟠  Tendanciel</a:t>
                      </a:r>
                      <a:endParaRPr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🟣 Accélération</a:t>
                      </a:r>
                      <a:endParaRPr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chemeClr val="dk1"/>
                          </a:solidFill>
                        </a:rPr>
                        <a:t>🔵</a:t>
                      </a:r>
                      <a:r>
                        <a:rPr lang="en-US" b="1"/>
                        <a:t> Par défaut</a:t>
                      </a:r>
                      <a:endParaRPr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7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🏗️ Constructions neuves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{{newHousing1}}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{{newHousing2}}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{{newHousing3}}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7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Croissance démographique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Fluidité du marché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{{fluidity1}}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{{fluidity2}}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{{fluidity3}}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Résorption mal-logement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Résidences secondaires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9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Renouvellement urbain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{{housingNeeds1}}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{{housingNeeds2}}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{{housingNeeds3}}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7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/>
                        <a:t>🏠 Remobilisation vacants</a:t>
                      </a:r>
                      <a:endParaRPr sz="13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{{vacant2}}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{{vacant3}}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0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/>
                        <a:t>🎯 TOTAL BESOINS</a:t>
                      </a:r>
                      <a:endParaRPr sz="13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{{total2}}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{{total3}}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DC3FED2-88A4-5B91-5658-77A697472AB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5C9B5A63-009B-236B-5AAF-D09E63055135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/>
        </p:nvSpPr>
        <p:spPr>
          <a:xfrm>
            <a:off x="2600450" y="209550"/>
            <a:ext cx="6381300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Comparaison</a:t>
            </a:r>
            <a:r>
              <a:rPr lang="en-US" sz="2400" b="1" dirty="0">
                <a:solidFill>
                  <a:srgbClr val="262626"/>
                </a:solidFill>
              </a:rPr>
              <a:t> des </a:t>
            </a: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construction </a:t>
            </a:r>
            <a:r>
              <a:rPr lang="en-US" sz="2400" b="1" dirty="0" err="1">
                <a:solidFill>
                  <a:srgbClr val="262626"/>
                </a:solidFill>
              </a:rPr>
              <a:t>neuve</a:t>
            </a:r>
            <a:r>
              <a:rPr lang="en-US" sz="2400" b="1" dirty="0">
                <a:solidFill>
                  <a:srgbClr val="262626"/>
                </a:solidFill>
              </a:rPr>
              <a:t> par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000" i="1" dirty="0">
                <a:solidFill>
                  <a:srgbClr val="262626"/>
                </a:solidFill>
              </a:rPr>
              <a:t>(</a:t>
            </a:r>
            <a:r>
              <a:rPr lang="en-US" sz="2000" i="1" dirty="0" err="1">
                <a:solidFill>
                  <a:srgbClr val="262626"/>
                </a:solidFill>
              </a:rPr>
              <a:t>période</a:t>
            </a:r>
            <a:r>
              <a:rPr lang="en-US" sz="2000" i="1" dirty="0">
                <a:solidFill>
                  <a:srgbClr val="262626"/>
                </a:solidFill>
              </a:rPr>
              <a:t> document {{start}}-{{end}})</a:t>
            </a:r>
            <a:endParaRPr sz="2400" b="1" dirty="0">
              <a:solidFill>
                <a:srgbClr val="262626"/>
              </a:solidFill>
            </a:endParaRPr>
          </a:p>
        </p:txBody>
      </p:sp>
      <p:pic>
        <p:nvPicPr>
          <p:cNvPr id="197" name="Google Shape;197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00450" y="1348283"/>
            <a:ext cx="6209925" cy="339999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BABB023E-E0AB-9CA3-7D92-126FB97C92E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90792871-ABB3-2FB2-C1A8-31E25C258AF3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7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Arguments en faveur du scénario</a:t>
            </a:r>
            <a:br>
              <a:rPr lang="en-US" sz="2400" b="1">
                <a:solidFill>
                  <a:srgbClr val="262626"/>
                </a:solidFill>
              </a:rPr>
            </a:br>
            <a:r>
              <a:rPr lang="en-US" sz="2400" b="1">
                <a:solidFill>
                  <a:srgbClr val="262626"/>
                </a:solidFill>
              </a:rPr>
              <a:t>"🟣 Accélération"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06" name="Google Shape;206;p27"/>
          <p:cNvSpPr/>
          <p:nvPr/>
        </p:nvSpPr>
        <p:spPr>
          <a:xfrm>
            <a:off x="2676650" y="1351700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7" name="Google Shape;207;p27"/>
          <p:cNvSpPr/>
          <p:nvPr/>
        </p:nvSpPr>
        <p:spPr>
          <a:xfrm>
            <a:off x="2676650" y="2278267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8" name="Google Shape;208;p27"/>
          <p:cNvSpPr/>
          <p:nvPr/>
        </p:nvSpPr>
        <p:spPr>
          <a:xfrm>
            <a:off x="2676650" y="3204834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9" name="Google Shape;209;p27"/>
          <p:cNvSpPr txBox="1"/>
          <p:nvPr/>
        </p:nvSpPr>
        <p:spPr>
          <a:xfrm>
            <a:off x="4484050" y="1351700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0" name="Google Shape;210;p27"/>
          <p:cNvSpPr/>
          <p:nvPr/>
        </p:nvSpPr>
        <p:spPr>
          <a:xfrm>
            <a:off x="2676650" y="4131401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r>
              <a:rPr lang="en-US" b="1">
                <a:solidFill>
                  <a:schemeClr val="dk2"/>
                </a:solidFill>
              </a:rPr>
              <a:t>❌ Pourquoi pas les autres scénarios ?</a:t>
            </a: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11" name="Google Shape;211;p27"/>
          <p:cNvSpPr txBox="1"/>
          <p:nvPr/>
        </p:nvSpPr>
        <p:spPr>
          <a:xfrm>
            <a:off x="4484050" y="2278269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2" name="Google Shape;212;p27"/>
          <p:cNvSpPr txBox="1"/>
          <p:nvPr/>
        </p:nvSpPr>
        <p:spPr>
          <a:xfrm>
            <a:off x="4484050" y="3204837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3" name="Google Shape;213;p27"/>
          <p:cNvSpPr txBox="1"/>
          <p:nvPr/>
        </p:nvSpPr>
        <p:spPr>
          <a:xfrm>
            <a:off x="4484050" y="4131406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8C2CE72E-59BE-E46E-9B04-920C5352E491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85E56E29-47CD-1A77-7712-ECB7B562EAF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4. </a:t>
            </a:r>
            <a:r>
              <a:rPr lang="en-US" dirty="0" err="1"/>
              <a:t>Décryptage</a:t>
            </a:r>
            <a:r>
              <a:rPr lang="en-US" dirty="0"/>
              <a:t> et justification du </a:t>
            </a:r>
            <a:r>
              <a:rPr lang="en-US" dirty="0" err="1"/>
              <a:t>scénario</a:t>
            </a:r>
            <a:r>
              <a:rPr lang="en-US" dirty="0"/>
              <a:t> </a:t>
            </a:r>
            <a:r>
              <a:rPr lang="en-US" dirty="0" err="1"/>
              <a:t>privilégié {{privilegedScenario}}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constructions </a:t>
            </a:r>
            <a:r>
              <a:rPr lang="en-US" sz="2400" b="1" dirty="0" err="1">
                <a:solidFill>
                  <a:srgbClr val="262626"/>
                </a:solidFill>
              </a:rPr>
              <a:t>neuves</a:t>
            </a:r>
            <a:r>
              <a:rPr lang="en-US" sz="2400" b="1" dirty="0">
                <a:solidFill>
                  <a:srgbClr val="262626"/>
                </a:solidFill>
              </a:rPr>
              <a:t> pour le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privilégié</a:t>
            </a:r>
            <a:r>
              <a:rPr lang="en-US" sz="2400" b="1" dirty="0">
                <a:solidFill>
                  <a:srgbClr val="262626"/>
                </a:solidFill>
              </a:rPr>
              <a:t> "🟣 </a:t>
            </a:r>
            <a:r>
              <a:rPr lang="en-US" sz="2400" b="1" dirty="0" err="1">
                <a:solidFill>
                  <a:srgbClr val="262626"/>
                </a:solidFill>
              </a:rPr>
              <a:t>Accélération</a:t>
            </a:r>
            <a:r>
              <a:rPr lang="en-US" sz="2400" b="1" dirty="0">
                <a:solidFill>
                  <a:srgbClr val="262626"/>
                </a:solidFill>
              </a:rPr>
              <a:t>"</a:t>
            </a:r>
            <a:endParaRPr sz="1200" i="1" dirty="0">
              <a:solidFill>
                <a:srgbClr val="262626"/>
              </a:solidFill>
            </a:endParaRPr>
          </a:p>
        </p:txBody>
      </p:sp>
      <p:sp>
        <p:nvSpPr>
          <p:cNvPr id="226" name="Google Shape;226;p29"/>
          <p:cNvSpPr txBox="1"/>
          <p:nvPr/>
        </p:nvSpPr>
        <p:spPr>
          <a:xfrm>
            <a:off x="2558652" y="1040925"/>
            <a:ext cx="62673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Calendrier {{docStart}}</a:t>
            </a:r>
            <a:r>
              <a:rPr lang="en-US" sz="1100" i="1" dirty="0">
                <a:solidFill>
                  <a:srgbClr val="262626"/>
                </a:solidFill>
              </a:rPr>
              <a:t> – {{projection}}</a:t>
            </a:r>
            <a:endParaRPr sz="200" i="1" dirty="0">
              <a:solidFill>
                <a:srgbClr val="262626"/>
              </a:solidFill>
            </a:endParaRPr>
          </a:p>
        </p:txBody>
      </p:sp>
      <p:sp>
        <p:nvSpPr>
          <p:cNvPr id="227" name="Google Shape;227;p29"/>
          <p:cNvSpPr/>
          <p:nvPr/>
        </p:nvSpPr>
        <p:spPr>
          <a:xfrm>
            <a:off x="2154625" y="1826100"/>
            <a:ext cx="2170800" cy="24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235"/>
              <a:buFont typeface="Arial"/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1: 2021-{{docStart-1}}</a:t>
            </a:r>
            <a:endParaRPr sz="1447" b="1" u="sng" dirty="0">
              <a:solidFill>
                <a:schemeClr val="dk2"/>
              </a:solidFill>
            </a:endParaRPr>
          </a:p>
          <a:p>
            <a:pPr marL="25666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{{nb1}}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</a:t>
            </a:r>
            <a:endParaRPr sz="1347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347"/>
              </a:spcBef>
              <a:spcAft>
                <a:spcPts val="1347"/>
              </a:spcAft>
              <a:buNone/>
            </a:pPr>
            <a:endParaRPr sz="1347" dirty="0">
              <a:solidFill>
                <a:schemeClr val="lt1"/>
              </a:solidFill>
            </a:endParaRPr>
          </a:p>
        </p:txBody>
      </p:sp>
      <p:sp>
        <p:nvSpPr>
          <p:cNvPr id="228" name="Google Shape;228;p29"/>
          <p:cNvSpPr/>
          <p:nvPr/>
        </p:nvSpPr>
        <p:spPr>
          <a:xfrm>
            <a:off x="4458532" y="1826100"/>
            <a:ext cx="2170800" cy="24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2 (</a:t>
            </a:r>
            <a:r>
              <a:rPr lang="en-US" sz="1447" b="1" u="sng" dirty="0" err="1">
                <a:solidFill>
                  <a:schemeClr val="dk1"/>
                </a:solidFill>
              </a:rPr>
              <a:t>{{docStart}}</a:t>
            </a:r>
            <a:r>
              <a:rPr lang="en-US" sz="1447" b="1" u="sng" dirty="0">
                <a:solidFill>
                  <a:schemeClr val="dk1"/>
                </a:solidFill>
              </a:rPr>
              <a:t>-</a:t>
            </a:r>
            <a:r>
              <a:rPr lang="en-US" sz="1447" b="1" u="sng" dirty="0" err="1">
                <a:solidFill>
                  <a:schemeClr val="dk1"/>
                </a:solidFill>
              </a:rPr>
              <a:t>{{docEnd}}</a:t>
            </a:r>
            <a:r>
              <a:rPr lang="en-US" sz="1447" b="1" u="sng" dirty="0">
                <a:solidFill>
                  <a:schemeClr val="dk1"/>
                </a:solidFill>
              </a:rPr>
              <a:t>)</a:t>
            </a:r>
            <a:r>
              <a:rPr lang="en-US" sz="1447" b="1" dirty="0">
                <a:solidFill>
                  <a:schemeClr val="dk1"/>
                </a:solidFill>
              </a:rPr>
              <a:t> : </a:t>
            </a:r>
            <a:r>
              <a:rPr lang="en-US" sz="1447" b="1" dirty="0" err="1">
                <a:solidFill>
                  <a:schemeClr val="dk2"/>
                </a:solidFill>
              </a:rPr>
              <a:t>Période</a:t>
            </a:r>
            <a:r>
              <a:rPr lang="en-US" sz="1447" b="1" dirty="0">
                <a:solidFill>
                  <a:schemeClr val="dk2"/>
                </a:solidFill>
              </a:rPr>
              <a:t> </a:t>
            </a:r>
            <a:r>
              <a:rPr lang="en-US" sz="1447" b="1" i="1" dirty="0">
                <a:solidFill>
                  <a:schemeClr val="dk2"/>
                </a:solidFill>
              </a:rPr>
              <a:t>document</a:t>
            </a:r>
            <a:endParaRPr sz="1447" b="1" i="1" dirty="0">
              <a:solidFill>
                <a:schemeClr val="dk2"/>
              </a:solidFill>
            </a:endParaRPr>
          </a:p>
          <a:p>
            <a:pPr marL="256660" marR="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{{nb2}}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 </a:t>
            </a:r>
            <a:r>
              <a:rPr lang="en-US" sz="1347" b="1" dirty="0" err="1">
                <a:solidFill>
                  <a:schemeClr val="dk1"/>
                </a:solidFill>
              </a:rPr>
              <a:t>en</a:t>
            </a:r>
            <a:r>
              <a:rPr lang="en-US" sz="1347" b="1" dirty="0">
                <a:solidFill>
                  <a:schemeClr val="dk1"/>
                </a:solidFill>
              </a:rPr>
              <a:t> </a:t>
            </a:r>
            <a:r>
              <a:rPr lang="en-US" sz="1347" b="1" dirty="0" err="1">
                <a:solidFill>
                  <a:schemeClr val="dk1"/>
                </a:solidFill>
              </a:rPr>
              <a:t>moyenne</a:t>
            </a:r>
            <a:r>
              <a:rPr lang="en-US" sz="1347" dirty="0">
                <a:solidFill>
                  <a:schemeClr val="dk1"/>
                </a:solidFill>
              </a:rPr>
              <a:t> ({{total}} total)</a:t>
            </a:r>
            <a:endParaRPr sz="1347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347"/>
              </a:spcBef>
              <a:spcAft>
                <a:spcPts val="1347"/>
              </a:spcAft>
              <a:buNone/>
            </a:pPr>
            <a:endParaRPr sz="157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9"/>
          <p:cNvSpPr/>
          <p:nvPr/>
        </p:nvSpPr>
        <p:spPr>
          <a:xfrm>
            <a:off x="6762438" y="1826100"/>
            <a:ext cx="2299800" cy="2425500"/>
          </a:xfrm>
          <a:prstGeom prst="homePlate">
            <a:avLst>
              <a:gd name="adj" fmla="val 20342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3 </a:t>
            </a:r>
            <a:r>
              <a:rPr lang="en-US" sz="1447" b="1" u="sng">
                <a:solidFill>
                  <a:schemeClr val="dk1"/>
                </a:solidFill>
              </a:rPr>
              <a:t>({{docEnd2}}-</a:t>
            </a:r>
            <a:r>
              <a:rPr lang="en-US" sz="1447" b="1" u="sng" dirty="0">
                <a:solidFill>
                  <a:schemeClr val="dk1"/>
                </a:solidFill>
              </a:rPr>
              <a:t>{{projection}})</a:t>
            </a:r>
            <a:endParaRPr sz="1447" b="1" u="sng" dirty="0">
              <a:solidFill>
                <a:schemeClr val="dk2"/>
              </a:solidFill>
            </a:endParaRPr>
          </a:p>
          <a:p>
            <a:pPr marL="256660" marR="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{{nb3}}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</a:t>
            </a:r>
            <a:endParaRPr sz="1347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2DC7526D-6B9B-4C44-BC2B-4B9E1F063A2A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D7E01CD0-A680-66E3-34A1-070911F4C8BC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Besoins en constructions neuves pour le scénario privilégié "🟣 Accélération"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237" name="Google Shape;237;p30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 t="11394"/>
          <a:stretch/>
        </p:blipFill>
        <p:spPr>
          <a:xfrm>
            <a:off x="2600450" y="1584525"/>
            <a:ext cx="5829900" cy="322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17C0CCF1-B135-A847-D40F-FA20F716AE22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29085CBC-BCF0-7D6A-3549-0FCE42A0F7AE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 txBox="1"/>
          <p:nvPr/>
        </p:nvSpPr>
        <p:spPr>
          <a:xfrm>
            <a:off x="2600446" y="209550"/>
            <a:ext cx="62673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Répartition</a:t>
            </a:r>
            <a:r>
              <a:rPr lang="en-US" sz="2400" b="1" dirty="0">
                <a:solidFill>
                  <a:srgbClr val="262626"/>
                </a:solidFill>
              </a:rPr>
              <a:t> des </a:t>
            </a: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pour le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privilégié</a:t>
            </a:r>
            <a:r>
              <a:rPr lang="en-US" sz="2400" b="1" dirty="0">
                <a:solidFill>
                  <a:srgbClr val="262626"/>
                </a:solidFill>
              </a:rPr>
              <a:t> "🟣 </a:t>
            </a:r>
            <a:r>
              <a:rPr lang="en-US" sz="2400" b="1" dirty="0" err="1">
                <a:solidFill>
                  <a:srgbClr val="262626"/>
                </a:solidFill>
              </a:rPr>
              <a:t>Accélération</a:t>
            </a:r>
            <a:r>
              <a:rPr lang="en-US" sz="2400" b="1" dirty="0">
                <a:solidFill>
                  <a:srgbClr val="262626"/>
                </a:solidFill>
              </a:rPr>
              <a:t>"</a:t>
            </a:r>
            <a:endParaRPr sz="1200" i="1" dirty="0">
              <a:solidFill>
                <a:srgbClr val="262626"/>
              </a:solidFill>
            </a:endParaRPr>
          </a:p>
        </p:txBody>
      </p:sp>
      <p:sp>
        <p:nvSpPr>
          <p:cNvPr id="246" name="Google Shape;246;p31"/>
          <p:cNvSpPr txBox="1"/>
          <p:nvPr/>
        </p:nvSpPr>
        <p:spPr>
          <a:xfrm>
            <a:off x="2600446" y="1017925"/>
            <a:ext cx="62673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Calendrier</a:t>
            </a:r>
            <a:r>
              <a:rPr lang="en-US" sz="1100" i="1" dirty="0">
                <a:solidFill>
                  <a:srgbClr val="262626"/>
                </a:solidFill>
              </a:rPr>
              <a:t> 2021 – {{projection}}</a:t>
            </a:r>
            <a:endParaRPr sz="100" i="1" dirty="0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D'où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viennent</a:t>
            </a:r>
            <a:r>
              <a:rPr lang="en-US" sz="1100" i="1" dirty="0">
                <a:solidFill>
                  <a:srgbClr val="262626"/>
                </a:solidFill>
              </a:rPr>
              <a:t> les </a:t>
            </a:r>
            <a:r>
              <a:rPr lang="en-US" sz="1100" i="1" dirty="0" err="1">
                <a:solidFill>
                  <a:srgbClr val="262626"/>
                </a:solidFill>
              </a:rPr>
              <a:t>{{nb}}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logements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neufs</a:t>
            </a:r>
            <a:r>
              <a:rPr lang="en-US" sz="1100" i="1" dirty="0">
                <a:solidFill>
                  <a:srgbClr val="262626"/>
                </a:solidFill>
              </a:rPr>
              <a:t> ?</a:t>
            </a:r>
            <a:endParaRPr sz="100" i="1" dirty="0">
              <a:solidFill>
                <a:srgbClr val="262626"/>
              </a:solidFill>
            </a:endParaRPr>
          </a:p>
        </p:txBody>
      </p:sp>
      <p:graphicFrame>
        <p:nvGraphicFramePr>
          <p:cNvPr id="247" name="Google Shape;247;p31"/>
          <p:cNvGraphicFramePr/>
          <p:nvPr>
            <p:extLst>
              <p:ext uri="{D42A27DB-BD31-4B8C-83A1-F6EECF244321}">
                <p14:modId xmlns:p14="http://schemas.microsoft.com/office/powerpoint/2010/main" val="758264537"/>
              </p:ext>
            </p:extLst>
          </p:nvPr>
        </p:nvGraphicFramePr>
        <p:xfrm>
          <a:off x="2889150" y="1481625"/>
          <a:ext cx="6191100" cy="3613475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89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0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9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err="1"/>
                        <a:t>Composante</a:t>
                      </a:r>
                      <a:endParaRPr sz="12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Logements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%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Explication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👥 Nouveaux ménages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{{nbNv}}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X %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Croissance du nombre de ménages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🏠 </a:t>
                      </a:r>
                      <a:r>
                        <a:rPr lang="en-US" sz="1200" dirty="0" err="1"/>
                        <a:t>Fluidité</a:t>
                      </a:r>
                      <a:r>
                        <a:rPr lang="en-US" sz="1200" dirty="0"/>
                        <a:t> du </a:t>
                      </a:r>
                      <a:r>
                        <a:rPr lang="en-US" sz="1200" dirty="0" err="1"/>
                        <a:t>marché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{{nbFluid}}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X %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Rotation normale des logements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🏘️ </a:t>
                      </a:r>
                      <a:r>
                        <a:rPr lang="en-US" sz="1200" dirty="0" err="1"/>
                        <a:t>Résidences</a:t>
                      </a:r>
                      <a:r>
                        <a:rPr lang="en-US" sz="1200" dirty="0"/>
                        <a:t> </a:t>
                      </a:r>
                      <a:r>
                        <a:rPr lang="en-US" sz="1200" dirty="0" err="1"/>
                        <a:t>secondaires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{{nbRs}}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X %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Évolution du parc secondaire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🔄 Remobilisation vacants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{{nbVac}}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Retour sur le marché de logements vacants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🏗️ Renouvellement urbain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{{nbUrb}}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[Créations] &gt; [démolitions] dans le parc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Constructions neuves 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{{total}} </a:t>
                      </a:r>
                      <a:r>
                        <a:rPr lang="en-US" sz="1200" b="1" dirty="0" err="1"/>
                        <a:t>logements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neufs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à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produire</a:t>
                      </a:r>
                      <a:endParaRPr sz="12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8" name="Google Shape;248;p31"/>
          <p:cNvSpPr txBox="1"/>
          <p:nvPr/>
        </p:nvSpPr>
        <p:spPr>
          <a:xfrm>
            <a:off x="219975" y="1782450"/>
            <a:ext cx="1625700" cy="263376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💡 Messages </a:t>
            </a:r>
            <a:r>
              <a:rPr lang="en-US" sz="1100" b="1" dirty="0" err="1">
                <a:solidFill>
                  <a:schemeClr val="dk1"/>
                </a:solidFill>
              </a:rPr>
              <a:t>clés</a:t>
            </a:r>
            <a:endParaRPr sz="1100" b="1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{{dperc}}</a:t>
            </a:r>
            <a:r>
              <a:rPr lang="en-US" sz="1000" b="1" dirty="0">
                <a:solidFill>
                  <a:schemeClr val="dk1"/>
                </a:solidFill>
              </a:rPr>
              <a:t> des </a:t>
            </a:r>
            <a:r>
              <a:rPr lang="en-US" sz="1000" b="1" dirty="0" err="1">
                <a:solidFill>
                  <a:schemeClr val="dk1"/>
                </a:solidFill>
              </a:rPr>
              <a:t>besoins</a:t>
            </a:r>
            <a:r>
              <a:rPr lang="en-US" sz="1000" b="1" dirty="0">
                <a:solidFill>
                  <a:schemeClr val="dk1"/>
                </a:solidFill>
              </a:rPr>
              <a:t> = </a:t>
            </a:r>
            <a:r>
              <a:rPr lang="en-US" sz="1000" b="1" dirty="0" err="1">
                <a:solidFill>
                  <a:schemeClr val="dk1"/>
                </a:solidFill>
              </a:rPr>
              <a:t>démographie</a:t>
            </a:r>
            <a:r>
              <a:rPr lang="en-US" sz="1000" dirty="0">
                <a:solidFill>
                  <a:schemeClr val="dk1"/>
                </a:solidFill>
              </a:rPr>
              <a:t> : </a:t>
            </a:r>
            <a:r>
              <a:rPr lang="en-US" sz="1000" dirty="0" err="1">
                <a:solidFill>
                  <a:schemeClr val="dk1"/>
                </a:solidFill>
              </a:rPr>
              <a:t>c'est</a:t>
            </a:r>
            <a:r>
              <a:rPr lang="en-US" sz="1000" dirty="0">
                <a:solidFill>
                  <a:schemeClr val="dk1"/>
                </a:solidFill>
              </a:rPr>
              <a:t> le </a:t>
            </a:r>
            <a:r>
              <a:rPr lang="en-US" sz="1000" dirty="0" err="1">
                <a:solidFill>
                  <a:schemeClr val="dk1"/>
                </a:solidFill>
              </a:rPr>
              <a:t>moteur</a:t>
            </a:r>
            <a:r>
              <a:rPr lang="en-US" sz="1000" dirty="0">
                <a:solidFill>
                  <a:schemeClr val="dk1"/>
                </a:solidFill>
              </a:rPr>
              <a:t> principal</a:t>
            </a:r>
            <a:endParaRPr sz="1000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Renouvellement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urbain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positif</a:t>
            </a:r>
            <a:r>
              <a:rPr lang="en-US" sz="1000" dirty="0">
                <a:solidFill>
                  <a:schemeClr val="dk1"/>
                </a:solidFill>
              </a:rPr>
              <a:t> : le parc se </a:t>
            </a:r>
            <a:r>
              <a:rPr lang="en-US" sz="1000" dirty="0" err="1">
                <a:solidFill>
                  <a:schemeClr val="dk1"/>
                </a:solidFill>
              </a:rPr>
              <a:t>densifie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naturellement</a:t>
            </a:r>
            <a:endParaRPr sz="1000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Vacance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mobilisable</a:t>
            </a:r>
            <a:r>
              <a:rPr lang="en-US" sz="1000" dirty="0">
                <a:solidFill>
                  <a:schemeClr val="dk1"/>
                </a:solidFill>
              </a:rPr>
              <a:t> : </a:t>
            </a:r>
            <a:r>
              <a:rPr lang="en-US" sz="1000" dirty="0" err="1">
                <a:solidFill>
                  <a:schemeClr val="dk1"/>
                </a:solidFill>
              </a:rPr>
              <a:t>gisement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limité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mais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réel</a:t>
            </a:r>
            <a:endParaRPr sz="1000" dirty="0">
              <a:solidFill>
                <a:schemeClr val="dk1"/>
              </a:solidFill>
            </a:endParaRPr>
          </a:p>
        </p:txBody>
      </p:sp>
      <p:sp>
        <p:nvSpPr>
          <p:cNvPr id="249" name="Google Shape;249;p31"/>
          <p:cNvSpPr/>
          <p:nvPr/>
        </p:nvSpPr>
        <p:spPr>
          <a:xfrm rot="-5400000">
            <a:off x="1632500" y="2371650"/>
            <a:ext cx="1578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0091"/>
                </a:solidFill>
                <a:latin typeface="Calibri"/>
                <a:ea typeface="Calibri"/>
                <a:cs typeface="Calibri"/>
                <a:sym typeface="Calibri"/>
              </a:rPr>
              <a:t>Besoin en logements supplémentaires</a:t>
            </a:r>
            <a:endParaRPr sz="1200" b="1">
              <a:solidFill>
                <a:srgbClr val="00009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1"/>
          <p:cNvSpPr/>
          <p:nvPr/>
        </p:nvSpPr>
        <p:spPr>
          <a:xfrm rot="-5400000">
            <a:off x="1808888" y="3773850"/>
            <a:ext cx="1225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0091"/>
                </a:solidFill>
                <a:latin typeface="Calibri"/>
                <a:ea typeface="Calibri"/>
                <a:cs typeface="Calibri"/>
                <a:sym typeface="Calibri"/>
              </a:rPr>
              <a:t>Optimisation du parc existant</a:t>
            </a:r>
            <a:endParaRPr sz="1200" b="1">
              <a:solidFill>
                <a:srgbClr val="00009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44F4D7C8-38AE-18D3-FDBD-1D3F57FE5F4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56038B3-CDFA-ADB2-1177-B275553DFB04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2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Résorption du mal-logement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58" name="Google Shape;258;p32"/>
          <p:cNvSpPr txBox="1"/>
          <p:nvPr/>
        </p:nvSpPr>
        <p:spPr>
          <a:xfrm>
            <a:off x="2600438" y="589159"/>
            <a:ext cx="62673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>
                <a:solidFill>
                  <a:srgbClr val="262626"/>
                </a:solidFill>
              </a:rPr>
              <a:t>Objectif : {{total}} </a:t>
            </a:r>
            <a:r>
              <a:rPr lang="en-US" sz="2000" i="1" dirty="0" err="1">
                <a:solidFill>
                  <a:srgbClr val="262626"/>
                </a:solidFill>
              </a:rPr>
              <a:t>logements</a:t>
            </a:r>
            <a:r>
              <a:rPr lang="en-US" sz="2000" i="1" dirty="0">
                <a:solidFill>
                  <a:srgbClr val="262626"/>
                </a:solidFill>
              </a:rPr>
              <a:t> pour </a:t>
            </a:r>
            <a:r>
              <a:rPr lang="en-US" sz="2000" i="1" dirty="0" err="1">
                <a:solidFill>
                  <a:srgbClr val="262626"/>
                </a:solidFill>
              </a:rPr>
              <a:t>régler {{nbSituations}}</a:t>
            </a:r>
            <a:r>
              <a:rPr lang="en-US" sz="2000" i="1" dirty="0">
                <a:solidFill>
                  <a:srgbClr val="262626"/>
                </a:solidFill>
              </a:rPr>
              <a:t> situations</a:t>
            </a:r>
            <a:endParaRPr sz="800" i="1" dirty="0">
              <a:solidFill>
                <a:srgbClr val="262626"/>
              </a:solidFill>
            </a:endParaRPr>
          </a:p>
        </p:txBody>
      </p:sp>
      <p:graphicFrame>
        <p:nvGraphicFramePr>
          <p:cNvPr id="259" name="Google Shape;259;p32"/>
          <p:cNvGraphicFramePr/>
          <p:nvPr>
            <p:extLst>
              <p:ext uri="{D42A27DB-BD31-4B8C-83A1-F6EECF244321}">
                <p14:modId xmlns:p14="http://schemas.microsoft.com/office/powerpoint/2010/main" val="2576935817"/>
              </p:ext>
            </p:extLst>
          </p:nvPr>
        </p:nvGraphicFramePr>
        <p:xfrm>
          <a:off x="2633713" y="1214913"/>
          <a:ext cx="6267275" cy="2530900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2722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Situation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Ménages concernés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% du total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7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🏠 Hébergés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{{nbHosted}}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{{percentHosted}}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🚫 Hors logement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{{nbNoAccommodation}}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{{percentNoAcc}}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7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💰 </a:t>
                      </a:r>
                      <a:r>
                        <a:rPr lang="en-US" sz="1200" dirty="0" err="1"/>
                        <a:t>Inadéquation</a:t>
                      </a:r>
                      <a:r>
                        <a:rPr lang="en-US" sz="1200" dirty="0"/>
                        <a:t> financière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{{nbFinancialInadequation}}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{{percentFI}}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🔧 Inadéquation physique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{{nbPhysicalInadequation}}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{{percentPI}}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⚠️ </a:t>
                      </a:r>
                      <a:r>
                        <a:rPr lang="en-US" sz="1200" dirty="0" err="1"/>
                        <a:t>Mauvaise</a:t>
                      </a:r>
                      <a:r>
                        <a:rPr lang="en-US" sz="1200" dirty="0"/>
                        <a:t> </a:t>
                      </a:r>
                      <a:r>
                        <a:rPr lang="en-US" sz="1200" dirty="0" err="1"/>
                        <a:t>qualité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{{nbBadQuality}}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{{percentBadQ}}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0" name="Google Shape;260;p32"/>
          <p:cNvSpPr txBox="1"/>
          <p:nvPr/>
        </p:nvSpPr>
        <p:spPr>
          <a:xfrm>
            <a:off x="2600438" y="3870449"/>
            <a:ext cx="6267300" cy="12276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🎯 </a:t>
            </a:r>
            <a:r>
              <a:rPr lang="en-US" sz="1100" b="1" dirty="0" err="1">
                <a:solidFill>
                  <a:schemeClr val="dk1"/>
                </a:solidFill>
              </a:rPr>
              <a:t>Stratégie</a:t>
            </a:r>
            <a:r>
              <a:rPr lang="en-US" sz="1100" b="1" dirty="0">
                <a:solidFill>
                  <a:schemeClr val="dk1"/>
                </a:solidFill>
              </a:rPr>
              <a:t> de </a:t>
            </a:r>
            <a:r>
              <a:rPr lang="en-US" sz="1100" b="1" dirty="0" err="1">
                <a:solidFill>
                  <a:schemeClr val="dk1"/>
                </a:solidFill>
              </a:rPr>
              <a:t>résorption</a:t>
            </a:r>
            <a:endParaRPr sz="1100" b="1" dirty="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Objectif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résorption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complète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d'ici</a:t>
            </a:r>
            <a:r>
              <a:rPr lang="en-US" sz="1100" b="1" dirty="0" err="1">
                <a:solidFill>
                  <a:schemeClr val="dk1"/>
                </a:solidFill>
              </a:rPr>
              <a:t> {{resorbYear}}</a:t>
            </a:r>
            <a:endParaRPr sz="1100" b="1" dirty="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Impact Document </a:t>
            </a:r>
            <a:r>
              <a:rPr lang="en-US" sz="1100" b="1" dirty="0" err="1">
                <a:solidFill>
                  <a:schemeClr val="dk1"/>
                </a:solidFill>
              </a:rPr>
              <a:t>d’urbanisme</a:t>
            </a:r>
            <a:r>
              <a:rPr lang="en-US" sz="1100" dirty="0">
                <a:solidFill>
                  <a:schemeClr val="dk1"/>
                </a:solidFill>
              </a:rPr>
              <a:t>: {{impact}}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dédiés</a:t>
            </a:r>
            <a:r>
              <a:rPr lang="en-US" sz="1100" dirty="0">
                <a:solidFill>
                  <a:schemeClr val="dk1"/>
                </a:solidFill>
              </a:rPr>
              <a:t> sur </a:t>
            </a:r>
            <a:r>
              <a:rPr lang="en-US" sz="1100" dirty="0" err="1">
                <a:solidFill>
                  <a:schemeClr val="dk1"/>
                </a:solidFill>
              </a:rPr>
              <a:t>{{docStart}}</a:t>
            </a:r>
            <a:r>
              <a:rPr lang="en-US" sz="1100" dirty="0">
                <a:solidFill>
                  <a:schemeClr val="dk1"/>
                </a:solidFill>
              </a:rPr>
              <a:t>-</a:t>
            </a:r>
            <a:r>
              <a:rPr lang="en-US" sz="1100" dirty="0" err="1">
                <a:solidFill>
                  <a:schemeClr val="dk1"/>
                </a:solidFill>
              </a:rPr>
              <a:t>{{docEnd}}</a:t>
            </a:r>
          </a:p>
          <a:p>
            <a:pPr marL="22860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Publics </a:t>
            </a:r>
            <a:r>
              <a:rPr lang="en-US" sz="1100" b="1" dirty="0" err="1">
                <a:solidFill>
                  <a:schemeClr val="dk1"/>
                </a:solidFill>
              </a:rPr>
              <a:t>prioritaires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dirty="0">
                <a:solidFill>
                  <a:schemeClr val="dk1"/>
                </a:solidFill>
              </a:rPr>
              <a:t>: </a:t>
            </a:r>
            <a:r>
              <a:rPr lang="en-US" sz="1100" dirty="0" err="1">
                <a:solidFill>
                  <a:schemeClr val="dk1"/>
                </a:solidFill>
              </a:rPr>
              <a:t>personnes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hébergées</a:t>
            </a:r>
            <a:r>
              <a:rPr lang="en-US" sz="1100" dirty="0">
                <a:solidFill>
                  <a:schemeClr val="dk1"/>
                </a:solidFill>
              </a:rPr>
              <a:t> (tiers, </a:t>
            </a:r>
            <a:r>
              <a:rPr lang="en-US" sz="1100" dirty="0" err="1">
                <a:solidFill>
                  <a:schemeClr val="dk1"/>
                </a:solidFill>
              </a:rPr>
              <a:t>famille</a:t>
            </a:r>
            <a:r>
              <a:rPr lang="en-US" sz="1100" dirty="0">
                <a:solidFill>
                  <a:schemeClr val="dk1"/>
                </a:solidFill>
              </a:rPr>
              <a:t>) et sans </a:t>
            </a:r>
            <a:r>
              <a:rPr lang="en-US" sz="1100" dirty="0" err="1">
                <a:solidFill>
                  <a:schemeClr val="dk1"/>
                </a:solidFill>
              </a:rPr>
              <a:t>logement</a:t>
            </a:r>
            <a:r>
              <a:rPr lang="en-US" sz="1100" dirty="0">
                <a:solidFill>
                  <a:schemeClr val="dk1"/>
                </a:solidFill>
              </a:rPr>
              <a:t> (X% des </a:t>
            </a:r>
            <a:r>
              <a:rPr lang="en-US" sz="1100" dirty="0" err="1">
                <a:solidFill>
                  <a:schemeClr val="dk1"/>
                </a:solidFill>
              </a:rPr>
              <a:t>cas</a:t>
            </a:r>
            <a:r>
              <a:rPr lang="en-US" sz="1100" dirty="0">
                <a:solidFill>
                  <a:schemeClr val="dk1"/>
                </a:solidFill>
              </a:rPr>
              <a:t>)</a:t>
            </a:r>
          </a:p>
        </p:txBody>
      </p:sp>
      <p:sp>
        <p:nvSpPr>
          <p:cNvPr id="4" name="Google Shape;91;p14">
            <a:extLst>
              <a:ext uri="{FF2B5EF4-FFF2-40B4-BE49-F238E27FC236}">
                <a16:creationId xmlns:a16="http://schemas.microsoft.com/office/drawing/2014/main" id="{F74E27FA-3884-9AF9-4EB5-CE1330A51D18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5" name="Google Shape;92;p14">
            <a:extLst>
              <a:ext uri="{FF2B5EF4-FFF2-40B4-BE49-F238E27FC236}">
                <a16:creationId xmlns:a16="http://schemas.microsoft.com/office/drawing/2014/main" id="{03F9F405-CE2A-A9C4-0EEB-1499F5F332F8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Mobilisation des logements vacants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68" name="Google Shape;268;p33"/>
          <p:cNvSpPr txBox="1"/>
          <p:nvPr/>
        </p:nvSpPr>
        <p:spPr>
          <a:xfrm>
            <a:off x="99150" y="1835725"/>
            <a:ext cx="1924500" cy="2240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Situation </a:t>
            </a:r>
            <a:r>
              <a:rPr lang="en-US" sz="1100" b="1" dirty="0" err="1">
                <a:solidFill>
                  <a:schemeClr val="dk1"/>
                </a:solidFill>
              </a:rPr>
              <a:t>actuelle</a:t>
            </a:r>
            <a:r>
              <a:rPr lang="en-US" sz="1100" b="1" dirty="0">
                <a:solidFill>
                  <a:schemeClr val="dk1"/>
                </a:solidFill>
              </a:rPr>
              <a:t> : [Volume arrondi au 100près]</a:t>
            </a:r>
            <a:br>
              <a:rPr lang="en-US" sz="1100" b="1" dirty="0">
                <a:solidFill>
                  <a:schemeClr val="dk1"/>
                </a:solidFill>
              </a:rPr>
            </a:br>
            <a:endParaRPr sz="1100" b="1" dirty="0">
              <a:solidFill>
                <a:schemeClr val="dk1"/>
              </a:solidFill>
            </a:endParaRPr>
          </a:p>
          <a:p>
            <a:pPr marL="28575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Objectif {{projection}}:</a:t>
            </a:r>
            <a:r>
              <a:rPr lang="en-US" sz="1100" dirty="0">
                <a:solidFill>
                  <a:schemeClr val="dk1"/>
                </a:solidFill>
              </a:rPr>
              <a:t>  ([</a:t>
            </a:r>
            <a:r>
              <a:rPr lang="en-US" sz="1100" dirty="0" err="1">
                <a:solidFill>
                  <a:schemeClr val="dk1"/>
                </a:solidFill>
              </a:rPr>
              <a:t>évolution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en</a:t>
            </a:r>
            <a:r>
              <a:rPr lang="en-US" sz="1100" dirty="0">
                <a:solidFill>
                  <a:schemeClr val="dk1"/>
                </a:solidFill>
              </a:rPr>
              <a:t> point])</a:t>
            </a:r>
            <a:br>
              <a:rPr lang="en-US" sz="1100" dirty="0">
                <a:solidFill>
                  <a:schemeClr val="dk1"/>
                </a:solidFill>
              </a:rPr>
            </a:br>
            <a:endParaRPr sz="1100" dirty="0">
              <a:solidFill>
                <a:schemeClr val="dk1"/>
              </a:solidFill>
            </a:endParaRPr>
          </a:p>
          <a:p>
            <a:pPr marL="28575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dirty="0" err="1">
                <a:solidFill>
                  <a:schemeClr val="dk1"/>
                </a:solidFill>
              </a:rPr>
              <a:t>Résultat</a:t>
            </a:r>
            <a:r>
              <a:rPr lang="en-US" sz="1100" dirty="0">
                <a:solidFill>
                  <a:schemeClr val="dk1"/>
                </a:solidFill>
              </a:rPr>
              <a:t> : [</a:t>
            </a:r>
            <a:r>
              <a:rPr lang="en-US" sz="1100" dirty="0" err="1">
                <a:solidFill>
                  <a:schemeClr val="dk1"/>
                </a:solidFill>
              </a:rPr>
              <a:t>nombre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remobiliser</a:t>
            </a:r>
            <a:r>
              <a:rPr lang="en-US" sz="1100" dirty="0">
                <a:solidFill>
                  <a:schemeClr val="dk1"/>
                </a:solidFill>
              </a:rPr>
              <a:t>]</a:t>
            </a: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69" name="Google Shape;269;p33"/>
          <p:cNvSpPr txBox="1"/>
          <p:nvPr/>
        </p:nvSpPr>
        <p:spPr>
          <a:xfrm flipH="1">
            <a:off x="2600450" y="3973650"/>
            <a:ext cx="6171600" cy="1110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Pour </a:t>
            </a:r>
            <a:r>
              <a:rPr lang="en-US" sz="1100" b="1" dirty="0" err="1">
                <a:solidFill>
                  <a:schemeClr val="dk1"/>
                </a:solidFill>
              </a:rPr>
              <a:t>aller</a:t>
            </a:r>
            <a:r>
              <a:rPr lang="en-US" sz="1100" b="1" dirty="0">
                <a:solidFill>
                  <a:schemeClr val="dk1"/>
                </a:solidFill>
              </a:rPr>
              <a:t> plus loin : </a:t>
            </a:r>
            <a:r>
              <a:rPr lang="en-US" sz="1100" b="1" u="sng" dirty="0">
                <a:solidFill>
                  <a:schemeClr val="hlink"/>
                </a:solidFill>
                <a:hlinkClick r:id="rId3"/>
              </a:rPr>
              <a:t>ZéroLogementVacant</a:t>
            </a:r>
            <a:endParaRPr sz="11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</a:rPr>
              <a:t>La </a:t>
            </a:r>
            <a:r>
              <a:rPr lang="en-US" sz="1100" dirty="0" err="1">
                <a:solidFill>
                  <a:schemeClr val="dk1"/>
                </a:solidFill>
              </a:rPr>
              <a:t>plateforme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permet</a:t>
            </a:r>
            <a:r>
              <a:rPr lang="en-US" sz="1100" dirty="0">
                <a:solidFill>
                  <a:schemeClr val="dk1"/>
                </a:solidFill>
              </a:rPr>
              <a:t> aux </a:t>
            </a:r>
            <a:r>
              <a:rPr lang="en-US" sz="1100" dirty="0" err="1">
                <a:solidFill>
                  <a:schemeClr val="dk1"/>
                </a:solidFill>
              </a:rPr>
              <a:t>collectivités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dirty="0" err="1">
                <a:solidFill>
                  <a:schemeClr val="dk1"/>
                </a:solidFill>
              </a:rPr>
              <a:t>repérer</a:t>
            </a:r>
            <a:r>
              <a:rPr lang="en-US" sz="1100" dirty="0">
                <a:solidFill>
                  <a:schemeClr val="dk1"/>
                </a:solidFill>
              </a:rPr>
              <a:t> les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vacants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actuels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potentiels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d'accompagner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leurs</a:t>
            </a:r>
            <a:r>
              <a:rPr lang="en-US" sz="1100" dirty="0">
                <a:solidFill>
                  <a:schemeClr val="dk1"/>
                </a:solidFill>
              </a:rPr>
              <a:t> propriétaires dans la sortie de la </a:t>
            </a:r>
            <a:r>
              <a:rPr lang="en-US" sz="1100" dirty="0" err="1">
                <a:solidFill>
                  <a:schemeClr val="dk1"/>
                </a:solidFill>
              </a:rPr>
              <a:t>vacance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ou</a:t>
            </a:r>
            <a:r>
              <a:rPr lang="en-US" sz="1100" dirty="0">
                <a:solidFill>
                  <a:schemeClr val="dk1"/>
                </a:solidFill>
              </a:rPr>
              <a:t> la </a:t>
            </a:r>
            <a:r>
              <a:rPr lang="en-US" sz="1100" dirty="0" err="1">
                <a:solidFill>
                  <a:schemeClr val="dk1"/>
                </a:solidFill>
              </a:rPr>
              <a:t>rénovation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dirty="0" err="1">
                <a:solidFill>
                  <a:schemeClr val="dk1"/>
                </a:solidFill>
              </a:rPr>
              <a:t>leurs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via de </a:t>
            </a:r>
            <a:r>
              <a:rPr lang="en-US" sz="1100" dirty="0" err="1">
                <a:solidFill>
                  <a:schemeClr val="dk1"/>
                </a:solidFill>
              </a:rPr>
              <a:t>nombreuses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ressources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fonctionnalités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D3A3D5ED-DC9C-5E63-9EB1-FE944CCEFB23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A0BEA2D8-DE5C-EB54-5E9F-94CEC846B55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  <p:pic>
        <p:nvPicPr>
          <p:cNvPr id="4" name="Google Shape;237;p30">
            <a:extLst>
              <a:ext uri="{FF2B5EF4-FFF2-40B4-BE49-F238E27FC236}">
                <a16:creationId xmlns:a16="http://schemas.microsoft.com/office/drawing/2014/main" id="{59FA0B4B-D891-69BD-88AD-4B13D94D742E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rcRect t="10874" b="10874"/>
          <a:stretch/>
        </p:blipFill>
        <p:spPr>
          <a:xfrm>
            <a:off x="2600446" y="657698"/>
            <a:ext cx="6171600" cy="322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et de la composition des ménages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77" name="Google Shape;277;p34"/>
          <p:cNvSpPr txBox="1"/>
          <p:nvPr/>
        </p:nvSpPr>
        <p:spPr>
          <a:xfrm>
            <a:off x="2600450" y="1723825"/>
            <a:ext cx="2224200" cy="3079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2"/>
                </a:solidFill>
              </a:rPr>
              <a:t>📉 Évolution continue de la population</a:t>
            </a:r>
            <a:endParaRPr sz="1200" b="1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2028</a:t>
            </a:r>
            <a:r>
              <a:rPr lang="en-US" sz="1100">
                <a:solidFill>
                  <a:schemeClr val="dk1"/>
                </a:solidFill>
              </a:rPr>
              <a:t> : xxx 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2034</a:t>
            </a:r>
            <a:r>
              <a:rPr lang="en-US" sz="1100">
                <a:solidFill>
                  <a:schemeClr val="dk1"/>
                </a:solidFill>
              </a:rPr>
              <a:t> : xxx 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personnes/ménage</a:t>
            </a:r>
            <a:endParaRPr sz="1100" b="1">
              <a:solidFill>
                <a:schemeClr val="dk2"/>
              </a:solidFill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235450" y="1723825"/>
            <a:ext cx="3313500" cy="3079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2"/>
                </a:solidFill>
              </a:rPr>
              <a:t>📈 Deux typologies en forte croissance</a:t>
            </a:r>
            <a:endParaRPr sz="1200" b="1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👤 Personnes seules : +30% d'ici 2040</a:t>
            </a:r>
            <a:endParaRPr sz="1100" b="1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2021-2040</a:t>
            </a:r>
            <a:r>
              <a:rPr lang="en-US" sz="1100">
                <a:solidFill>
                  <a:schemeClr val="dk1"/>
                </a:solidFill>
              </a:rPr>
              <a:t> : xxx → xxx ménages</a:t>
            </a:r>
            <a:endParaRPr sz="110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>
                <a:solidFill>
                  <a:schemeClr val="dk1"/>
                </a:solidFill>
              </a:rPr>
              <a:t>doc </a:t>
            </a:r>
            <a:r>
              <a:rPr lang="en-US" sz="1100" b="1">
                <a:solidFill>
                  <a:schemeClr val="dk1"/>
                </a:solidFill>
              </a:rPr>
              <a:t>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br>
              <a:rPr lang="en-US" sz="1100" i="1">
                <a:solidFill>
                  <a:schemeClr val="dk1"/>
                </a:solidFill>
              </a:rPr>
            </a:br>
            <a:br>
              <a:rPr lang="en-US" sz="1100" i="1">
                <a:solidFill>
                  <a:schemeClr val="dk1"/>
                </a:solidFill>
              </a:rPr>
            </a:br>
            <a:r>
              <a:rPr lang="en-US" sz="1100" i="1">
                <a:solidFill>
                  <a:schemeClr val="dk1"/>
                </a:solidFill>
              </a:rPr>
              <a:t>→ </a:t>
            </a:r>
            <a:r>
              <a:rPr lang="en-US" sz="1100" b="1">
                <a:solidFill>
                  <a:schemeClr val="dk1"/>
                </a:solidFill>
              </a:rPr>
              <a:t>Profils concernés :</a:t>
            </a:r>
            <a:endParaRPr sz="1100" b="1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Jeunes adultes</a:t>
            </a:r>
            <a:r>
              <a:rPr lang="en-US" sz="1100">
                <a:solidFill>
                  <a:schemeClr val="dk1"/>
                </a:solidFill>
              </a:rPr>
              <a:t> (+xxx des 18-29 ans)</a:t>
            </a:r>
            <a:endParaRPr sz="1100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Seniors</a:t>
            </a:r>
            <a:r>
              <a:rPr lang="en-US" sz="1100">
                <a:solidFill>
                  <a:schemeClr val="dk1"/>
                </a:solidFill>
              </a:rPr>
              <a:t> (+xxx des +65 ans)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👩‍👧 Familles monoparentales : +24% d'ici 2040</a:t>
            </a:r>
            <a:endParaRPr sz="1100" b="1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2021-2040</a:t>
            </a:r>
            <a:r>
              <a:rPr lang="en-US" sz="1100">
                <a:solidFill>
                  <a:schemeClr val="dk1"/>
                </a:solidFill>
              </a:rPr>
              <a:t> : xxx → xxx ménages</a:t>
            </a:r>
            <a:endParaRPr sz="1100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>
                <a:solidFill>
                  <a:schemeClr val="dk1"/>
                </a:solidFill>
              </a:rPr>
              <a:t>doc </a:t>
            </a:r>
            <a:r>
              <a:rPr lang="en-US" sz="1100" b="1">
                <a:solidFill>
                  <a:schemeClr val="dk1"/>
                </a:solidFill>
              </a:rPr>
              <a:t>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79" name="Google Shape;279;p34"/>
          <p:cNvSpPr/>
          <p:nvPr/>
        </p:nvSpPr>
        <p:spPr>
          <a:xfrm>
            <a:off x="6366250" y="1266575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14C3687D-EB15-5126-ADAF-DA16FFB90D53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B3843203-D3C5-65DB-E499-F3D428D629B4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5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(scénario </a:t>
            </a:r>
            <a:r>
              <a:rPr lang="en-US" sz="2400" b="1" i="1">
                <a:solidFill>
                  <a:srgbClr val="262626"/>
                </a:solidFill>
              </a:rPr>
              <a:t>xxxxx </a:t>
            </a:r>
            <a:r>
              <a:rPr lang="en-US" sz="2400" b="1">
                <a:solidFill>
                  <a:srgbClr val="262626"/>
                </a:solidFill>
              </a:rPr>
              <a:t>de l’INSEE)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87" name="Google Shape;287;p35"/>
          <p:cNvSpPr txBox="1"/>
          <p:nvPr/>
        </p:nvSpPr>
        <p:spPr>
          <a:xfrm>
            <a:off x="2600446" y="1047750"/>
            <a:ext cx="62673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 err="1">
                <a:solidFill>
                  <a:srgbClr val="262626"/>
                </a:solidFill>
              </a:rPr>
              <a:t>Vieillissement</a:t>
            </a:r>
            <a:r>
              <a:rPr lang="en-US" sz="2000" i="1" dirty="0">
                <a:solidFill>
                  <a:srgbClr val="262626"/>
                </a:solidFill>
              </a:rPr>
              <a:t> de la population = </a:t>
            </a:r>
            <a:r>
              <a:rPr lang="en-US" sz="2000" i="1" dirty="0" err="1">
                <a:solidFill>
                  <a:srgbClr val="262626"/>
                </a:solidFill>
              </a:rPr>
              <a:t>enjeu</a:t>
            </a:r>
            <a:r>
              <a:rPr lang="en-US" sz="2000" i="1" dirty="0">
                <a:solidFill>
                  <a:srgbClr val="262626"/>
                </a:solidFill>
              </a:rPr>
              <a:t> </a:t>
            </a:r>
            <a:r>
              <a:rPr lang="en-US" sz="2000" i="1" dirty="0" err="1">
                <a:solidFill>
                  <a:srgbClr val="262626"/>
                </a:solidFill>
              </a:rPr>
              <a:t>majeur</a:t>
            </a:r>
            <a:r>
              <a:rPr lang="en-US" sz="2000" i="1" dirty="0">
                <a:solidFill>
                  <a:srgbClr val="262626"/>
                </a:solidFill>
              </a:rPr>
              <a:t> pour </a:t>
            </a:r>
            <a:r>
              <a:rPr lang="en-US" sz="2000" i="1" dirty="0" err="1">
                <a:solidFill>
                  <a:srgbClr val="262626"/>
                </a:solidFill>
              </a:rPr>
              <a:t>l'adaptation</a:t>
            </a:r>
            <a:r>
              <a:rPr lang="en-US" sz="2000" i="1" dirty="0">
                <a:solidFill>
                  <a:srgbClr val="262626"/>
                </a:solidFill>
              </a:rPr>
              <a:t> de </a:t>
            </a:r>
            <a:r>
              <a:rPr lang="en-US" sz="2000" i="1" dirty="0" err="1">
                <a:solidFill>
                  <a:srgbClr val="262626"/>
                </a:solidFill>
              </a:rPr>
              <a:t>l'offre</a:t>
            </a:r>
            <a:r>
              <a:rPr lang="en-US" sz="2000" i="1" dirty="0">
                <a:solidFill>
                  <a:srgbClr val="262626"/>
                </a:solidFill>
              </a:rPr>
              <a:t> de </a:t>
            </a:r>
            <a:r>
              <a:rPr lang="en-US" sz="2000" i="1" dirty="0" err="1">
                <a:solidFill>
                  <a:srgbClr val="262626"/>
                </a:solidFill>
              </a:rPr>
              <a:t>logement</a:t>
            </a:r>
            <a:endParaRPr sz="800" i="1" dirty="0">
              <a:solidFill>
                <a:srgbClr val="262626"/>
              </a:solidFill>
            </a:endParaRPr>
          </a:p>
        </p:txBody>
      </p:sp>
      <p:sp>
        <p:nvSpPr>
          <p:cNvPr id="288" name="Google Shape;288;p35"/>
          <p:cNvSpPr txBox="1"/>
          <p:nvPr/>
        </p:nvSpPr>
        <p:spPr>
          <a:xfrm>
            <a:off x="2600450" y="1952425"/>
            <a:ext cx="2531700" cy="3019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2"/>
                </a:solidFill>
              </a:rPr>
              <a:t>🔄 Transformation de la pyramide des âges</a:t>
            </a:r>
            <a:endParaRPr sz="1100" b="1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📉 Baisse des jeunes (-18 ans)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→ </a:t>
            </a: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</a:t>
            </a:r>
            <a:r>
              <a:rPr lang="en-US" sz="1100" i="1">
                <a:solidFill>
                  <a:schemeClr val="dk1"/>
                </a:solidFill>
              </a:rPr>
              <a:t>(-X%)</a:t>
            </a:r>
            <a:endParaRPr sz="1100" i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PLH 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(-X%)</a:t>
            </a:r>
            <a:endParaRPr sz="1100" i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📈 Explosion des seniors (+65 ans)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→ </a:t>
            </a: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100" i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PLH 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200" b="1">
              <a:solidFill>
                <a:schemeClr val="dk2"/>
              </a:solidFill>
            </a:endParaRPr>
          </a:p>
        </p:txBody>
      </p:sp>
      <p:grpSp>
        <p:nvGrpSpPr>
          <p:cNvPr id="289" name="Google Shape;289;p35"/>
          <p:cNvGrpSpPr/>
          <p:nvPr/>
        </p:nvGrpSpPr>
        <p:grpSpPr>
          <a:xfrm rot="-5400000">
            <a:off x="5370860" y="1974957"/>
            <a:ext cx="145231" cy="266236"/>
            <a:chOff x="-1" y="0"/>
            <a:chExt cx="190917" cy="349988"/>
          </a:xfrm>
        </p:grpSpPr>
        <p:sp>
          <p:nvSpPr>
            <p:cNvPr id="290" name="Google Shape;290;p35"/>
            <p:cNvSpPr/>
            <p:nvPr/>
          </p:nvSpPr>
          <p:spPr>
            <a:xfrm>
              <a:off x="-1" y="241556"/>
              <a:ext cx="113778" cy="108432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2459" y="0"/>
                  </a:moveTo>
                  <a:lnTo>
                    <a:pt x="1534" y="189"/>
                  </a:lnTo>
                  <a:lnTo>
                    <a:pt x="722" y="757"/>
                  </a:lnTo>
                  <a:lnTo>
                    <a:pt x="180" y="1612"/>
                  </a:lnTo>
                  <a:lnTo>
                    <a:pt x="0" y="2584"/>
                  </a:lnTo>
                  <a:lnTo>
                    <a:pt x="180" y="3555"/>
                  </a:lnTo>
                  <a:lnTo>
                    <a:pt x="722" y="4407"/>
                  </a:lnTo>
                  <a:lnTo>
                    <a:pt x="16382" y="20844"/>
                  </a:lnTo>
                  <a:lnTo>
                    <a:pt x="17197" y="21411"/>
                  </a:lnTo>
                  <a:lnTo>
                    <a:pt x="18124" y="21600"/>
                  </a:lnTo>
                  <a:lnTo>
                    <a:pt x="19049" y="21411"/>
                  </a:lnTo>
                  <a:lnTo>
                    <a:pt x="19861" y="20844"/>
                  </a:lnTo>
                  <a:lnTo>
                    <a:pt x="21600" y="19018"/>
                  </a:lnTo>
                  <a:lnTo>
                    <a:pt x="15662" y="19018"/>
                  </a:lnTo>
                  <a:lnTo>
                    <a:pt x="15662" y="12780"/>
                  </a:lnTo>
                  <a:lnTo>
                    <a:pt x="4200" y="757"/>
                  </a:lnTo>
                  <a:lnTo>
                    <a:pt x="3385" y="189"/>
                  </a:lnTo>
                  <a:lnTo>
                    <a:pt x="245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1" name="Google Shape;291;p35"/>
            <p:cNvSpPr/>
            <p:nvPr/>
          </p:nvSpPr>
          <p:spPr>
            <a:xfrm>
              <a:off x="108404" y="241556"/>
              <a:ext cx="82512" cy="95472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209" y="0"/>
                  </a:moveTo>
                  <a:lnTo>
                    <a:pt x="16931" y="215"/>
                  </a:lnTo>
                  <a:lnTo>
                    <a:pt x="15807" y="860"/>
                  </a:lnTo>
                  <a:lnTo>
                    <a:pt x="6" y="14515"/>
                  </a:lnTo>
                  <a:lnTo>
                    <a:pt x="0" y="21600"/>
                  </a:lnTo>
                  <a:lnTo>
                    <a:pt x="1405" y="21600"/>
                  </a:lnTo>
                  <a:lnTo>
                    <a:pt x="20605" y="5006"/>
                  </a:lnTo>
                  <a:lnTo>
                    <a:pt x="21351" y="4038"/>
                  </a:lnTo>
                  <a:lnTo>
                    <a:pt x="21600" y="2935"/>
                  </a:lnTo>
                  <a:lnTo>
                    <a:pt x="21351" y="1831"/>
                  </a:lnTo>
                  <a:lnTo>
                    <a:pt x="20605" y="860"/>
                  </a:lnTo>
                  <a:lnTo>
                    <a:pt x="19485" y="215"/>
                  </a:lnTo>
                  <a:lnTo>
                    <a:pt x="1820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35"/>
            <p:cNvSpPr/>
            <p:nvPr/>
          </p:nvSpPr>
          <p:spPr>
            <a:xfrm>
              <a:off x="82493" y="0"/>
              <a:ext cx="25920" cy="318654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18" y="20723"/>
                  </a:lnTo>
                  <a:lnTo>
                    <a:pt x="10811" y="21600"/>
                  </a:lnTo>
                  <a:lnTo>
                    <a:pt x="21600" y="20723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35"/>
            <p:cNvSpPr/>
            <p:nvPr/>
          </p:nvSpPr>
          <p:spPr>
            <a:xfrm>
              <a:off x="82493" y="305706"/>
              <a:ext cx="25920" cy="31320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8943"/>
                  </a:lnTo>
                  <a:lnTo>
                    <a:pt x="10811" y="8943"/>
                  </a:lnTo>
                  <a:lnTo>
                    <a:pt x="0" y="0"/>
                  </a:lnTo>
                  <a:close/>
                  <a:moveTo>
                    <a:pt x="21600" y="15"/>
                  </a:moveTo>
                  <a:lnTo>
                    <a:pt x="10811" y="8943"/>
                  </a:lnTo>
                  <a:lnTo>
                    <a:pt x="21600" y="8943"/>
                  </a:lnTo>
                  <a:lnTo>
                    <a:pt x="21600" y="1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4" name="Google Shape;294;p35"/>
          <p:cNvSpPr txBox="1"/>
          <p:nvPr/>
        </p:nvSpPr>
        <p:spPr>
          <a:xfrm>
            <a:off x="5914025" y="1943325"/>
            <a:ext cx="2953800" cy="804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2"/>
                </a:solidFill>
              </a:rPr>
              <a:t>🏠 Implications pour le logement</a:t>
            </a:r>
            <a:endParaRPr sz="1100" b="1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{Analyse}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{Analyse}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295" name="Google Shape;295;p35"/>
          <p:cNvSpPr/>
          <p:nvPr/>
        </p:nvSpPr>
        <p:spPr>
          <a:xfrm>
            <a:off x="2615600" y="3321875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5B2E0224-6C35-77A4-9742-D2886C19CFD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3176A229-AFA4-EBD8-BE94-E8521F11ED5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36"/>
          <p:cNvPicPr preferRelativeResize="0"/>
          <p:nvPr/>
        </p:nvPicPr>
        <p:blipFill rotWithShape="1">
          <a:blip r:embed="rId3">
            <a:alphaModFix/>
          </a:blip>
          <a:srcRect t="10770"/>
          <a:stretch/>
        </p:blipFill>
        <p:spPr>
          <a:xfrm>
            <a:off x="3084098" y="1745801"/>
            <a:ext cx="5713525" cy="3144977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6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(scénario </a:t>
            </a:r>
            <a:r>
              <a:rPr lang="en-US" sz="2400" b="1" i="1">
                <a:solidFill>
                  <a:srgbClr val="262626"/>
                </a:solidFill>
              </a:rPr>
              <a:t>xxxxx </a:t>
            </a:r>
            <a:r>
              <a:rPr lang="en-US" sz="2400" b="1">
                <a:solidFill>
                  <a:srgbClr val="262626"/>
                </a:solidFill>
              </a:rPr>
              <a:t>de l’INSEE)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304" name="Google Shape;304;p36"/>
          <p:cNvSpPr txBox="1"/>
          <p:nvPr/>
        </p:nvSpPr>
        <p:spPr>
          <a:xfrm>
            <a:off x="2600446" y="1047750"/>
            <a:ext cx="6267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300" i="1">
                <a:solidFill>
                  <a:srgbClr val="262626"/>
                </a:solidFill>
              </a:rPr>
              <a:t>Vieillissement de la population = enjeu majeur pour l'adaptation de l'offre de logement</a:t>
            </a:r>
            <a:endParaRPr sz="100" i="1">
              <a:solidFill>
                <a:srgbClr val="262626"/>
              </a:solidFill>
            </a:endParaRPr>
          </a:p>
        </p:txBody>
      </p:sp>
      <p:sp>
        <p:nvSpPr>
          <p:cNvPr id="305" name="Google Shape;305;p36"/>
          <p:cNvSpPr txBox="1"/>
          <p:nvPr/>
        </p:nvSpPr>
        <p:spPr>
          <a:xfrm>
            <a:off x="2600450" y="4834200"/>
            <a:ext cx="6370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Evolution de la population par groupe d’âge</a:t>
            </a:r>
            <a:endParaRPr sz="1200" i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6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A3DF835C-068C-E6D7-0D54-1275FE769F4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FE242365-6F8F-FC07-EF92-2BA7DAE670A0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Google Shape;313;p37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955038" y="1519175"/>
            <a:ext cx="5558100" cy="343230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37"/>
          <p:cNvSpPr txBox="1"/>
          <p:nvPr/>
        </p:nvSpPr>
        <p:spPr>
          <a:xfrm>
            <a:off x="2600446" y="209550"/>
            <a:ext cx="6267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315" name="Google Shape;315;p37"/>
          <p:cNvSpPr/>
          <p:nvPr/>
        </p:nvSpPr>
        <p:spPr>
          <a:xfrm>
            <a:off x="4721050" y="1713425"/>
            <a:ext cx="729600" cy="1893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7"/>
          <p:cNvSpPr/>
          <p:nvPr/>
        </p:nvSpPr>
        <p:spPr>
          <a:xfrm>
            <a:off x="7900100" y="3181000"/>
            <a:ext cx="532200" cy="1359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37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9E17D01-A28F-816A-0E30-BDF02D5698C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CE18EDAE-706B-AD17-CC53-42F824CA3B28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8"/>
          <p:cNvSpPr txBox="1"/>
          <p:nvPr/>
        </p:nvSpPr>
        <p:spPr>
          <a:xfrm>
            <a:off x="2600446" y="209550"/>
            <a:ext cx="6267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325" name="Google Shape;325;p38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600449" y="1248924"/>
            <a:ext cx="6032700" cy="372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8"/>
          <p:cNvSpPr txBox="1"/>
          <p:nvPr/>
        </p:nvSpPr>
        <p:spPr>
          <a:xfrm>
            <a:off x="2600446" y="742950"/>
            <a:ext cx="626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>
                <a:solidFill>
                  <a:srgbClr val="262626"/>
                </a:solidFill>
              </a:rPr>
              <a:t>Pyramide des âges</a:t>
            </a:r>
            <a:endParaRPr sz="800" i="1">
              <a:solidFill>
                <a:srgbClr val="262626"/>
              </a:solidFill>
            </a:endParaRPr>
          </a:p>
        </p:txBody>
      </p:sp>
      <p:sp>
        <p:nvSpPr>
          <p:cNvPr id="329" name="Google Shape;329;p38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2B22ED0F-6294-F128-33CA-ACCC3E8D4952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4C5C2906-50DD-9DE8-E37A-68E2A07C7AD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9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Conclusion</a:t>
            </a:r>
            <a:endParaRPr sz="3000" b="0" i="1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528815B0-67C5-E4C2-5A31-1ABF1020DC61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0CAAF03A-431F-62AF-E606-EB5963645232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1"/>
          <p:cNvSpPr txBox="1"/>
          <p:nvPr/>
        </p:nvSpPr>
        <p:spPr>
          <a:xfrm>
            <a:off x="967450" y="1909950"/>
            <a:ext cx="5401200" cy="13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900"/>
              <a:buFont typeface="Arial"/>
              <a:buNone/>
            </a:pPr>
            <a:r>
              <a:rPr lang="en-US" sz="4000" dirty="0">
                <a:solidFill>
                  <a:schemeClr val="lt1"/>
                </a:solidFill>
              </a:rPr>
              <a:t>Pour </a:t>
            </a:r>
            <a:r>
              <a:rPr lang="en-US" sz="4000" dirty="0" err="1">
                <a:solidFill>
                  <a:schemeClr val="lt1"/>
                </a:solidFill>
              </a:rPr>
              <a:t>aller</a:t>
            </a:r>
            <a:r>
              <a:rPr lang="en-US" sz="4000" dirty="0">
                <a:solidFill>
                  <a:schemeClr val="lt1"/>
                </a:solidFill>
              </a:rPr>
              <a:t> plus loin</a:t>
            </a:r>
            <a:endParaRPr sz="4000" b="1" dirty="0">
              <a:solidFill>
                <a:schemeClr val="lt1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900"/>
              <a:buFont typeface="Arial"/>
              <a:buNone/>
            </a:pPr>
            <a:r>
              <a:rPr lang="en-US" sz="4000" b="1" dirty="0" err="1">
                <a:solidFill>
                  <a:schemeClr val="lt1"/>
                </a:solidFill>
              </a:rPr>
              <a:t>otelo.beta.gouv.fr</a:t>
            </a:r>
            <a:endParaRPr sz="4000" b="1" dirty="0">
              <a:solidFill>
                <a:schemeClr val="lt1"/>
              </a:solidFill>
            </a:endParaRPr>
          </a:p>
        </p:txBody>
      </p:sp>
      <p:pic>
        <p:nvPicPr>
          <p:cNvPr id="346" name="Google Shape;346;p41" title="Capture d’écran 2025-07-30 à 12.09.3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18975" y="478063"/>
            <a:ext cx="2263800" cy="418737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696AF5"/>
      </a:dk2>
      <a:lt2>
        <a:srgbClr val="000091"/>
      </a:lt2>
      <a:accent1>
        <a:srgbClr val="E1000F"/>
      </a:accent1>
      <a:accent2>
        <a:srgbClr val="5393FF"/>
      </a:accent2>
      <a:accent3>
        <a:srgbClr val="F1F2FF"/>
      </a:accent3>
      <a:accent4>
        <a:srgbClr val="CED1FF"/>
      </a:accent4>
      <a:accent5>
        <a:srgbClr val="434343"/>
      </a:accent5>
      <a:accent6>
        <a:srgbClr val="E0E0E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2106</Words>
  <Application>Microsoft Macintosh PowerPoint</Application>
  <PresentationFormat>On-screen Show (16:9)</PresentationFormat>
  <Paragraphs>329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PowerPoint Presentation</vt:lpstr>
      <vt:lpstr>Ordre du jour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Microsoft Office User</cp:lastModifiedBy>
  <cp:revision>51</cp:revision>
  <dcterms:modified xsi:type="dcterms:W3CDTF">2025-10-30T18:39:02Z</dcterms:modified>
</cp:coreProperties>
</file>