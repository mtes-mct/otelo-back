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comment1.xml" ContentType="application/vnd.openxmlformats-officedocument.presentationml.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comment2.xml" ContentType="application/vnd.openxmlformats-officedocument.presentationml.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omments/comment3.xml" ContentType="application/vnd.openxmlformats-officedocument.presentationml.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luc bercegol" initials="" lastIdx="1" clrIdx="0"/>
  <p:cmAuthor id="1" name="Kévin Gallet" initials="" lastIdx="2"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782ED91-6AAA-4FC9-A8D7-22FAF3BB82A8}">
  <a:tblStyle styleId="{8782ED91-6AAA-4FC9-A8D7-22FAF3BB82A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30"/>
    <p:restoredTop sz="94720"/>
  </p:normalViewPr>
  <p:slideViewPr>
    <p:cSldViewPr snapToGrid="0">
      <p:cViewPr varScale="1">
        <p:scale>
          <a:sx n="196" d="100"/>
          <a:sy n="196" d="100"/>
        </p:scale>
        <p:origin x="168" y="1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5-10-07T22:38:16.276" idx="1">
    <p:pos x="6000" y="0"/>
    <p:text>Comparer les projections des scenarios - potentiellement scenario bas-décélaration // haut-accélération</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5-10-07T13:33:33.704" idx="1">
    <p:pos x="6000" y="0"/>
    <p:text>Reprendre les paramétrage des scenarios choisis</p:text>
  </p:cm>
</p:cmLst>
</file>

<file path=ppt/comments/comment3.xml><?xml version="1.0" encoding="utf-8"?>
<p:cmLst xmlns:a="http://schemas.openxmlformats.org/drawingml/2006/main" xmlns:r="http://schemas.openxmlformats.org/officeDocument/2006/relationships" xmlns:p="http://schemas.openxmlformats.org/presentationml/2006/main">
  <p:cm authorId="1" dt="2025-10-07T13:54:53.338" idx="2">
    <p:pos x="6000" y="0"/>
    <p:text>Phase 3 à mettre que si elle existe (en fonction de l'horizon de projection)</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500" b="0" i="0" u="none" strike="noStrike" cap="none">
                <a:latin typeface="Calibri"/>
                <a:ea typeface="Calibri"/>
                <a:cs typeface="Calibri"/>
                <a:sym typeface="Calibri"/>
              </a:defRPr>
            </a:lvl1pPr>
            <a:lvl2pPr marL="914400" marR="0" lvl="1" indent="-228600" algn="l" rtl="0">
              <a:spcBef>
                <a:spcPts val="0"/>
              </a:spcBef>
              <a:spcAft>
                <a:spcPts val="0"/>
              </a:spcAft>
              <a:buSzPts val="1400"/>
              <a:buNone/>
              <a:defRPr sz="5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5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5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5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5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5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5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500" b="0" i="0" u="none" strike="noStrike" cap="none">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344fd065450_0_3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 name="Google Shape;60;g344fd065450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44fd065450_1_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2" name="Google Shape;72;g344fd06545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 name="Google Shape;78;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44fd065450_1_7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 name="Google Shape;83;g344fd065450_1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344fd065450_1_27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g344fd065450_1_2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44fd065450_1_5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 name="Google Shape;100;g344fd065450_1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851d7b12f9_2_8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851d7b12f9_2_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851d7b12f9_2_8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g3851d7b12f9_2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851d7b12f9_2_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3851d7b12f9_2_10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44fd065450_1_16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g344fd065450_1_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44fd065450_1_24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 name="Google Shape;153;g344fd065450_1_2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851d7b12f9_2_12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2" name="Google Shape;162;g3851d7b12f9_2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44fd065450_1_27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1" name="Google Shape;171;g344fd065450_1_27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44fd065450_1_14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6" name="Google Shape;176;g344fd065450_1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44fd065450_1_41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g344fd065450_1_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44fd065450_1_48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4" name="Google Shape;194;g344fd065450_1_4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44fd065450_1_29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g344fd065450_1_2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44fd065450_1_28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8" name="Google Shape;218;g344fd065450_1_28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44fd065450_1_36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3" name="Google Shape;223;g344fd065450_1_3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44fd065450_1_35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4fd065450_1_3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3" name="Google Shape;243;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44fd065450_1_61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5" name="Google Shape;255;g344fd065450_1_6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44fd065450_1_62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g344fd065450_1_6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44fd065450_1_54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4" name="Google Shape;274;g344fd065450_1_5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44fd065450_1_49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4" name="Google Shape;284;g344fd065450_1_4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344fd065450_1_52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0" name="Google Shape;300;g344fd065450_1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g344fd065450_1_57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1" name="Google Shape;311;g344fd065450_1_5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344fd065450_1_56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2" name="Google Shape;322;g344fd065450_1_5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3724eb1bdc4_0_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2" name="Google Shape;332;g3724eb1bdc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3851d7b12f9_2_7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7" name="Google Shape;337;g3851d7b12f9_2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3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3" name="Google Shape;343;p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0" type="tx">
  <p:cSld name="TITLE_AND_BODY">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559801" y="4783454"/>
            <a:ext cx="127001" cy="127001"/>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2" title="otelo-logo-hd-alternative1.png"/>
          <p:cNvPicPr preferRelativeResize="0"/>
          <p:nvPr/>
        </p:nvPicPr>
        <p:blipFill rotWithShape="1">
          <a:blip r:embed="rId2">
            <a:alphaModFix/>
          </a:blip>
          <a:srcRect l="7214" t="26251" r="6078" b="34857"/>
          <a:stretch/>
        </p:blipFill>
        <p:spPr>
          <a:xfrm>
            <a:off x="113825" y="4733400"/>
            <a:ext cx="1830635" cy="231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0 1">
  <p:cSld name="TITLE_AND_BODY_1">
    <p:spTree>
      <p:nvGrpSpPr>
        <p:cNvPr id="1" name="Shape 12"/>
        <p:cNvGrpSpPr/>
        <p:nvPr/>
      </p:nvGrpSpPr>
      <p:grpSpPr>
        <a:xfrm>
          <a:off x="0" y="0"/>
          <a:ext cx="0" cy="0"/>
          <a:chOff x="0" y="0"/>
          <a:chExt cx="0" cy="0"/>
        </a:xfrm>
      </p:grpSpPr>
      <p:sp>
        <p:nvSpPr>
          <p:cNvPr id="13" name="Google Shape;13;p3"/>
          <p:cNvSpPr txBox="1">
            <a:spLocks noGrp="1"/>
          </p:cNvSpPr>
          <p:nvPr>
            <p:ph type="body" idx="1"/>
          </p:nvPr>
        </p:nvSpPr>
        <p:spPr>
          <a:xfrm>
            <a:off x="2709800" y="1384950"/>
            <a:ext cx="5125200" cy="231000"/>
          </a:xfrm>
          <a:prstGeom prst="rect">
            <a:avLst/>
          </a:prstGeom>
          <a:noFill/>
          <a:ln>
            <a:noFill/>
          </a:ln>
        </p:spPr>
        <p:txBody>
          <a:bodyPr spcFirstLastPara="1" wrap="square" lIns="0" tIns="0" rIns="0" bIns="0" anchor="t" anchorCtr="0">
            <a:noAutofit/>
          </a:bodyPr>
          <a:lstStyle>
            <a:lvl1pPr marL="457200" marR="0" lvl="0" indent="-228600" algn="l" rtl="0">
              <a:lnSpc>
                <a:spcPct val="100000"/>
              </a:lnSpc>
              <a:spcBef>
                <a:spcPts val="0"/>
              </a:spcBef>
              <a:spcAft>
                <a:spcPts val="0"/>
              </a:spcAft>
              <a:buNone/>
              <a:defRPr sz="1500">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None/>
              <a:defRPr sz="1500">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None/>
              <a:defRPr sz="1500">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None/>
              <a:defRPr sz="1500">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None/>
              <a:defRPr sz="1500">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None/>
              <a:defRPr sz="1500">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None/>
              <a:defRPr sz="1500">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None/>
              <a:defRPr sz="1500">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None/>
              <a:defRPr sz="1500">
                <a:solidFill>
                  <a:schemeClr val="dk1"/>
                </a:solidFill>
                <a:latin typeface="Arial"/>
                <a:ea typeface="Arial"/>
                <a:cs typeface="Arial"/>
                <a:sym typeface="Arial"/>
              </a:defRPr>
            </a:lvl9pPr>
          </a:lstStyle>
          <a:p>
            <a:endParaRPr/>
          </a:p>
        </p:txBody>
      </p:sp>
      <p:sp>
        <p:nvSpPr>
          <p:cNvPr id="14" name="Google Shape;14;p3"/>
          <p:cNvSpPr txBox="1">
            <a:spLocks noGrp="1"/>
          </p:cNvSpPr>
          <p:nvPr>
            <p:ph type="sldNum" idx="12"/>
          </p:nvPr>
        </p:nvSpPr>
        <p:spPr>
          <a:xfrm>
            <a:off x="8559801" y="4783454"/>
            <a:ext cx="126900" cy="1077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cxnSp>
        <p:nvCxnSpPr>
          <p:cNvPr id="15" name="Google Shape;15;p3"/>
          <p:cNvCxnSpPr/>
          <p:nvPr/>
        </p:nvCxnSpPr>
        <p:spPr>
          <a:xfrm>
            <a:off x="2065183" y="0"/>
            <a:ext cx="0" cy="5141700"/>
          </a:xfrm>
          <a:prstGeom prst="straightConnector1">
            <a:avLst/>
          </a:prstGeom>
          <a:noFill/>
          <a:ln w="12700" cap="flat" cmpd="sng">
            <a:solidFill>
              <a:schemeClr val="accent6"/>
            </a:solidFill>
            <a:prstDash val="solid"/>
            <a:round/>
            <a:headEnd type="none" w="sm" len="sm"/>
            <a:tailEnd type="none" w="sm" len="sm"/>
          </a:ln>
        </p:spPr>
      </p:cxnSp>
      <p:pic>
        <p:nvPicPr>
          <p:cNvPr id="16" name="Google Shape;16;p3" title="otelo-logo-hd-alternative1.png"/>
          <p:cNvPicPr preferRelativeResize="0"/>
          <p:nvPr/>
        </p:nvPicPr>
        <p:blipFill rotWithShape="1">
          <a:blip r:embed="rId2">
            <a:alphaModFix/>
          </a:blip>
          <a:srcRect l="7214" t="26251" r="6078" b="34857"/>
          <a:stretch/>
        </p:blipFill>
        <p:spPr>
          <a:xfrm>
            <a:off x="113825" y="4733400"/>
            <a:ext cx="1830635" cy="231000"/>
          </a:xfrm>
          <a:prstGeom prst="rect">
            <a:avLst/>
          </a:prstGeom>
          <a:noFill/>
          <a:ln>
            <a:noFill/>
          </a:ln>
        </p:spPr>
      </p:pic>
      <p:pic>
        <p:nvPicPr>
          <p:cNvPr id="17" name="Google Shape;17;p3"/>
          <p:cNvPicPr preferRelativeResize="0"/>
          <p:nvPr/>
        </p:nvPicPr>
        <p:blipFill>
          <a:blip r:embed="rId3">
            <a:alphaModFix/>
          </a:blip>
          <a:stretch>
            <a:fillRect/>
          </a:stretch>
        </p:blipFill>
        <p:spPr>
          <a:xfrm>
            <a:off x="113825" y="62804"/>
            <a:ext cx="1037625" cy="951150"/>
          </a:xfrm>
          <a:prstGeom prst="rect">
            <a:avLst/>
          </a:prstGeom>
          <a:noFill/>
          <a:ln>
            <a:noFill/>
          </a:ln>
        </p:spPr>
      </p:pic>
      <p:grpSp>
        <p:nvGrpSpPr>
          <p:cNvPr id="18" name="Google Shape;18;p3"/>
          <p:cNvGrpSpPr/>
          <p:nvPr/>
        </p:nvGrpSpPr>
        <p:grpSpPr>
          <a:xfrm>
            <a:off x="113825" y="1080753"/>
            <a:ext cx="1122300" cy="839400"/>
            <a:chOff x="235775" y="4026900"/>
            <a:chExt cx="1122300" cy="839400"/>
          </a:xfrm>
        </p:grpSpPr>
        <p:sp>
          <p:nvSpPr>
            <p:cNvPr id="19" name="Google Shape;19;p3"/>
            <p:cNvSpPr/>
            <p:nvPr/>
          </p:nvSpPr>
          <p:spPr>
            <a:xfrm>
              <a:off x="235775" y="4026900"/>
              <a:ext cx="1122300" cy="839400"/>
            </a:xfrm>
            <a:prstGeom prst="roundRect">
              <a:avLst>
                <a:gd name="adj" fmla="val 16667"/>
              </a:avLst>
            </a:prstGeom>
            <a:solidFill>
              <a:srgbClr val="FFFFFF"/>
            </a:solidFill>
            <a:ln w="9525" cap="flat" cmpd="sng">
              <a:solidFill>
                <a:srgbClr val="06009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 name="Google Shape;20;p3"/>
            <p:cNvPicPr preferRelativeResize="0"/>
            <p:nvPr/>
          </p:nvPicPr>
          <p:blipFill>
            <a:blip r:embed="rId4">
              <a:alphaModFix/>
            </a:blip>
            <a:stretch>
              <a:fillRect/>
            </a:stretch>
          </p:blipFill>
          <p:spPr>
            <a:xfrm>
              <a:off x="344008" y="4518538"/>
              <a:ext cx="936893" cy="273168"/>
            </a:xfrm>
            <a:prstGeom prst="rect">
              <a:avLst/>
            </a:prstGeom>
            <a:noFill/>
            <a:ln>
              <a:noFill/>
            </a:ln>
          </p:spPr>
        </p:pic>
        <p:pic>
          <p:nvPicPr>
            <p:cNvPr id="21" name="Google Shape;21;p3"/>
            <p:cNvPicPr preferRelativeResize="0"/>
            <p:nvPr/>
          </p:nvPicPr>
          <p:blipFill>
            <a:blip r:embed="rId5">
              <a:alphaModFix/>
            </a:blip>
            <a:stretch>
              <a:fillRect/>
            </a:stretch>
          </p:blipFill>
          <p:spPr>
            <a:xfrm>
              <a:off x="820604" y="4178039"/>
              <a:ext cx="423606" cy="144130"/>
            </a:xfrm>
            <a:prstGeom prst="rect">
              <a:avLst/>
            </a:prstGeom>
            <a:noFill/>
            <a:ln>
              <a:noFill/>
            </a:ln>
          </p:spPr>
        </p:pic>
        <p:pic>
          <p:nvPicPr>
            <p:cNvPr id="22" name="Google Shape;22;p3"/>
            <p:cNvPicPr preferRelativeResize="0"/>
            <p:nvPr/>
          </p:nvPicPr>
          <p:blipFill>
            <a:blip r:embed="rId6">
              <a:alphaModFix/>
            </a:blip>
            <a:stretch>
              <a:fillRect/>
            </a:stretch>
          </p:blipFill>
          <p:spPr>
            <a:xfrm>
              <a:off x="344000" y="4055487"/>
              <a:ext cx="389260" cy="389260"/>
            </a:xfrm>
            <a:prstGeom prst="rect">
              <a:avLst/>
            </a:prstGeom>
            <a:noFill/>
            <a:ln>
              <a:noFill/>
            </a:ln>
          </p:spPr>
        </p:pic>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0 1 2">
  <p:cSld name="TITLE_AND_BODY_1_2">
    <p:spTree>
      <p:nvGrpSpPr>
        <p:cNvPr id="1" name="Shape 23"/>
        <p:cNvGrpSpPr/>
        <p:nvPr/>
      </p:nvGrpSpPr>
      <p:grpSpPr>
        <a:xfrm>
          <a:off x="0" y="0"/>
          <a:ext cx="0" cy="0"/>
          <a:chOff x="0" y="0"/>
          <a:chExt cx="0" cy="0"/>
        </a:xfrm>
      </p:grpSpPr>
      <p:sp>
        <p:nvSpPr>
          <p:cNvPr id="24" name="Google Shape;24;p4"/>
          <p:cNvSpPr txBox="1">
            <a:spLocks noGrp="1"/>
          </p:cNvSpPr>
          <p:nvPr>
            <p:ph type="sldNum" idx="12"/>
          </p:nvPr>
        </p:nvSpPr>
        <p:spPr>
          <a:xfrm>
            <a:off x="8559801" y="4783454"/>
            <a:ext cx="126900" cy="1077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cxnSp>
        <p:nvCxnSpPr>
          <p:cNvPr id="25" name="Google Shape;25;p4"/>
          <p:cNvCxnSpPr/>
          <p:nvPr/>
        </p:nvCxnSpPr>
        <p:spPr>
          <a:xfrm>
            <a:off x="2065183" y="0"/>
            <a:ext cx="0" cy="5141700"/>
          </a:xfrm>
          <a:prstGeom prst="straightConnector1">
            <a:avLst/>
          </a:prstGeom>
          <a:noFill/>
          <a:ln w="12700" cap="flat" cmpd="sng">
            <a:solidFill>
              <a:schemeClr val="accent6"/>
            </a:solidFill>
            <a:prstDash val="solid"/>
            <a:round/>
            <a:headEnd type="none" w="sm" len="sm"/>
            <a:tailEnd type="none" w="sm" len="sm"/>
          </a:ln>
        </p:spPr>
      </p:cxnSp>
      <p:pic>
        <p:nvPicPr>
          <p:cNvPr id="26" name="Google Shape;26;p4" descr="Kit logo Cerema | Cerema"/>
          <p:cNvPicPr preferRelativeResize="0"/>
          <p:nvPr/>
        </p:nvPicPr>
        <p:blipFill rotWithShape="1">
          <a:blip r:embed="rId2">
            <a:alphaModFix/>
          </a:blip>
          <a:srcRect/>
          <a:stretch/>
        </p:blipFill>
        <p:spPr>
          <a:xfrm>
            <a:off x="60571" y="181873"/>
            <a:ext cx="859174" cy="250500"/>
          </a:xfrm>
          <a:prstGeom prst="rect">
            <a:avLst/>
          </a:prstGeom>
          <a:noFill/>
          <a:ln>
            <a:noFill/>
          </a:ln>
        </p:spPr>
      </p:pic>
      <p:pic>
        <p:nvPicPr>
          <p:cNvPr id="27" name="Google Shape;27;p4" title="otelo-logo-hd-alternative1.png"/>
          <p:cNvPicPr preferRelativeResize="0"/>
          <p:nvPr/>
        </p:nvPicPr>
        <p:blipFill rotWithShape="1">
          <a:blip r:embed="rId3">
            <a:alphaModFix/>
          </a:blip>
          <a:srcRect l="7214" t="26251" r="6078" b="34857"/>
          <a:stretch/>
        </p:blipFill>
        <p:spPr>
          <a:xfrm>
            <a:off x="113825" y="4733400"/>
            <a:ext cx="1830635" cy="231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28"/>
        <p:cNvGrpSpPr/>
        <p:nvPr/>
      </p:nvGrpSpPr>
      <p:grpSpPr>
        <a:xfrm>
          <a:off x="0" y="0"/>
          <a:ext cx="0" cy="0"/>
          <a:chOff x="0" y="0"/>
          <a:chExt cx="0" cy="0"/>
        </a:xfrm>
      </p:grpSpPr>
      <p:sp>
        <p:nvSpPr>
          <p:cNvPr id="29" name="Google Shape;29;p5"/>
          <p:cNvSpPr txBox="1">
            <a:spLocks noGrp="1"/>
          </p:cNvSpPr>
          <p:nvPr>
            <p:ph type="sldNum" idx="12"/>
          </p:nvPr>
        </p:nvSpPr>
        <p:spPr>
          <a:xfrm>
            <a:off x="8559801" y="4783454"/>
            <a:ext cx="127001" cy="127001"/>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2"/>
        </a:solidFill>
        <a:effectLst/>
      </p:bgPr>
    </p:bg>
    <p:spTree>
      <p:nvGrpSpPr>
        <p:cNvPr id="1" name="Shape 30"/>
        <p:cNvGrpSpPr/>
        <p:nvPr/>
      </p:nvGrpSpPr>
      <p:grpSpPr>
        <a:xfrm>
          <a:off x="0" y="0"/>
          <a:ext cx="0" cy="0"/>
          <a:chOff x="0" y="0"/>
          <a:chExt cx="0" cy="0"/>
        </a:xfrm>
      </p:grpSpPr>
      <p:sp>
        <p:nvSpPr>
          <p:cNvPr id="31" name="Google Shape;31;p6"/>
          <p:cNvSpPr txBox="1">
            <a:spLocks noGrp="1"/>
          </p:cNvSpPr>
          <p:nvPr>
            <p:ph type="body" idx="1"/>
          </p:nvPr>
        </p:nvSpPr>
        <p:spPr>
          <a:xfrm>
            <a:off x="4927125" y="1088825"/>
            <a:ext cx="3632700" cy="2590800"/>
          </a:xfrm>
          <a:prstGeom prst="rect">
            <a:avLst/>
          </a:prstGeom>
          <a:noFill/>
          <a:ln>
            <a:noFill/>
          </a:ln>
        </p:spPr>
        <p:txBody>
          <a:bodyPr spcFirstLastPara="1" wrap="square" lIns="0" tIns="0" rIns="0" bIns="0" anchor="ctr" anchorCtr="0">
            <a:noAutofit/>
          </a:bodyPr>
          <a:lstStyle>
            <a:lvl1pPr marL="457200" marR="0" lvl="0" indent="-228600" algn="l" rtl="0">
              <a:lnSpc>
                <a:spcPct val="100000"/>
              </a:lnSpc>
              <a:spcBef>
                <a:spcPts val="0"/>
              </a:spcBef>
              <a:spcAft>
                <a:spcPts val="0"/>
              </a:spcAft>
              <a:buClr>
                <a:srgbClr val="FFFFFF"/>
              </a:buClr>
              <a:buSzPts val="1800"/>
              <a:buFont typeface="Arial"/>
              <a:buNone/>
              <a:defRPr b="1">
                <a:solidFill>
                  <a:schemeClr val="lt1"/>
                </a:solidFill>
                <a:latin typeface="Arial"/>
                <a:ea typeface="Arial"/>
                <a:cs typeface="Arial"/>
                <a:sym typeface="Arial"/>
              </a:defRPr>
            </a:lvl1pPr>
            <a:lvl2pPr marL="914400" lvl="1" indent="-228600" algn="l">
              <a:lnSpc>
                <a:spcPct val="100000"/>
              </a:lnSpc>
              <a:spcBef>
                <a:spcPts val="0"/>
              </a:spcBef>
              <a:spcAft>
                <a:spcPts val="0"/>
              </a:spcAft>
              <a:buClr>
                <a:schemeClr val="lt1"/>
              </a:buClr>
              <a:buSzPts val="1800"/>
              <a:buNone/>
              <a:defRPr>
                <a:solidFill>
                  <a:schemeClr val="lt1"/>
                </a:solidFill>
              </a:defRPr>
            </a:lvl2pPr>
            <a:lvl3pPr marL="1371600" lvl="2" indent="-228600" algn="l">
              <a:lnSpc>
                <a:spcPct val="100000"/>
              </a:lnSpc>
              <a:spcBef>
                <a:spcPts val="0"/>
              </a:spcBef>
              <a:spcAft>
                <a:spcPts val="0"/>
              </a:spcAft>
              <a:buClr>
                <a:schemeClr val="lt1"/>
              </a:buClr>
              <a:buSzPts val="1800"/>
              <a:buNone/>
              <a:defRPr>
                <a:solidFill>
                  <a:schemeClr val="lt1"/>
                </a:solidFill>
              </a:defRPr>
            </a:lvl3pPr>
            <a:lvl4pPr marL="1828800" lvl="3" indent="-228600" algn="l">
              <a:lnSpc>
                <a:spcPct val="100000"/>
              </a:lnSpc>
              <a:spcBef>
                <a:spcPts val="0"/>
              </a:spcBef>
              <a:spcAft>
                <a:spcPts val="0"/>
              </a:spcAft>
              <a:buClr>
                <a:schemeClr val="lt1"/>
              </a:buClr>
              <a:buSzPts val="1800"/>
              <a:buNone/>
              <a:defRPr>
                <a:solidFill>
                  <a:schemeClr val="lt1"/>
                </a:solidFill>
              </a:defRPr>
            </a:lvl4pPr>
            <a:lvl5pPr marL="2286000" lvl="4" indent="-228600" algn="l">
              <a:lnSpc>
                <a:spcPct val="100000"/>
              </a:lnSpc>
              <a:spcBef>
                <a:spcPts val="0"/>
              </a:spcBef>
              <a:spcAft>
                <a:spcPts val="0"/>
              </a:spcAft>
              <a:buClr>
                <a:schemeClr val="lt1"/>
              </a:buClr>
              <a:buSzPts val="1800"/>
              <a:buNone/>
              <a:defRPr>
                <a:solidFill>
                  <a:schemeClr val="lt1"/>
                </a:solidFill>
              </a:defRPr>
            </a:lvl5pPr>
            <a:lvl6pPr marL="2743200" lvl="5" indent="-228600" algn="l">
              <a:lnSpc>
                <a:spcPct val="100000"/>
              </a:lnSpc>
              <a:spcBef>
                <a:spcPts val="0"/>
              </a:spcBef>
              <a:spcAft>
                <a:spcPts val="0"/>
              </a:spcAft>
              <a:buClr>
                <a:schemeClr val="lt1"/>
              </a:buClr>
              <a:buSzPts val="1800"/>
              <a:buNone/>
              <a:defRPr>
                <a:solidFill>
                  <a:schemeClr val="lt1"/>
                </a:solidFill>
              </a:defRPr>
            </a:lvl6pPr>
            <a:lvl7pPr marL="3200400" lvl="6" indent="-228600" algn="l">
              <a:lnSpc>
                <a:spcPct val="100000"/>
              </a:lnSpc>
              <a:spcBef>
                <a:spcPts val="0"/>
              </a:spcBef>
              <a:spcAft>
                <a:spcPts val="0"/>
              </a:spcAft>
              <a:buClr>
                <a:schemeClr val="lt1"/>
              </a:buClr>
              <a:buSzPts val="1800"/>
              <a:buNone/>
              <a:defRPr>
                <a:solidFill>
                  <a:schemeClr val="lt1"/>
                </a:solidFill>
              </a:defRPr>
            </a:lvl7pPr>
            <a:lvl8pPr marL="3657600" lvl="7" indent="-228600" algn="l">
              <a:lnSpc>
                <a:spcPct val="100000"/>
              </a:lnSpc>
              <a:spcBef>
                <a:spcPts val="0"/>
              </a:spcBef>
              <a:spcAft>
                <a:spcPts val="0"/>
              </a:spcAft>
              <a:buClr>
                <a:schemeClr val="lt1"/>
              </a:buClr>
              <a:buSzPts val="1800"/>
              <a:buNone/>
              <a:defRPr>
                <a:solidFill>
                  <a:schemeClr val="lt1"/>
                </a:solidFill>
              </a:defRPr>
            </a:lvl8pPr>
            <a:lvl9pPr marL="4114800" lvl="8" indent="-228600" algn="l">
              <a:lnSpc>
                <a:spcPct val="100000"/>
              </a:lnSpc>
              <a:spcBef>
                <a:spcPts val="0"/>
              </a:spcBef>
              <a:spcAft>
                <a:spcPts val="0"/>
              </a:spcAft>
              <a:buClr>
                <a:schemeClr val="lt1"/>
              </a:buClr>
              <a:buSzPts val="1800"/>
              <a:buNone/>
              <a:defRPr>
                <a:solidFill>
                  <a:schemeClr val="lt1"/>
                </a:solidFill>
              </a:defRPr>
            </a:lvl9pPr>
          </a:lstStyle>
          <a:p>
            <a:endParaRPr/>
          </a:p>
        </p:txBody>
      </p:sp>
      <p:cxnSp>
        <p:nvCxnSpPr>
          <p:cNvPr id="32" name="Google Shape;32;p6"/>
          <p:cNvCxnSpPr/>
          <p:nvPr/>
        </p:nvCxnSpPr>
        <p:spPr>
          <a:xfrm rot="10800000">
            <a:off x="4432666" y="1104846"/>
            <a:ext cx="0" cy="2590800"/>
          </a:xfrm>
          <a:prstGeom prst="straightConnector1">
            <a:avLst/>
          </a:prstGeom>
          <a:noFill/>
          <a:ln w="12700" cap="flat" cmpd="sng">
            <a:solidFill>
              <a:schemeClr val="lt1">
                <a:alpha val="36860"/>
              </a:schemeClr>
            </a:solidFill>
            <a:prstDash val="solid"/>
            <a:round/>
            <a:headEnd type="none" w="sm" len="sm"/>
            <a:tailEnd type="none" w="sm" len="sm"/>
          </a:ln>
        </p:spPr>
      </p:cxnSp>
      <p:sp>
        <p:nvSpPr>
          <p:cNvPr id="33" name="Google Shape;33;p6"/>
          <p:cNvSpPr txBox="1">
            <a:spLocks noGrp="1"/>
          </p:cNvSpPr>
          <p:nvPr>
            <p:ph type="title"/>
          </p:nvPr>
        </p:nvSpPr>
        <p:spPr>
          <a:xfrm>
            <a:off x="1646300" y="1088825"/>
            <a:ext cx="2225100" cy="2590800"/>
          </a:xfrm>
          <a:prstGeom prst="rect">
            <a:avLst/>
          </a:prstGeom>
          <a:noFill/>
          <a:ln>
            <a:noFill/>
          </a:ln>
        </p:spPr>
        <p:txBody>
          <a:bodyPr spcFirstLastPara="1" wrap="square" lIns="0" tIns="0" rIns="0" bIns="0" anchor="ctr" anchorCtr="0">
            <a:noAutofit/>
          </a:bodyPr>
          <a:lstStyle>
            <a:lvl1pPr marL="0" marR="0" lvl="0" indent="0" algn="l" rtl="0">
              <a:lnSpc>
                <a:spcPct val="100000"/>
              </a:lnSpc>
              <a:spcBef>
                <a:spcPts val="0"/>
              </a:spcBef>
              <a:spcAft>
                <a:spcPts val="0"/>
              </a:spcAft>
              <a:buClr>
                <a:srgbClr val="FFFFFF"/>
              </a:buClr>
              <a:buSzPts val="4900"/>
              <a:buFont typeface="Arial"/>
              <a:buNone/>
              <a:defRPr sz="4900" b="1">
                <a:solidFill>
                  <a:schemeClr val="lt1"/>
                </a:solidFill>
                <a:latin typeface="Arial"/>
                <a:ea typeface="Arial"/>
                <a:cs typeface="Arial"/>
                <a:sym typeface="Arial"/>
              </a:defRPr>
            </a:lvl1pPr>
            <a:lvl2pPr lvl="1" algn="l">
              <a:lnSpc>
                <a:spcPct val="100000"/>
              </a:lnSpc>
              <a:spcBef>
                <a:spcPts val="0"/>
              </a:spcBef>
              <a:spcAft>
                <a:spcPts val="0"/>
              </a:spcAft>
              <a:buClr>
                <a:schemeClr val="lt1"/>
              </a:buClr>
              <a:buSzPts val="1800"/>
              <a:buNone/>
              <a:defRPr>
                <a:solidFill>
                  <a:schemeClr val="lt1"/>
                </a:solidFill>
              </a:defRPr>
            </a:lvl2pPr>
            <a:lvl3pPr lvl="2" algn="l">
              <a:lnSpc>
                <a:spcPct val="100000"/>
              </a:lnSpc>
              <a:spcBef>
                <a:spcPts val="0"/>
              </a:spcBef>
              <a:spcAft>
                <a:spcPts val="0"/>
              </a:spcAft>
              <a:buClr>
                <a:schemeClr val="lt1"/>
              </a:buClr>
              <a:buSzPts val="1800"/>
              <a:buNone/>
              <a:defRPr>
                <a:solidFill>
                  <a:schemeClr val="lt1"/>
                </a:solidFill>
              </a:defRPr>
            </a:lvl3pPr>
            <a:lvl4pPr lvl="3" algn="l">
              <a:lnSpc>
                <a:spcPct val="100000"/>
              </a:lnSpc>
              <a:spcBef>
                <a:spcPts val="0"/>
              </a:spcBef>
              <a:spcAft>
                <a:spcPts val="0"/>
              </a:spcAft>
              <a:buClr>
                <a:schemeClr val="lt1"/>
              </a:buClr>
              <a:buSzPts val="1800"/>
              <a:buNone/>
              <a:defRPr>
                <a:solidFill>
                  <a:schemeClr val="lt1"/>
                </a:solidFill>
              </a:defRPr>
            </a:lvl4pPr>
            <a:lvl5pPr lvl="4" algn="l">
              <a:lnSpc>
                <a:spcPct val="100000"/>
              </a:lnSpc>
              <a:spcBef>
                <a:spcPts val="0"/>
              </a:spcBef>
              <a:spcAft>
                <a:spcPts val="0"/>
              </a:spcAft>
              <a:buClr>
                <a:schemeClr val="lt1"/>
              </a:buClr>
              <a:buSzPts val="1800"/>
              <a:buNone/>
              <a:defRPr>
                <a:solidFill>
                  <a:schemeClr val="lt1"/>
                </a:solidFill>
              </a:defRPr>
            </a:lvl5pPr>
            <a:lvl6pPr lvl="5" algn="l">
              <a:lnSpc>
                <a:spcPct val="100000"/>
              </a:lnSpc>
              <a:spcBef>
                <a:spcPts val="0"/>
              </a:spcBef>
              <a:spcAft>
                <a:spcPts val="0"/>
              </a:spcAft>
              <a:buClr>
                <a:schemeClr val="lt1"/>
              </a:buClr>
              <a:buSzPts val="1800"/>
              <a:buNone/>
              <a:defRPr>
                <a:solidFill>
                  <a:schemeClr val="lt1"/>
                </a:solidFill>
              </a:defRPr>
            </a:lvl6pPr>
            <a:lvl7pPr lvl="6" algn="l">
              <a:lnSpc>
                <a:spcPct val="100000"/>
              </a:lnSpc>
              <a:spcBef>
                <a:spcPts val="0"/>
              </a:spcBef>
              <a:spcAft>
                <a:spcPts val="0"/>
              </a:spcAft>
              <a:buClr>
                <a:schemeClr val="lt1"/>
              </a:buClr>
              <a:buSzPts val="1800"/>
              <a:buNone/>
              <a:defRPr>
                <a:solidFill>
                  <a:schemeClr val="lt1"/>
                </a:solidFill>
              </a:defRPr>
            </a:lvl7pPr>
            <a:lvl8pPr lvl="7" algn="l">
              <a:lnSpc>
                <a:spcPct val="100000"/>
              </a:lnSpc>
              <a:spcBef>
                <a:spcPts val="0"/>
              </a:spcBef>
              <a:spcAft>
                <a:spcPts val="0"/>
              </a:spcAft>
              <a:buClr>
                <a:schemeClr val="lt1"/>
              </a:buClr>
              <a:buSzPts val="1800"/>
              <a:buNone/>
              <a:defRPr>
                <a:solidFill>
                  <a:schemeClr val="lt1"/>
                </a:solidFill>
              </a:defRPr>
            </a:lvl8pPr>
            <a:lvl9pPr lvl="8" algn="l">
              <a:lnSpc>
                <a:spcPct val="100000"/>
              </a:lnSpc>
              <a:spcBef>
                <a:spcPts val="0"/>
              </a:spcBef>
              <a:spcAft>
                <a:spcPts val="0"/>
              </a:spcAft>
              <a:buClr>
                <a:schemeClr val="lt1"/>
              </a:buClr>
              <a:buSzPts val="1800"/>
              <a:buNone/>
              <a:defRPr>
                <a:solidFill>
                  <a:schemeClr val="lt1"/>
                </a:solidFill>
              </a:defRPr>
            </a:lvl9pPr>
          </a:lstStyle>
          <a:p>
            <a:endParaRPr/>
          </a:p>
        </p:txBody>
      </p:sp>
      <p:sp>
        <p:nvSpPr>
          <p:cNvPr id="34" name="Google Shape;34;p6"/>
          <p:cNvSpPr txBox="1">
            <a:spLocks noGrp="1"/>
          </p:cNvSpPr>
          <p:nvPr>
            <p:ph type="sldNum" idx="12"/>
          </p:nvPr>
        </p:nvSpPr>
        <p:spPr>
          <a:xfrm>
            <a:off x="8559801" y="4783454"/>
            <a:ext cx="126900" cy="1269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pic>
        <p:nvPicPr>
          <p:cNvPr id="35" name="Google Shape;35;p6" title="otelo-logo-hd-alternative1.png"/>
          <p:cNvPicPr preferRelativeResize="0"/>
          <p:nvPr/>
        </p:nvPicPr>
        <p:blipFill rotWithShape="1">
          <a:blip r:embed="rId2">
            <a:alphaModFix/>
          </a:blip>
          <a:srcRect l="7214" t="26251" r="6078" b="34857"/>
          <a:stretch/>
        </p:blipFill>
        <p:spPr>
          <a:xfrm>
            <a:off x="113825" y="4733400"/>
            <a:ext cx="1830635" cy="2310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0 1 1">
  <p:cSld name="TITLE_AND_BODY_1_1">
    <p:bg>
      <p:bgPr>
        <a:solidFill>
          <a:schemeClr val="dk2"/>
        </a:solidFill>
        <a:effectLst/>
      </p:bgPr>
    </p:bg>
    <p:spTree>
      <p:nvGrpSpPr>
        <p:cNvPr id="1" name="Shape 36"/>
        <p:cNvGrpSpPr/>
        <p:nvPr/>
      </p:nvGrpSpPr>
      <p:grpSpPr>
        <a:xfrm>
          <a:off x="0" y="0"/>
          <a:ext cx="0" cy="0"/>
          <a:chOff x="0" y="0"/>
          <a:chExt cx="0" cy="0"/>
        </a:xfrm>
      </p:grpSpPr>
      <p:sp>
        <p:nvSpPr>
          <p:cNvPr id="37" name="Google Shape;37;p7"/>
          <p:cNvSpPr/>
          <p:nvPr/>
        </p:nvSpPr>
        <p:spPr>
          <a:xfrm>
            <a:off x="0" y="0"/>
            <a:ext cx="20562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Calibri"/>
              <a:ea typeface="Calibri"/>
              <a:cs typeface="Calibri"/>
              <a:sym typeface="Calibri"/>
            </a:endParaRPr>
          </a:p>
        </p:txBody>
      </p:sp>
      <p:sp>
        <p:nvSpPr>
          <p:cNvPr id="38" name="Google Shape;38;p7"/>
          <p:cNvSpPr txBox="1">
            <a:spLocks noGrp="1"/>
          </p:cNvSpPr>
          <p:nvPr>
            <p:ph type="body" idx="1"/>
          </p:nvPr>
        </p:nvSpPr>
        <p:spPr>
          <a:xfrm>
            <a:off x="2709800" y="2344050"/>
            <a:ext cx="5277600" cy="455400"/>
          </a:xfrm>
          <a:prstGeom prst="rect">
            <a:avLst/>
          </a:prstGeom>
          <a:noFill/>
          <a:ln>
            <a:noFill/>
          </a:ln>
        </p:spPr>
        <p:txBody>
          <a:bodyPr spcFirstLastPara="1" wrap="square" lIns="0" tIns="0" rIns="0" bIns="0" anchor="ctr" anchorCtr="0">
            <a:noAutofit/>
          </a:bodyPr>
          <a:lstStyle>
            <a:lvl1pPr marL="457200" marR="0" lvl="0" indent="-228600" algn="l">
              <a:lnSpc>
                <a:spcPct val="100000"/>
              </a:lnSpc>
              <a:spcBef>
                <a:spcPts val="0"/>
              </a:spcBef>
              <a:spcAft>
                <a:spcPts val="0"/>
              </a:spcAft>
              <a:buNone/>
              <a:defRPr sz="4000" b="1">
                <a:solidFill>
                  <a:schemeClr val="lt1"/>
                </a:solidFill>
                <a:latin typeface="Arial"/>
                <a:ea typeface="Arial"/>
                <a:cs typeface="Arial"/>
                <a:sym typeface="Arial"/>
              </a:defRPr>
            </a:lvl1pPr>
            <a:lvl2pPr marL="914400" marR="0" lvl="1" indent="-228600" algn="l">
              <a:lnSpc>
                <a:spcPct val="100000"/>
              </a:lnSpc>
              <a:spcBef>
                <a:spcPts val="0"/>
              </a:spcBef>
              <a:spcAft>
                <a:spcPts val="0"/>
              </a:spcAft>
              <a:buNone/>
              <a:defRPr sz="4000" b="1">
                <a:solidFill>
                  <a:schemeClr val="lt1"/>
                </a:solidFill>
                <a:latin typeface="Arial"/>
                <a:ea typeface="Arial"/>
                <a:cs typeface="Arial"/>
                <a:sym typeface="Arial"/>
              </a:defRPr>
            </a:lvl2pPr>
            <a:lvl3pPr marL="1371600" marR="0" lvl="2" indent="-228600" algn="l">
              <a:lnSpc>
                <a:spcPct val="100000"/>
              </a:lnSpc>
              <a:spcBef>
                <a:spcPts val="0"/>
              </a:spcBef>
              <a:spcAft>
                <a:spcPts val="0"/>
              </a:spcAft>
              <a:buNone/>
              <a:defRPr sz="4000" b="1">
                <a:solidFill>
                  <a:schemeClr val="lt1"/>
                </a:solidFill>
                <a:latin typeface="Arial"/>
                <a:ea typeface="Arial"/>
                <a:cs typeface="Arial"/>
                <a:sym typeface="Arial"/>
              </a:defRPr>
            </a:lvl3pPr>
            <a:lvl4pPr marL="1828800" marR="0" lvl="3" indent="-228600" algn="l">
              <a:lnSpc>
                <a:spcPct val="100000"/>
              </a:lnSpc>
              <a:spcBef>
                <a:spcPts val="0"/>
              </a:spcBef>
              <a:spcAft>
                <a:spcPts val="0"/>
              </a:spcAft>
              <a:buNone/>
              <a:defRPr sz="4000" b="1">
                <a:solidFill>
                  <a:schemeClr val="lt1"/>
                </a:solidFill>
                <a:latin typeface="Arial"/>
                <a:ea typeface="Arial"/>
                <a:cs typeface="Arial"/>
                <a:sym typeface="Arial"/>
              </a:defRPr>
            </a:lvl4pPr>
            <a:lvl5pPr marL="2286000" marR="0" lvl="4" indent="-228600" algn="l">
              <a:lnSpc>
                <a:spcPct val="100000"/>
              </a:lnSpc>
              <a:spcBef>
                <a:spcPts val="0"/>
              </a:spcBef>
              <a:spcAft>
                <a:spcPts val="0"/>
              </a:spcAft>
              <a:buNone/>
              <a:defRPr sz="4000" b="1">
                <a:solidFill>
                  <a:schemeClr val="lt1"/>
                </a:solidFill>
                <a:latin typeface="Arial"/>
                <a:ea typeface="Arial"/>
                <a:cs typeface="Arial"/>
                <a:sym typeface="Arial"/>
              </a:defRPr>
            </a:lvl5pPr>
            <a:lvl6pPr marL="2743200" marR="0" lvl="5" indent="-228600" algn="l">
              <a:lnSpc>
                <a:spcPct val="100000"/>
              </a:lnSpc>
              <a:spcBef>
                <a:spcPts val="0"/>
              </a:spcBef>
              <a:spcAft>
                <a:spcPts val="0"/>
              </a:spcAft>
              <a:buNone/>
              <a:defRPr sz="4000" b="1">
                <a:solidFill>
                  <a:schemeClr val="lt1"/>
                </a:solidFill>
                <a:latin typeface="Arial"/>
                <a:ea typeface="Arial"/>
                <a:cs typeface="Arial"/>
                <a:sym typeface="Arial"/>
              </a:defRPr>
            </a:lvl6pPr>
            <a:lvl7pPr marL="3200400" marR="0" lvl="6" indent="-228600" algn="l">
              <a:lnSpc>
                <a:spcPct val="100000"/>
              </a:lnSpc>
              <a:spcBef>
                <a:spcPts val="0"/>
              </a:spcBef>
              <a:spcAft>
                <a:spcPts val="0"/>
              </a:spcAft>
              <a:buNone/>
              <a:defRPr sz="4000" b="1">
                <a:solidFill>
                  <a:schemeClr val="lt1"/>
                </a:solidFill>
                <a:latin typeface="Arial"/>
                <a:ea typeface="Arial"/>
                <a:cs typeface="Arial"/>
                <a:sym typeface="Arial"/>
              </a:defRPr>
            </a:lvl7pPr>
            <a:lvl8pPr marL="3657600" marR="0" lvl="7" indent="-228600" algn="l">
              <a:lnSpc>
                <a:spcPct val="100000"/>
              </a:lnSpc>
              <a:spcBef>
                <a:spcPts val="0"/>
              </a:spcBef>
              <a:spcAft>
                <a:spcPts val="0"/>
              </a:spcAft>
              <a:buNone/>
              <a:defRPr sz="4000" b="1">
                <a:solidFill>
                  <a:schemeClr val="lt1"/>
                </a:solidFill>
                <a:latin typeface="Arial"/>
                <a:ea typeface="Arial"/>
                <a:cs typeface="Arial"/>
                <a:sym typeface="Arial"/>
              </a:defRPr>
            </a:lvl8pPr>
            <a:lvl9pPr marL="4114800" marR="0" lvl="8" indent="-228600" algn="l">
              <a:lnSpc>
                <a:spcPct val="100000"/>
              </a:lnSpc>
              <a:spcBef>
                <a:spcPts val="0"/>
              </a:spcBef>
              <a:spcAft>
                <a:spcPts val="0"/>
              </a:spcAft>
              <a:buNone/>
              <a:defRPr sz="4000" b="1">
                <a:solidFill>
                  <a:schemeClr val="lt1"/>
                </a:solidFill>
                <a:latin typeface="Arial"/>
                <a:ea typeface="Arial"/>
                <a:cs typeface="Arial"/>
                <a:sym typeface="Arial"/>
              </a:defRPr>
            </a:lvl9pPr>
          </a:lstStyle>
          <a:p>
            <a:endParaRPr/>
          </a:p>
        </p:txBody>
      </p:sp>
      <p:sp>
        <p:nvSpPr>
          <p:cNvPr id="39" name="Google Shape;39;p7"/>
          <p:cNvSpPr txBox="1">
            <a:spLocks noGrp="1"/>
          </p:cNvSpPr>
          <p:nvPr>
            <p:ph type="sldNum" idx="12"/>
          </p:nvPr>
        </p:nvSpPr>
        <p:spPr>
          <a:xfrm>
            <a:off x="8559801" y="4783454"/>
            <a:ext cx="126900" cy="107700"/>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pic>
        <p:nvPicPr>
          <p:cNvPr id="40" name="Google Shape;40;p7" title="otelo-logo-hd-alternative1.png"/>
          <p:cNvPicPr preferRelativeResize="0"/>
          <p:nvPr/>
        </p:nvPicPr>
        <p:blipFill rotWithShape="1">
          <a:blip r:embed="rId2">
            <a:alphaModFix/>
          </a:blip>
          <a:srcRect l="7214" t="26251" r="6078" b="34857"/>
          <a:stretch/>
        </p:blipFill>
        <p:spPr>
          <a:xfrm>
            <a:off x="113825" y="4733400"/>
            <a:ext cx="1830635" cy="231000"/>
          </a:xfrm>
          <a:prstGeom prst="rect">
            <a:avLst/>
          </a:prstGeom>
          <a:noFill/>
          <a:ln>
            <a:noFill/>
          </a:ln>
        </p:spPr>
      </p:pic>
      <p:pic>
        <p:nvPicPr>
          <p:cNvPr id="41" name="Google Shape;41;p7"/>
          <p:cNvPicPr preferRelativeResize="0"/>
          <p:nvPr/>
        </p:nvPicPr>
        <p:blipFill>
          <a:blip r:embed="rId3">
            <a:alphaModFix/>
          </a:blip>
          <a:stretch>
            <a:fillRect/>
          </a:stretch>
        </p:blipFill>
        <p:spPr>
          <a:xfrm>
            <a:off x="113825" y="62804"/>
            <a:ext cx="1037625" cy="951150"/>
          </a:xfrm>
          <a:prstGeom prst="rect">
            <a:avLst/>
          </a:prstGeom>
          <a:noFill/>
          <a:ln>
            <a:noFill/>
          </a:ln>
        </p:spPr>
      </p:pic>
      <p:grpSp>
        <p:nvGrpSpPr>
          <p:cNvPr id="42" name="Google Shape;42;p7"/>
          <p:cNvGrpSpPr/>
          <p:nvPr/>
        </p:nvGrpSpPr>
        <p:grpSpPr>
          <a:xfrm>
            <a:off x="113825" y="1080753"/>
            <a:ext cx="1122300" cy="839400"/>
            <a:chOff x="235775" y="4026900"/>
            <a:chExt cx="1122300" cy="839400"/>
          </a:xfrm>
        </p:grpSpPr>
        <p:sp>
          <p:nvSpPr>
            <p:cNvPr id="43" name="Google Shape;43;p7"/>
            <p:cNvSpPr/>
            <p:nvPr/>
          </p:nvSpPr>
          <p:spPr>
            <a:xfrm>
              <a:off x="235775" y="4026900"/>
              <a:ext cx="1122300" cy="839400"/>
            </a:xfrm>
            <a:prstGeom prst="roundRect">
              <a:avLst>
                <a:gd name="adj" fmla="val 16667"/>
              </a:avLst>
            </a:prstGeom>
            <a:solidFill>
              <a:srgbClr val="FFFFFF"/>
            </a:solidFill>
            <a:ln w="9525" cap="flat" cmpd="sng">
              <a:solidFill>
                <a:srgbClr val="06009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4" name="Google Shape;44;p7"/>
            <p:cNvPicPr preferRelativeResize="0"/>
            <p:nvPr/>
          </p:nvPicPr>
          <p:blipFill>
            <a:blip r:embed="rId4">
              <a:alphaModFix/>
            </a:blip>
            <a:stretch>
              <a:fillRect/>
            </a:stretch>
          </p:blipFill>
          <p:spPr>
            <a:xfrm>
              <a:off x="344008" y="4518538"/>
              <a:ext cx="936893" cy="273168"/>
            </a:xfrm>
            <a:prstGeom prst="rect">
              <a:avLst/>
            </a:prstGeom>
            <a:noFill/>
            <a:ln>
              <a:noFill/>
            </a:ln>
          </p:spPr>
        </p:pic>
        <p:pic>
          <p:nvPicPr>
            <p:cNvPr id="45" name="Google Shape;45;p7"/>
            <p:cNvPicPr preferRelativeResize="0"/>
            <p:nvPr/>
          </p:nvPicPr>
          <p:blipFill>
            <a:blip r:embed="rId5">
              <a:alphaModFix/>
            </a:blip>
            <a:stretch>
              <a:fillRect/>
            </a:stretch>
          </p:blipFill>
          <p:spPr>
            <a:xfrm>
              <a:off x="820604" y="4178039"/>
              <a:ext cx="423606" cy="144130"/>
            </a:xfrm>
            <a:prstGeom prst="rect">
              <a:avLst/>
            </a:prstGeom>
            <a:noFill/>
            <a:ln>
              <a:noFill/>
            </a:ln>
          </p:spPr>
        </p:pic>
        <p:pic>
          <p:nvPicPr>
            <p:cNvPr id="46" name="Google Shape;46;p7"/>
            <p:cNvPicPr preferRelativeResize="0"/>
            <p:nvPr/>
          </p:nvPicPr>
          <p:blipFill>
            <a:blip r:embed="rId6">
              <a:alphaModFix/>
            </a:blip>
            <a:stretch>
              <a:fillRect/>
            </a:stretch>
          </p:blipFill>
          <p:spPr>
            <a:xfrm>
              <a:off x="344000" y="4055487"/>
              <a:ext cx="389260" cy="389260"/>
            </a:xfrm>
            <a:prstGeom prst="rect">
              <a:avLst/>
            </a:prstGeom>
            <a:noFill/>
            <a:ln>
              <a:noFill/>
            </a:ln>
          </p:spPr>
        </p:pic>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457200" y="205741"/>
            <a:ext cx="8229600" cy="27700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a:endParaRPr/>
          </a:p>
        </p:txBody>
      </p:sp>
      <p:sp>
        <p:nvSpPr>
          <p:cNvPr id="49" name="Google Shape;49;p8"/>
          <p:cNvSpPr txBox="1">
            <a:spLocks noGrp="1"/>
          </p:cNvSpPr>
          <p:nvPr>
            <p:ph type="body" idx="1"/>
          </p:nvPr>
        </p:nvSpPr>
        <p:spPr>
          <a:xfrm>
            <a:off x="457200" y="1183005"/>
            <a:ext cx="8229600" cy="277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Clr>
                <a:srgbClr val="000000"/>
              </a:buClr>
              <a:buSzPts val="1800"/>
              <a:buNone/>
              <a:defRPr/>
            </a:lvl1pPr>
            <a:lvl2pPr marL="914400" lvl="1" indent="-228600" algn="l">
              <a:lnSpc>
                <a:spcPct val="100000"/>
              </a:lnSpc>
              <a:spcBef>
                <a:spcPts val="0"/>
              </a:spcBef>
              <a:spcAft>
                <a:spcPts val="0"/>
              </a:spcAft>
              <a:buClr>
                <a:srgbClr val="000000"/>
              </a:buClr>
              <a:buSzPts val="1800"/>
              <a:buNone/>
              <a:defRPr/>
            </a:lvl2pPr>
            <a:lvl3pPr marL="1371600" lvl="2" indent="-228600" algn="l">
              <a:lnSpc>
                <a:spcPct val="100000"/>
              </a:lnSpc>
              <a:spcBef>
                <a:spcPts val="0"/>
              </a:spcBef>
              <a:spcAft>
                <a:spcPts val="0"/>
              </a:spcAft>
              <a:buClr>
                <a:srgbClr val="000000"/>
              </a:buClr>
              <a:buSzPts val="1800"/>
              <a:buNone/>
              <a:defRPr/>
            </a:lvl3pPr>
            <a:lvl4pPr marL="1828800" lvl="3" indent="-228600" algn="l">
              <a:lnSpc>
                <a:spcPct val="100000"/>
              </a:lnSpc>
              <a:spcBef>
                <a:spcPts val="0"/>
              </a:spcBef>
              <a:spcAft>
                <a:spcPts val="0"/>
              </a:spcAft>
              <a:buClr>
                <a:srgbClr val="000000"/>
              </a:buClr>
              <a:buSzPts val="1800"/>
              <a:buNone/>
              <a:defRPr/>
            </a:lvl4pPr>
            <a:lvl5pPr marL="2286000" lvl="4" indent="-228600" algn="l">
              <a:lnSpc>
                <a:spcPct val="100000"/>
              </a:lnSpc>
              <a:spcBef>
                <a:spcPts val="0"/>
              </a:spcBef>
              <a:spcAft>
                <a:spcPts val="0"/>
              </a:spcAft>
              <a:buClr>
                <a:srgbClr val="000000"/>
              </a:buClr>
              <a:buSzPts val="1800"/>
              <a:buNone/>
              <a:defRPr/>
            </a:lvl5pPr>
            <a:lvl6pPr marL="2743200" lvl="5" indent="-228600" algn="l">
              <a:lnSpc>
                <a:spcPct val="100000"/>
              </a:lnSpc>
              <a:spcBef>
                <a:spcPts val="0"/>
              </a:spcBef>
              <a:spcAft>
                <a:spcPts val="0"/>
              </a:spcAft>
              <a:buClr>
                <a:srgbClr val="000000"/>
              </a:buClr>
              <a:buSzPts val="1800"/>
              <a:buNone/>
              <a:defRPr/>
            </a:lvl6pPr>
            <a:lvl7pPr marL="3200400" lvl="6" indent="-228600" algn="l">
              <a:lnSpc>
                <a:spcPct val="100000"/>
              </a:lnSpc>
              <a:spcBef>
                <a:spcPts val="0"/>
              </a:spcBef>
              <a:spcAft>
                <a:spcPts val="0"/>
              </a:spcAft>
              <a:buClr>
                <a:srgbClr val="000000"/>
              </a:buClr>
              <a:buSzPts val="1800"/>
              <a:buNone/>
              <a:defRPr/>
            </a:lvl7pPr>
            <a:lvl8pPr marL="3657600" lvl="7" indent="-228600" algn="l">
              <a:lnSpc>
                <a:spcPct val="100000"/>
              </a:lnSpc>
              <a:spcBef>
                <a:spcPts val="0"/>
              </a:spcBef>
              <a:spcAft>
                <a:spcPts val="0"/>
              </a:spcAft>
              <a:buClr>
                <a:srgbClr val="000000"/>
              </a:buClr>
              <a:buSzPts val="1800"/>
              <a:buNone/>
              <a:defRPr/>
            </a:lvl8pPr>
            <a:lvl9pPr marL="4114800" lvl="8" indent="-228600" algn="l">
              <a:lnSpc>
                <a:spcPct val="100000"/>
              </a:lnSpc>
              <a:spcBef>
                <a:spcPts val="0"/>
              </a:spcBef>
              <a:spcAft>
                <a:spcPts val="0"/>
              </a:spcAft>
              <a:buClr>
                <a:srgbClr val="000000"/>
              </a:buClr>
              <a:buSzPts val="1800"/>
              <a:buNone/>
              <a:defRPr/>
            </a:lvl9pPr>
          </a:lstStyle>
          <a:p>
            <a:endParaRPr/>
          </a:p>
        </p:txBody>
      </p:sp>
      <p:sp>
        <p:nvSpPr>
          <p:cNvPr id="50" name="Google Shape;50;p8"/>
          <p:cNvSpPr txBox="1">
            <a:spLocks noGrp="1"/>
          </p:cNvSpPr>
          <p:nvPr>
            <p:ph type="sldNum" idx="12"/>
          </p:nvPr>
        </p:nvSpPr>
        <p:spPr>
          <a:xfrm>
            <a:off x="8559801" y="4783454"/>
            <a:ext cx="127001" cy="127001"/>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1"/>
        <p:cNvGrpSpPr/>
        <p:nvPr/>
      </p:nvGrpSpPr>
      <p:grpSpPr>
        <a:xfrm>
          <a:off x="0" y="0"/>
          <a:ext cx="0" cy="0"/>
          <a:chOff x="0" y="0"/>
          <a:chExt cx="0" cy="0"/>
        </a:xfrm>
      </p:grpSpPr>
      <p:sp>
        <p:nvSpPr>
          <p:cNvPr id="52" name="Google Shape;52;p9"/>
          <p:cNvSpPr txBox="1">
            <a:spLocks noGrp="1"/>
          </p:cNvSpPr>
          <p:nvPr>
            <p:ph type="title"/>
          </p:nvPr>
        </p:nvSpPr>
        <p:spPr>
          <a:xfrm>
            <a:off x="457200" y="205741"/>
            <a:ext cx="8229600" cy="27700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a:endParaRPr/>
          </a:p>
        </p:txBody>
      </p:sp>
      <p:sp>
        <p:nvSpPr>
          <p:cNvPr id="53" name="Google Shape;53;p9"/>
          <p:cNvSpPr txBox="1">
            <a:spLocks noGrp="1"/>
          </p:cNvSpPr>
          <p:nvPr>
            <p:ph type="body" idx="1"/>
          </p:nvPr>
        </p:nvSpPr>
        <p:spPr>
          <a:xfrm>
            <a:off x="457200" y="1183005"/>
            <a:ext cx="3977641" cy="277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Clr>
                <a:srgbClr val="000000"/>
              </a:buClr>
              <a:buSzPts val="1800"/>
              <a:buNone/>
              <a:defRPr/>
            </a:lvl1pPr>
            <a:lvl2pPr marL="914400" lvl="1" indent="-228600" algn="l">
              <a:lnSpc>
                <a:spcPct val="100000"/>
              </a:lnSpc>
              <a:spcBef>
                <a:spcPts val="0"/>
              </a:spcBef>
              <a:spcAft>
                <a:spcPts val="0"/>
              </a:spcAft>
              <a:buClr>
                <a:srgbClr val="000000"/>
              </a:buClr>
              <a:buSzPts val="1800"/>
              <a:buNone/>
              <a:defRPr/>
            </a:lvl2pPr>
            <a:lvl3pPr marL="1371600" lvl="2" indent="-228600" algn="l">
              <a:lnSpc>
                <a:spcPct val="100000"/>
              </a:lnSpc>
              <a:spcBef>
                <a:spcPts val="0"/>
              </a:spcBef>
              <a:spcAft>
                <a:spcPts val="0"/>
              </a:spcAft>
              <a:buClr>
                <a:srgbClr val="000000"/>
              </a:buClr>
              <a:buSzPts val="1800"/>
              <a:buNone/>
              <a:defRPr/>
            </a:lvl3pPr>
            <a:lvl4pPr marL="1828800" lvl="3" indent="-228600" algn="l">
              <a:lnSpc>
                <a:spcPct val="100000"/>
              </a:lnSpc>
              <a:spcBef>
                <a:spcPts val="0"/>
              </a:spcBef>
              <a:spcAft>
                <a:spcPts val="0"/>
              </a:spcAft>
              <a:buClr>
                <a:srgbClr val="000000"/>
              </a:buClr>
              <a:buSzPts val="1800"/>
              <a:buNone/>
              <a:defRPr/>
            </a:lvl4pPr>
            <a:lvl5pPr marL="2286000" lvl="4" indent="-228600" algn="l">
              <a:lnSpc>
                <a:spcPct val="100000"/>
              </a:lnSpc>
              <a:spcBef>
                <a:spcPts val="0"/>
              </a:spcBef>
              <a:spcAft>
                <a:spcPts val="0"/>
              </a:spcAft>
              <a:buClr>
                <a:srgbClr val="000000"/>
              </a:buClr>
              <a:buSzPts val="1800"/>
              <a:buNone/>
              <a:defRPr/>
            </a:lvl5pPr>
            <a:lvl6pPr marL="2743200" lvl="5" indent="-228600" algn="l">
              <a:lnSpc>
                <a:spcPct val="100000"/>
              </a:lnSpc>
              <a:spcBef>
                <a:spcPts val="0"/>
              </a:spcBef>
              <a:spcAft>
                <a:spcPts val="0"/>
              </a:spcAft>
              <a:buClr>
                <a:srgbClr val="000000"/>
              </a:buClr>
              <a:buSzPts val="1800"/>
              <a:buNone/>
              <a:defRPr/>
            </a:lvl6pPr>
            <a:lvl7pPr marL="3200400" lvl="6" indent="-228600" algn="l">
              <a:lnSpc>
                <a:spcPct val="100000"/>
              </a:lnSpc>
              <a:spcBef>
                <a:spcPts val="0"/>
              </a:spcBef>
              <a:spcAft>
                <a:spcPts val="0"/>
              </a:spcAft>
              <a:buClr>
                <a:srgbClr val="000000"/>
              </a:buClr>
              <a:buSzPts val="1800"/>
              <a:buNone/>
              <a:defRPr/>
            </a:lvl7pPr>
            <a:lvl8pPr marL="3657600" lvl="7" indent="-228600" algn="l">
              <a:lnSpc>
                <a:spcPct val="100000"/>
              </a:lnSpc>
              <a:spcBef>
                <a:spcPts val="0"/>
              </a:spcBef>
              <a:spcAft>
                <a:spcPts val="0"/>
              </a:spcAft>
              <a:buClr>
                <a:srgbClr val="000000"/>
              </a:buClr>
              <a:buSzPts val="1800"/>
              <a:buNone/>
              <a:defRPr/>
            </a:lvl8pPr>
            <a:lvl9pPr marL="4114800" lvl="8" indent="-228600" algn="l">
              <a:lnSpc>
                <a:spcPct val="100000"/>
              </a:lnSpc>
              <a:spcBef>
                <a:spcPts val="0"/>
              </a:spcBef>
              <a:spcAft>
                <a:spcPts val="0"/>
              </a:spcAft>
              <a:buClr>
                <a:srgbClr val="000000"/>
              </a:buClr>
              <a:buSzPts val="1800"/>
              <a:buNone/>
              <a:defRPr/>
            </a:lvl9pPr>
          </a:lstStyle>
          <a:p>
            <a:endParaRPr/>
          </a:p>
        </p:txBody>
      </p:sp>
      <p:sp>
        <p:nvSpPr>
          <p:cNvPr id="54" name="Google Shape;54;p9"/>
          <p:cNvSpPr txBox="1">
            <a:spLocks noGrp="1"/>
          </p:cNvSpPr>
          <p:nvPr>
            <p:ph type="sldNum" idx="12"/>
          </p:nvPr>
        </p:nvSpPr>
        <p:spPr>
          <a:xfrm>
            <a:off x="8559801" y="4783454"/>
            <a:ext cx="127001" cy="127001"/>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55"/>
        <p:cNvGrpSpPr/>
        <p:nvPr/>
      </p:nvGrpSpPr>
      <p:grpSpPr>
        <a:xfrm>
          <a:off x="0" y="0"/>
          <a:ext cx="0" cy="0"/>
          <a:chOff x="0" y="0"/>
          <a:chExt cx="0" cy="0"/>
        </a:xfrm>
      </p:grpSpPr>
      <p:sp>
        <p:nvSpPr>
          <p:cNvPr id="56" name="Google Shape;56;p10"/>
          <p:cNvSpPr txBox="1">
            <a:spLocks noGrp="1"/>
          </p:cNvSpPr>
          <p:nvPr>
            <p:ph type="title"/>
          </p:nvPr>
        </p:nvSpPr>
        <p:spPr>
          <a:xfrm>
            <a:off x="457200" y="205741"/>
            <a:ext cx="8229600" cy="27700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rgbClr val="000000"/>
              </a:buClr>
              <a:buSzPts val="1800"/>
              <a:buNone/>
              <a:defRPr/>
            </a:lvl1pPr>
            <a:lvl2pPr lvl="1" algn="l">
              <a:lnSpc>
                <a:spcPct val="100000"/>
              </a:lnSpc>
              <a:spcBef>
                <a:spcPts val="0"/>
              </a:spcBef>
              <a:spcAft>
                <a:spcPts val="0"/>
              </a:spcAft>
              <a:buClr>
                <a:srgbClr val="000000"/>
              </a:buClr>
              <a:buSzPts val="1800"/>
              <a:buNone/>
              <a:defRPr/>
            </a:lvl2pPr>
            <a:lvl3pPr lvl="2" algn="l">
              <a:lnSpc>
                <a:spcPct val="100000"/>
              </a:lnSpc>
              <a:spcBef>
                <a:spcPts val="0"/>
              </a:spcBef>
              <a:spcAft>
                <a:spcPts val="0"/>
              </a:spcAft>
              <a:buClr>
                <a:srgbClr val="000000"/>
              </a:buClr>
              <a:buSzPts val="1800"/>
              <a:buNone/>
              <a:defRPr/>
            </a:lvl3pPr>
            <a:lvl4pPr lvl="3" algn="l">
              <a:lnSpc>
                <a:spcPct val="100000"/>
              </a:lnSpc>
              <a:spcBef>
                <a:spcPts val="0"/>
              </a:spcBef>
              <a:spcAft>
                <a:spcPts val="0"/>
              </a:spcAft>
              <a:buClr>
                <a:srgbClr val="000000"/>
              </a:buClr>
              <a:buSzPts val="1800"/>
              <a:buNone/>
              <a:defRPr/>
            </a:lvl4pPr>
            <a:lvl5pPr lvl="4" algn="l">
              <a:lnSpc>
                <a:spcPct val="100000"/>
              </a:lnSpc>
              <a:spcBef>
                <a:spcPts val="0"/>
              </a:spcBef>
              <a:spcAft>
                <a:spcPts val="0"/>
              </a:spcAft>
              <a:buClr>
                <a:srgbClr val="000000"/>
              </a:buClr>
              <a:buSzPts val="1800"/>
              <a:buNone/>
              <a:defRPr/>
            </a:lvl5pPr>
            <a:lvl6pPr lvl="5" algn="l">
              <a:lnSpc>
                <a:spcPct val="100000"/>
              </a:lnSpc>
              <a:spcBef>
                <a:spcPts val="0"/>
              </a:spcBef>
              <a:spcAft>
                <a:spcPts val="0"/>
              </a:spcAft>
              <a:buClr>
                <a:srgbClr val="000000"/>
              </a:buClr>
              <a:buSzPts val="1800"/>
              <a:buNone/>
              <a:defRPr/>
            </a:lvl6pPr>
            <a:lvl7pPr lvl="6" algn="l">
              <a:lnSpc>
                <a:spcPct val="100000"/>
              </a:lnSpc>
              <a:spcBef>
                <a:spcPts val="0"/>
              </a:spcBef>
              <a:spcAft>
                <a:spcPts val="0"/>
              </a:spcAft>
              <a:buClr>
                <a:srgbClr val="000000"/>
              </a:buClr>
              <a:buSzPts val="1800"/>
              <a:buNone/>
              <a:defRPr/>
            </a:lvl7pPr>
            <a:lvl8pPr lvl="7" algn="l">
              <a:lnSpc>
                <a:spcPct val="100000"/>
              </a:lnSpc>
              <a:spcBef>
                <a:spcPts val="0"/>
              </a:spcBef>
              <a:spcAft>
                <a:spcPts val="0"/>
              </a:spcAft>
              <a:buClr>
                <a:srgbClr val="000000"/>
              </a:buClr>
              <a:buSzPts val="1800"/>
              <a:buNone/>
              <a:defRPr/>
            </a:lvl8pPr>
            <a:lvl9pPr lvl="8" algn="l">
              <a:lnSpc>
                <a:spcPct val="100000"/>
              </a:lnSpc>
              <a:spcBef>
                <a:spcPts val="0"/>
              </a:spcBef>
              <a:spcAft>
                <a:spcPts val="0"/>
              </a:spcAft>
              <a:buClr>
                <a:srgbClr val="000000"/>
              </a:buClr>
              <a:buSzPts val="1800"/>
              <a:buNone/>
              <a:defRPr/>
            </a:lvl9pPr>
          </a:lstStyle>
          <a:p>
            <a:endParaRPr/>
          </a:p>
        </p:txBody>
      </p:sp>
      <p:sp>
        <p:nvSpPr>
          <p:cNvPr id="57" name="Google Shape;57;p10"/>
          <p:cNvSpPr txBox="1">
            <a:spLocks noGrp="1"/>
          </p:cNvSpPr>
          <p:nvPr>
            <p:ph type="sldNum" idx="12"/>
          </p:nvPr>
        </p:nvSpPr>
        <p:spPr>
          <a:xfrm>
            <a:off x="8559801" y="4783454"/>
            <a:ext cx="127001" cy="127001"/>
          </a:xfrm>
          <a:prstGeom prst="rect">
            <a:avLst/>
          </a:prstGeom>
          <a:noFill/>
          <a:ln>
            <a:noFill/>
          </a:ln>
        </p:spPr>
        <p:txBody>
          <a:bodyPr spcFirstLastPara="1" wrap="square" lIns="0" tIns="0" rIns="0" bIns="0" anchor="t" anchorCtr="0">
            <a:spAutoFit/>
          </a:bodyPr>
          <a:lstStyle>
            <a:lvl1pPr marL="0" lvl="0" indent="0" algn="r">
              <a:lnSpc>
                <a:spcPct val="100000"/>
              </a:lnSpc>
              <a:spcBef>
                <a:spcPts val="0"/>
              </a:spcBef>
              <a:spcAft>
                <a:spcPts val="0"/>
              </a:spcAft>
              <a:buClr>
                <a:srgbClr val="888888"/>
              </a:buClr>
              <a:buSzPts val="700"/>
              <a:buFont typeface="Calibri"/>
              <a:buNone/>
              <a:defRPr>
                <a:solidFill>
                  <a:srgbClr val="888888"/>
                </a:solidFill>
              </a:defRPr>
            </a:lvl1pPr>
            <a:lvl2pPr marL="0" lvl="1" indent="0" algn="r">
              <a:lnSpc>
                <a:spcPct val="100000"/>
              </a:lnSpc>
              <a:spcBef>
                <a:spcPts val="0"/>
              </a:spcBef>
              <a:spcAft>
                <a:spcPts val="0"/>
              </a:spcAft>
              <a:buClr>
                <a:srgbClr val="888888"/>
              </a:buClr>
              <a:buSzPts val="700"/>
              <a:buFont typeface="Calibri"/>
              <a:buNone/>
              <a:defRPr>
                <a:solidFill>
                  <a:srgbClr val="888888"/>
                </a:solidFill>
              </a:defRPr>
            </a:lvl2pPr>
            <a:lvl3pPr marL="0" lvl="2" indent="0" algn="r">
              <a:lnSpc>
                <a:spcPct val="100000"/>
              </a:lnSpc>
              <a:spcBef>
                <a:spcPts val="0"/>
              </a:spcBef>
              <a:spcAft>
                <a:spcPts val="0"/>
              </a:spcAft>
              <a:buClr>
                <a:srgbClr val="888888"/>
              </a:buClr>
              <a:buSzPts val="700"/>
              <a:buFont typeface="Calibri"/>
              <a:buNone/>
              <a:defRPr>
                <a:solidFill>
                  <a:srgbClr val="888888"/>
                </a:solidFill>
              </a:defRPr>
            </a:lvl3pPr>
            <a:lvl4pPr marL="0" lvl="3" indent="0" algn="r">
              <a:lnSpc>
                <a:spcPct val="100000"/>
              </a:lnSpc>
              <a:spcBef>
                <a:spcPts val="0"/>
              </a:spcBef>
              <a:spcAft>
                <a:spcPts val="0"/>
              </a:spcAft>
              <a:buClr>
                <a:srgbClr val="888888"/>
              </a:buClr>
              <a:buSzPts val="700"/>
              <a:buFont typeface="Calibri"/>
              <a:buNone/>
              <a:defRPr>
                <a:solidFill>
                  <a:srgbClr val="888888"/>
                </a:solidFill>
              </a:defRPr>
            </a:lvl4pPr>
            <a:lvl5pPr marL="0" lvl="4" indent="0" algn="r">
              <a:lnSpc>
                <a:spcPct val="100000"/>
              </a:lnSpc>
              <a:spcBef>
                <a:spcPts val="0"/>
              </a:spcBef>
              <a:spcAft>
                <a:spcPts val="0"/>
              </a:spcAft>
              <a:buClr>
                <a:srgbClr val="888888"/>
              </a:buClr>
              <a:buSzPts val="700"/>
              <a:buFont typeface="Calibri"/>
              <a:buNone/>
              <a:defRPr>
                <a:solidFill>
                  <a:srgbClr val="888888"/>
                </a:solidFill>
              </a:defRPr>
            </a:lvl5pPr>
            <a:lvl6pPr marL="0" lvl="5" indent="0" algn="r">
              <a:lnSpc>
                <a:spcPct val="100000"/>
              </a:lnSpc>
              <a:spcBef>
                <a:spcPts val="0"/>
              </a:spcBef>
              <a:spcAft>
                <a:spcPts val="0"/>
              </a:spcAft>
              <a:buClr>
                <a:srgbClr val="888888"/>
              </a:buClr>
              <a:buSzPts val="700"/>
              <a:buFont typeface="Calibri"/>
              <a:buNone/>
              <a:defRPr>
                <a:solidFill>
                  <a:srgbClr val="888888"/>
                </a:solidFill>
              </a:defRPr>
            </a:lvl6pPr>
            <a:lvl7pPr marL="0" lvl="6" indent="0" algn="r">
              <a:lnSpc>
                <a:spcPct val="100000"/>
              </a:lnSpc>
              <a:spcBef>
                <a:spcPts val="0"/>
              </a:spcBef>
              <a:spcAft>
                <a:spcPts val="0"/>
              </a:spcAft>
              <a:buClr>
                <a:srgbClr val="888888"/>
              </a:buClr>
              <a:buSzPts val="700"/>
              <a:buFont typeface="Calibri"/>
              <a:buNone/>
              <a:defRPr>
                <a:solidFill>
                  <a:srgbClr val="888888"/>
                </a:solidFill>
              </a:defRPr>
            </a:lvl7pPr>
            <a:lvl8pPr marL="0" lvl="7" indent="0" algn="r">
              <a:lnSpc>
                <a:spcPct val="100000"/>
              </a:lnSpc>
              <a:spcBef>
                <a:spcPts val="0"/>
              </a:spcBef>
              <a:spcAft>
                <a:spcPts val="0"/>
              </a:spcAft>
              <a:buClr>
                <a:srgbClr val="888888"/>
              </a:buClr>
              <a:buSzPts val="700"/>
              <a:buFont typeface="Calibri"/>
              <a:buNone/>
              <a:defRPr>
                <a:solidFill>
                  <a:srgbClr val="888888"/>
                </a:solidFill>
              </a:defRPr>
            </a:lvl8pPr>
            <a:lvl9pPr marL="0" lvl="8" indent="0" algn="r">
              <a:lnSpc>
                <a:spcPct val="100000"/>
              </a:lnSpc>
              <a:spcBef>
                <a:spcPts val="0"/>
              </a:spcBef>
              <a:spcAft>
                <a:spcPts val="0"/>
              </a:spcAft>
              <a:buClr>
                <a:srgbClr val="888888"/>
              </a:buClr>
              <a:buSzPts val="700"/>
              <a:buFont typeface="Calibri"/>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05741"/>
            <a:ext cx="8229600" cy="277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endParaRPr/>
          </a:p>
        </p:txBody>
      </p:sp>
      <p:sp>
        <p:nvSpPr>
          <p:cNvPr id="7" name="Google Shape;7;p1"/>
          <p:cNvSpPr txBox="1">
            <a:spLocks noGrp="1"/>
          </p:cNvSpPr>
          <p:nvPr>
            <p:ph type="body" idx="1"/>
          </p:nvPr>
        </p:nvSpPr>
        <p:spPr>
          <a:xfrm>
            <a:off x="457200" y="1200150"/>
            <a:ext cx="8229600" cy="3943350"/>
          </a:xfrm>
          <a:prstGeom prst="rect">
            <a:avLst/>
          </a:prstGeom>
          <a:noFill/>
          <a:ln>
            <a:noFill/>
          </a:ln>
        </p:spPr>
        <p:txBody>
          <a:bodyPr spcFirstLastPara="1" wrap="square" lIns="0" tIns="0" rIns="0" bIns="0" anchor="t" anchorCtr="0">
            <a:noAutofit/>
          </a:bodyPr>
          <a:lstStyle>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endParaRPr/>
          </a:p>
        </p:txBody>
      </p:sp>
      <p:sp>
        <p:nvSpPr>
          <p:cNvPr id="8" name="Google Shape;8;p1"/>
          <p:cNvSpPr txBox="1">
            <a:spLocks noGrp="1"/>
          </p:cNvSpPr>
          <p:nvPr>
            <p:ph type="sldNum" idx="12"/>
          </p:nvPr>
        </p:nvSpPr>
        <p:spPr>
          <a:xfrm>
            <a:off x="8559801" y="4783454"/>
            <a:ext cx="127001" cy="127001"/>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888888"/>
              </a:buClr>
              <a:buSzPts val="700"/>
              <a:buFont typeface="Calibri"/>
              <a:buNone/>
              <a:defRPr sz="7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comments" Target="../comments/comment1.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hyperlink" Target="https://zerologementvacant.beta.gouv.fr/" TargetMode="External"/><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cxnSp>
        <p:nvCxnSpPr>
          <p:cNvPr id="62" name="Google Shape;62;p11"/>
          <p:cNvCxnSpPr/>
          <p:nvPr/>
        </p:nvCxnSpPr>
        <p:spPr>
          <a:xfrm>
            <a:off x="2065183" y="0"/>
            <a:ext cx="0" cy="5141700"/>
          </a:xfrm>
          <a:prstGeom prst="straightConnector1">
            <a:avLst/>
          </a:prstGeom>
          <a:noFill/>
          <a:ln w="12700" cap="flat" cmpd="sng">
            <a:solidFill>
              <a:srgbClr val="E0E0E0"/>
            </a:solidFill>
            <a:prstDash val="solid"/>
            <a:round/>
            <a:headEnd type="none" w="sm" len="sm"/>
            <a:tailEnd type="none" w="sm" len="sm"/>
          </a:ln>
        </p:spPr>
      </p:cxnSp>
      <p:sp>
        <p:nvSpPr>
          <p:cNvPr id="63" name="Google Shape;63;p11"/>
          <p:cNvSpPr txBox="1">
            <a:spLocks noGrp="1"/>
          </p:cNvSpPr>
          <p:nvPr>
            <p:ph type="body" idx="1"/>
          </p:nvPr>
        </p:nvSpPr>
        <p:spPr>
          <a:xfrm>
            <a:off x="2709800" y="1384625"/>
            <a:ext cx="5125200" cy="231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sz="2000" i="1" dirty="0"/>
              <a:t>{{</a:t>
            </a:r>
            <a:r>
              <a:rPr lang="en-US" sz="2000" i="1" dirty="0" err="1"/>
              <a:t>documentType</a:t>
            </a:r>
            <a:r>
              <a:rPr lang="en-US" sz="2000" i="1" dirty="0"/>
              <a:t>}}</a:t>
            </a:r>
            <a:r>
              <a:rPr lang="en-US" sz="2000" dirty="0"/>
              <a:t> {{period}}</a:t>
            </a:r>
            <a:endParaRPr sz="2000" i="1" dirty="0"/>
          </a:p>
        </p:txBody>
      </p:sp>
      <p:sp>
        <p:nvSpPr>
          <p:cNvPr id="64" name="Google Shape;64;p11"/>
          <p:cNvSpPr txBox="1">
            <a:spLocks noGrp="1"/>
          </p:cNvSpPr>
          <p:nvPr>
            <p:ph type="body" idx="4294967295"/>
          </p:nvPr>
        </p:nvSpPr>
        <p:spPr>
          <a:xfrm>
            <a:off x="2709800" y="595850"/>
            <a:ext cx="5277600" cy="455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sz="2400" b="1" u="sng" dirty="0"/>
              <a:t>EPCI </a:t>
            </a:r>
            <a:r>
              <a:rPr lang="en-US" sz="2400" b="1" i="1" u="sng" dirty="0"/>
              <a:t>{{</a:t>
            </a:r>
            <a:r>
              <a:rPr lang="en-US" sz="2400" b="1" i="1" u="sng" dirty="0" err="1"/>
              <a:t>selectedEpciName</a:t>
            </a:r>
            <a:r>
              <a:rPr lang="en-US" sz="2400" b="1" i="1" u="sng" dirty="0"/>
              <a:t>}}</a:t>
            </a:r>
            <a:endParaRPr sz="2400" b="1" i="1" u="sng" dirty="0"/>
          </a:p>
        </p:txBody>
      </p:sp>
      <p:sp>
        <p:nvSpPr>
          <p:cNvPr id="65" name="Google Shape;65;p11"/>
          <p:cNvSpPr txBox="1">
            <a:spLocks noGrp="1"/>
          </p:cNvSpPr>
          <p:nvPr>
            <p:ph type="body" idx="4294967295"/>
          </p:nvPr>
        </p:nvSpPr>
        <p:spPr>
          <a:xfrm>
            <a:off x="2709800" y="1851000"/>
            <a:ext cx="5125200" cy="231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sz="2000" dirty="0"/>
              <a:t>Date : {{date}}</a:t>
            </a:r>
            <a:endParaRPr sz="2000" dirty="0"/>
          </a:p>
        </p:txBody>
      </p:sp>
      <p:grpSp>
        <p:nvGrpSpPr>
          <p:cNvPr id="66" name="Google Shape;66;p11"/>
          <p:cNvGrpSpPr/>
          <p:nvPr/>
        </p:nvGrpSpPr>
        <p:grpSpPr>
          <a:xfrm>
            <a:off x="4724074" y="2622206"/>
            <a:ext cx="3901513" cy="2088553"/>
            <a:chOff x="3078800" y="1741450"/>
            <a:chExt cx="5546650" cy="2969225"/>
          </a:xfrm>
        </p:grpSpPr>
        <p:pic>
          <p:nvPicPr>
            <p:cNvPr id="67" name="Google Shape;67;p11" title="Capture d’écran 2025-07-28 à 11.40.43.png"/>
            <p:cNvPicPr preferRelativeResize="0"/>
            <p:nvPr/>
          </p:nvPicPr>
          <p:blipFill rotWithShape="1">
            <a:blip r:embed="rId3">
              <a:alphaModFix/>
            </a:blip>
            <a:srcRect t="1487"/>
            <a:stretch/>
          </p:blipFill>
          <p:spPr>
            <a:xfrm>
              <a:off x="3078800" y="1818400"/>
              <a:ext cx="5546650" cy="2892275"/>
            </a:xfrm>
            <a:prstGeom prst="rect">
              <a:avLst/>
            </a:prstGeom>
            <a:noFill/>
            <a:ln>
              <a:noFill/>
            </a:ln>
          </p:spPr>
        </p:pic>
        <p:sp>
          <p:nvSpPr>
            <p:cNvPr id="68" name="Google Shape;68;p11"/>
            <p:cNvSpPr/>
            <p:nvPr/>
          </p:nvSpPr>
          <p:spPr>
            <a:xfrm>
              <a:off x="4348825" y="1741450"/>
              <a:ext cx="255600" cy="255600"/>
            </a:xfrm>
            <a:prstGeom prst="ellipse">
              <a:avLst/>
            </a:prstGeom>
            <a:solidFill>
              <a:srgbClr val="000091"/>
            </a:solidFill>
            <a:ln>
              <a:noFill/>
            </a:ln>
          </p:spPr>
          <p:txBody>
            <a:bodyPr spcFirstLastPara="1" wrap="square" lIns="64300" tIns="64300" rIns="64300" bIns="64300" anchor="ctr" anchorCtr="0">
              <a:noAutofit/>
            </a:bodyPr>
            <a:lstStyle/>
            <a:p>
              <a:pPr marL="0" lvl="0" indent="0" algn="ctr" rtl="0">
                <a:spcBef>
                  <a:spcPts val="0"/>
                </a:spcBef>
                <a:spcAft>
                  <a:spcPts val="0"/>
                </a:spcAft>
                <a:buNone/>
              </a:pPr>
              <a:endParaRPr sz="984">
                <a:solidFill>
                  <a:schemeClr val="lt1"/>
                </a:solidFill>
                <a:latin typeface="Calibri"/>
                <a:ea typeface="Calibri"/>
                <a:cs typeface="Calibri"/>
                <a:sym typeface="Calibri"/>
              </a:endParaRPr>
            </a:p>
          </p:txBody>
        </p:sp>
        <p:sp>
          <p:nvSpPr>
            <p:cNvPr id="69" name="Google Shape;69;p11"/>
            <p:cNvSpPr/>
            <p:nvPr/>
          </p:nvSpPr>
          <p:spPr>
            <a:xfrm>
              <a:off x="4241450" y="1799158"/>
              <a:ext cx="152400" cy="152400"/>
            </a:xfrm>
            <a:prstGeom prst="ellipse">
              <a:avLst/>
            </a:prstGeom>
            <a:solidFill>
              <a:srgbClr val="000091"/>
            </a:solidFill>
            <a:ln>
              <a:noFill/>
            </a:ln>
          </p:spPr>
          <p:txBody>
            <a:bodyPr spcFirstLastPara="1" wrap="square" lIns="64300" tIns="64300" rIns="64300" bIns="64300" anchor="ctr" anchorCtr="0">
              <a:noAutofit/>
            </a:bodyPr>
            <a:lstStyle/>
            <a:p>
              <a:pPr marL="0" lvl="0" indent="0" algn="ctr" rtl="0">
                <a:spcBef>
                  <a:spcPts val="0"/>
                </a:spcBef>
                <a:spcAft>
                  <a:spcPts val="0"/>
                </a:spcAft>
                <a:buNone/>
              </a:pPr>
              <a:endParaRPr sz="984">
                <a:solidFill>
                  <a:schemeClr val="lt1"/>
                </a:solidFill>
                <a:latin typeface="Calibri"/>
                <a:ea typeface="Calibri"/>
                <a:cs typeface="Calibri"/>
                <a:sym typeface="Calibri"/>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2"/>
          <p:cNvSpPr txBox="1">
            <a:spLocks noGrp="1"/>
          </p:cNvSpPr>
          <p:nvPr>
            <p:ph type="body" idx="1"/>
          </p:nvPr>
        </p:nvSpPr>
        <p:spPr>
          <a:xfrm>
            <a:off x="4928650" y="661950"/>
            <a:ext cx="3632700" cy="3819600"/>
          </a:xfrm>
          <a:prstGeom prst="rect">
            <a:avLst/>
          </a:prstGeom>
          <a:noFill/>
        </p:spPr>
        <p:txBody>
          <a:bodyPr spcFirstLastPara="1" wrap="square" lIns="0" tIns="0" rIns="0" bIns="0" anchor="ctr" anchorCtr="0">
            <a:noAutofit/>
          </a:bodyPr>
          <a:lstStyle/>
          <a:p>
            <a:pPr marL="457200" lvl="0" indent="-228600" algn="l" rtl="0">
              <a:lnSpc>
                <a:spcPct val="100000"/>
              </a:lnSpc>
              <a:spcBef>
                <a:spcPts val="0"/>
              </a:spcBef>
              <a:spcAft>
                <a:spcPts val="0"/>
              </a:spcAft>
              <a:buClr>
                <a:schemeClr val="lt1"/>
              </a:buClr>
              <a:buSzPts val="1500"/>
              <a:buNone/>
            </a:pPr>
            <a:r>
              <a:rPr lang="en-US" sz="1600" dirty="0" err="1"/>
              <a:t>Synthèse</a:t>
            </a:r>
            <a:br>
              <a:rPr lang="en-US" sz="1600" dirty="0"/>
            </a:br>
            <a:r>
              <a:rPr lang="en-US" sz="1400" b="0" i="1" dirty="0" err="1"/>
              <a:t>L’essentiel</a:t>
            </a:r>
            <a:r>
              <a:rPr lang="en-US" sz="1400" b="0" i="1" dirty="0"/>
              <a:t> </a:t>
            </a:r>
            <a:r>
              <a:rPr lang="en-US" sz="1400" b="0" i="1" dirty="0" err="1"/>
              <a:t>à</a:t>
            </a:r>
            <a:r>
              <a:rPr lang="en-US" sz="1400" b="0" i="1" dirty="0"/>
              <a:t> </a:t>
            </a:r>
            <a:r>
              <a:rPr lang="en-US" sz="1400" b="0" i="1" dirty="0" err="1"/>
              <a:t>retenir</a:t>
            </a:r>
            <a:endParaRPr sz="1400" b="0" i="1" dirty="0"/>
          </a:p>
          <a:p>
            <a:pPr marL="457200" lvl="0" indent="-228600" algn="l" rtl="0">
              <a:lnSpc>
                <a:spcPct val="100000"/>
              </a:lnSpc>
              <a:spcBef>
                <a:spcPts val="1800"/>
              </a:spcBef>
              <a:spcAft>
                <a:spcPts val="0"/>
              </a:spcAft>
              <a:buClr>
                <a:schemeClr val="lt1"/>
              </a:buClr>
              <a:buSzPts val="1400"/>
              <a:buNone/>
            </a:pPr>
            <a:r>
              <a:rPr lang="en-US" sz="1600" dirty="0" err="1"/>
              <a:t>Méthodologie</a:t>
            </a:r>
            <a:r>
              <a:rPr lang="en-US" sz="1600" dirty="0"/>
              <a:t> : </a:t>
            </a:r>
            <a:r>
              <a:rPr lang="en-US" sz="1600" dirty="0" err="1"/>
              <a:t>l'outil</a:t>
            </a:r>
            <a:r>
              <a:rPr lang="en-US" sz="1600" dirty="0"/>
              <a:t> </a:t>
            </a:r>
            <a:r>
              <a:rPr lang="en-US" sz="1600" dirty="0" err="1"/>
              <a:t>Otelo</a:t>
            </a:r>
            <a:br>
              <a:rPr lang="en-US" sz="1600" dirty="0"/>
            </a:br>
            <a:r>
              <a:rPr lang="en-US" sz="1400" b="0" i="1" dirty="0"/>
              <a:t>Comment </a:t>
            </a:r>
            <a:r>
              <a:rPr lang="en-US" sz="1400" b="0" i="1" dirty="0" err="1"/>
              <a:t>sont</a:t>
            </a:r>
            <a:r>
              <a:rPr lang="en-US" sz="1400" b="0" i="1" dirty="0"/>
              <a:t> </a:t>
            </a:r>
            <a:r>
              <a:rPr lang="en-US" sz="1400" b="0" i="1" dirty="0" err="1"/>
              <a:t>calculés</a:t>
            </a:r>
            <a:r>
              <a:rPr lang="en-US" sz="1400" b="0" i="1" dirty="0"/>
              <a:t> </a:t>
            </a:r>
            <a:r>
              <a:rPr lang="en-US" sz="1400" b="0" i="1" dirty="0" err="1"/>
              <a:t>vos</a:t>
            </a:r>
            <a:r>
              <a:rPr lang="en-US" sz="1400" b="0" i="1" dirty="0"/>
              <a:t> </a:t>
            </a:r>
            <a:r>
              <a:rPr lang="en-US" sz="1400" b="0" i="1" dirty="0" err="1"/>
              <a:t>besoins</a:t>
            </a:r>
            <a:r>
              <a:rPr lang="en-US" sz="1400" b="0" i="1" dirty="0"/>
              <a:t> </a:t>
            </a:r>
            <a:r>
              <a:rPr lang="en-US" sz="1400" b="0" i="1" dirty="0" err="1"/>
              <a:t>en</a:t>
            </a:r>
            <a:r>
              <a:rPr lang="en-US" sz="1400" b="0" i="1" dirty="0"/>
              <a:t> </a:t>
            </a:r>
            <a:r>
              <a:rPr lang="en-US" sz="1400" b="0" i="1" dirty="0" err="1"/>
              <a:t>logement</a:t>
            </a:r>
            <a:r>
              <a:rPr lang="en-US" sz="1400" b="0" i="1" dirty="0"/>
              <a:t> ?</a:t>
            </a:r>
            <a:endParaRPr sz="1400" b="0" i="1" dirty="0"/>
          </a:p>
          <a:p>
            <a:pPr marL="457200" lvl="0" indent="-228600" algn="l" rtl="0">
              <a:lnSpc>
                <a:spcPct val="100000"/>
              </a:lnSpc>
              <a:spcBef>
                <a:spcPts val="1800"/>
              </a:spcBef>
              <a:spcAft>
                <a:spcPts val="0"/>
              </a:spcAft>
              <a:buClr>
                <a:schemeClr val="lt1"/>
              </a:buClr>
              <a:buSzPts val="1400"/>
              <a:buNone/>
            </a:pPr>
            <a:r>
              <a:rPr lang="en-US" sz="1600" dirty="0"/>
              <a:t>Les </a:t>
            </a:r>
            <a:r>
              <a:rPr lang="en-US" sz="1600" dirty="0" err="1"/>
              <a:t>données</a:t>
            </a:r>
            <a:r>
              <a:rPr lang="en-US" sz="1600" dirty="0"/>
              <a:t> de </a:t>
            </a:r>
            <a:r>
              <a:rPr lang="en-US" sz="1600" dirty="0" err="1"/>
              <a:t>cadrage</a:t>
            </a:r>
            <a:br>
              <a:rPr lang="en-US" sz="1600" dirty="0"/>
            </a:br>
            <a:r>
              <a:rPr lang="en-US" sz="1400" b="0" i="1" dirty="0"/>
              <a:t>Quelle </a:t>
            </a:r>
            <a:r>
              <a:rPr lang="en-US" sz="1400" b="0" i="1" dirty="0" err="1"/>
              <a:t>est</a:t>
            </a:r>
            <a:r>
              <a:rPr lang="en-US" sz="1400" b="0" i="1" dirty="0"/>
              <a:t> la </a:t>
            </a:r>
            <a:r>
              <a:rPr lang="en-US" sz="1400" b="0" i="1" dirty="0" err="1"/>
              <a:t>dynamique</a:t>
            </a:r>
            <a:r>
              <a:rPr lang="en-US" sz="1400" b="0" i="1" dirty="0"/>
              <a:t> de </a:t>
            </a:r>
            <a:r>
              <a:rPr lang="en-US" sz="1400" b="0" i="1" dirty="0" err="1"/>
              <a:t>mon</a:t>
            </a:r>
            <a:r>
              <a:rPr lang="en-US" sz="1400" b="0" i="1" dirty="0"/>
              <a:t> </a:t>
            </a:r>
            <a:r>
              <a:rPr lang="en-US" sz="1400" b="0" i="1" dirty="0" err="1"/>
              <a:t>territoire</a:t>
            </a:r>
            <a:r>
              <a:rPr lang="en-US" sz="1400" b="0" i="1" dirty="0"/>
              <a:t> ?</a:t>
            </a:r>
            <a:endParaRPr sz="1400" b="0" i="1" dirty="0"/>
          </a:p>
          <a:p>
            <a:pPr marL="457200" lvl="0" indent="-228600" algn="l" rtl="0">
              <a:lnSpc>
                <a:spcPct val="100000"/>
              </a:lnSpc>
              <a:spcBef>
                <a:spcPts val="1800"/>
              </a:spcBef>
              <a:spcAft>
                <a:spcPts val="0"/>
              </a:spcAft>
              <a:buClr>
                <a:schemeClr val="lt1"/>
              </a:buClr>
              <a:buSzPts val="1400"/>
              <a:buNone/>
            </a:pPr>
            <a:r>
              <a:rPr lang="en-US" sz="1600" dirty="0"/>
              <a:t>Les {{</a:t>
            </a:r>
            <a:r>
              <a:rPr lang="en-US" sz="1600" dirty="0" err="1"/>
              <a:t>nb</a:t>
            </a:r>
            <a:r>
              <a:rPr lang="en-US" sz="1600" dirty="0"/>
              <a:t>}} </a:t>
            </a:r>
            <a:r>
              <a:rPr lang="en-US" sz="1600" dirty="0" err="1"/>
              <a:t>scénarios</a:t>
            </a:r>
            <a:r>
              <a:rPr lang="en-US" sz="1600" dirty="0"/>
              <a:t> </a:t>
            </a:r>
            <a:r>
              <a:rPr lang="en-US" sz="1600" dirty="0" err="1"/>
              <a:t>étudiés</a:t>
            </a:r>
            <a:br>
              <a:rPr lang="en-US" sz="1600" dirty="0"/>
            </a:br>
            <a:r>
              <a:rPr lang="en-US" sz="1400" b="0" i="1" dirty="0" err="1"/>
              <a:t>Paramètres</a:t>
            </a:r>
            <a:r>
              <a:rPr lang="en-US" sz="1400" b="0" i="1" dirty="0"/>
              <a:t> et </a:t>
            </a:r>
            <a:r>
              <a:rPr lang="en-US" sz="1400" b="0" i="1" dirty="0" err="1"/>
              <a:t>hypothèses</a:t>
            </a:r>
            <a:r>
              <a:rPr lang="en-US" sz="1400" b="0" i="1" dirty="0"/>
              <a:t> </a:t>
            </a:r>
            <a:r>
              <a:rPr lang="en-US" sz="1400" b="0" i="1" dirty="0" err="1"/>
              <a:t>testées</a:t>
            </a:r>
            <a:endParaRPr sz="1400" b="0" i="1" dirty="0"/>
          </a:p>
          <a:p>
            <a:pPr marL="457200" lvl="0" indent="-228600" algn="l" rtl="0">
              <a:lnSpc>
                <a:spcPct val="100000"/>
              </a:lnSpc>
              <a:spcBef>
                <a:spcPts val="1800"/>
              </a:spcBef>
              <a:spcAft>
                <a:spcPts val="1800"/>
              </a:spcAft>
              <a:buClr>
                <a:schemeClr val="lt1"/>
              </a:buClr>
              <a:buSzPts val="1400"/>
              <a:buNone/>
            </a:pPr>
            <a:r>
              <a:rPr lang="en-US" sz="1600" dirty="0" err="1"/>
              <a:t>Décryptage</a:t>
            </a:r>
            <a:r>
              <a:rPr lang="en-US" sz="1600" dirty="0"/>
              <a:t> et justification du </a:t>
            </a:r>
            <a:r>
              <a:rPr lang="en-US" sz="1600" dirty="0" err="1"/>
              <a:t>scénario</a:t>
            </a:r>
            <a:r>
              <a:rPr lang="en-US" sz="1600" dirty="0"/>
              <a:t> </a:t>
            </a:r>
            <a:r>
              <a:rPr lang="en-US" sz="1600" dirty="0" err="1"/>
              <a:t>privilégié</a:t>
            </a:r>
            <a:br>
              <a:rPr lang="en-US" sz="1600" dirty="0"/>
            </a:br>
            <a:r>
              <a:rPr lang="en-US" sz="1400" b="0" i="1" dirty="0" err="1"/>
              <a:t>Scénario</a:t>
            </a:r>
            <a:r>
              <a:rPr lang="en-US" sz="1400" b="0" i="1" dirty="0"/>
              <a:t> {{</a:t>
            </a:r>
            <a:r>
              <a:rPr lang="en-US" sz="1400" b="0" i="1" dirty="0" err="1"/>
              <a:t>privilegedScenario</a:t>
            </a:r>
            <a:r>
              <a:rPr lang="en-US" sz="1400" b="0" i="1" dirty="0"/>
              <a:t>}}</a:t>
            </a:r>
            <a:endParaRPr sz="1400" b="0" i="1" dirty="0"/>
          </a:p>
        </p:txBody>
      </p:sp>
      <p:sp>
        <p:nvSpPr>
          <p:cNvPr id="75" name="Google Shape;75;p12"/>
          <p:cNvSpPr txBox="1">
            <a:spLocks noGrp="1"/>
          </p:cNvSpPr>
          <p:nvPr>
            <p:ph type="title"/>
          </p:nvPr>
        </p:nvSpPr>
        <p:spPr>
          <a:xfrm>
            <a:off x="1646300" y="1088825"/>
            <a:ext cx="2225100" cy="25908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US"/>
              <a:t>Ordre du jour</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3"/>
          <p:cNvSpPr txBox="1">
            <a:spLocks noGrp="1"/>
          </p:cNvSpPr>
          <p:nvPr>
            <p:ph type="body" idx="1"/>
          </p:nvPr>
        </p:nvSpPr>
        <p:spPr>
          <a:xfrm>
            <a:off x="2709800" y="2344050"/>
            <a:ext cx="5277600" cy="4554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US"/>
              <a:t>Synthèse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4"/>
          <p:cNvSpPr txBox="1"/>
          <p:nvPr/>
        </p:nvSpPr>
        <p:spPr>
          <a:xfrm>
            <a:off x="2333831" y="369174"/>
            <a:ext cx="3659400" cy="461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L’essentiel à retenir</a:t>
            </a:r>
            <a:endParaRPr sz="2400" b="1">
              <a:solidFill>
                <a:srgbClr val="262626"/>
              </a:solidFill>
            </a:endParaRPr>
          </a:p>
        </p:txBody>
      </p:sp>
      <p:sp>
        <p:nvSpPr>
          <p:cNvPr id="86" name="Google Shape;86;p14"/>
          <p:cNvSpPr/>
          <p:nvPr/>
        </p:nvSpPr>
        <p:spPr>
          <a:xfrm>
            <a:off x="2333813" y="1430013"/>
            <a:ext cx="3170100" cy="2738700"/>
          </a:xfrm>
          <a:prstGeom prst="rect">
            <a:avLst/>
          </a:prstGeom>
          <a:solidFill>
            <a:srgbClr val="CED1FF">
              <a:alpha val="27840"/>
            </a:srgbClr>
          </a:solidFill>
          <a:ln>
            <a:noFill/>
          </a:ln>
        </p:spPr>
        <p:txBody>
          <a:bodyPr spcFirstLastPara="1" wrap="square" lIns="45700" tIns="182875" rIns="45700" bIns="45700" anchor="t" anchorCtr="0">
            <a:noAutofit/>
          </a:bodyPr>
          <a:lstStyle/>
          <a:p>
            <a:pPr marL="0" lvl="0" indent="0" algn="ctr" rtl="0">
              <a:spcBef>
                <a:spcPts val="0"/>
              </a:spcBef>
              <a:spcAft>
                <a:spcPts val="0"/>
              </a:spcAft>
              <a:buNone/>
            </a:pPr>
            <a:r>
              <a:rPr lang="en-US" b="1" i="1" dirty="0">
                <a:solidFill>
                  <a:schemeClr val="dk1"/>
                </a:solidFill>
              </a:rPr>
              <a:t>Sur la </a:t>
            </a:r>
            <a:r>
              <a:rPr lang="en-US" b="1" i="1" dirty="0" err="1">
                <a:solidFill>
                  <a:schemeClr val="dk1"/>
                </a:solidFill>
              </a:rPr>
              <a:t>période</a:t>
            </a:r>
            <a:r>
              <a:rPr lang="en-US" b="1" i="1" dirty="0">
                <a:solidFill>
                  <a:schemeClr val="dk1"/>
                </a:solidFill>
              </a:rPr>
              <a:t> {{start}}-{{end}}</a:t>
            </a:r>
            <a:endParaRPr b="1" i="1" dirty="0">
              <a:solidFill>
                <a:schemeClr val="dk1"/>
              </a:solidFill>
            </a:endParaRPr>
          </a:p>
          <a:p>
            <a:pPr marL="0" lvl="0" indent="0" algn="l" rtl="0">
              <a:spcBef>
                <a:spcPts val="0"/>
              </a:spcBef>
              <a:spcAft>
                <a:spcPts val="0"/>
              </a:spcAft>
              <a:buNone/>
            </a:pPr>
            <a:endParaRPr sz="1100" b="1" i="1" dirty="0">
              <a:solidFill>
                <a:schemeClr val="dk1"/>
              </a:solidFill>
            </a:endParaRPr>
          </a:p>
          <a:p>
            <a:pPr marL="0" lvl="0" indent="0" algn="l" rtl="0">
              <a:spcBef>
                <a:spcPts val="0"/>
              </a:spcBef>
              <a:spcAft>
                <a:spcPts val="0"/>
              </a:spcAft>
              <a:buNone/>
            </a:pPr>
            <a:r>
              <a:rPr lang="en-US" sz="1200" b="1" i="1" dirty="0">
                <a:solidFill>
                  <a:schemeClr val="dk1"/>
                </a:solidFill>
              </a:rPr>
              <a:t>{{</a:t>
            </a:r>
            <a:r>
              <a:rPr lang="en-US" sz="1200" b="1" i="1" dirty="0" err="1">
                <a:solidFill>
                  <a:schemeClr val="dk1"/>
                </a:solidFill>
              </a:rPr>
              <a:t>nbSupp</a:t>
            </a:r>
            <a:r>
              <a:rPr lang="en-US" sz="1200" b="1" i="1" dirty="0">
                <a:solidFill>
                  <a:schemeClr val="dk1"/>
                </a:solidFill>
              </a:rPr>
              <a:t>}} </a:t>
            </a:r>
            <a:r>
              <a:rPr lang="en-US" sz="1200" b="1" i="1" dirty="0" err="1">
                <a:solidFill>
                  <a:schemeClr val="dk1"/>
                </a:solidFill>
              </a:rPr>
              <a:t>logements</a:t>
            </a:r>
            <a:r>
              <a:rPr lang="en-US" sz="1200" b="1" i="1" dirty="0">
                <a:solidFill>
                  <a:schemeClr val="dk1"/>
                </a:solidFill>
              </a:rPr>
              <a:t> </a:t>
            </a:r>
            <a:r>
              <a:rPr lang="en-US" sz="1200" b="1" dirty="0" err="1">
                <a:solidFill>
                  <a:schemeClr val="dk1"/>
                </a:solidFill>
              </a:rPr>
              <a:t>supplémentaires</a:t>
            </a:r>
            <a:r>
              <a:rPr lang="en-US" sz="1200" b="1" dirty="0">
                <a:solidFill>
                  <a:schemeClr val="dk1"/>
                </a:solidFill>
              </a:rPr>
              <a:t> </a:t>
            </a:r>
            <a:r>
              <a:rPr lang="en-US" sz="1200" b="1" dirty="0" err="1">
                <a:solidFill>
                  <a:schemeClr val="dk1"/>
                </a:solidFill>
              </a:rPr>
              <a:t>attendus</a:t>
            </a:r>
            <a:r>
              <a:rPr lang="en-US" sz="1200" b="1" dirty="0">
                <a:solidFill>
                  <a:schemeClr val="dk1"/>
                </a:solidFill>
              </a:rPr>
              <a:t> sur le </a:t>
            </a:r>
            <a:r>
              <a:rPr lang="en-US" sz="1200" b="1" dirty="0" err="1">
                <a:solidFill>
                  <a:schemeClr val="dk1"/>
                </a:solidFill>
              </a:rPr>
              <a:t>territoire</a:t>
            </a:r>
            <a:r>
              <a:rPr lang="en-US" sz="1200" b="1" dirty="0">
                <a:solidFill>
                  <a:schemeClr val="dk1"/>
                </a:solidFill>
              </a:rPr>
              <a:t> :</a:t>
            </a:r>
            <a:endParaRPr sz="1200" b="1" dirty="0">
              <a:solidFill>
                <a:schemeClr val="dk1"/>
              </a:solidFill>
            </a:endParaRPr>
          </a:p>
          <a:p>
            <a:pPr marL="0" lvl="0" indent="0" algn="l" rtl="0">
              <a:spcBef>
                <a:spcPts val="0"/>
              </a:spcBef>
              <a:spcAft>
                <a:spcPts val="0"/>
              </a:spcAft>
              <a:buNone/>
            </a:pPr>
            <a:endParaRPr sz="1100" b="1" dirty="0">
              <a:solidFill>
                <a:schemeClr val="dk1"/>
              </a:solidFill>
            </a:endParaRPr>
          </a:p>
          <a:p>
            <a:pPr marL="342900" marR="148107" lvl="0" indent="-241300" algn="l" rtl="0">
              <a:lnSpc>
                <a:spcPct val="100000"/>
              </a:lnSpc>
              <a:spcBef>
                <a:spcPts val="1200"/>
              </a:spcBef>
              <a:spcAft>
                <a:spcPts val="0"/>
              </a:spcAft>
              <a:buClr>
                <a:schemeClr val="dk1"/>
              </a:buClr>
              <a:buSzPts val="1100"/>
              <a:buChar char="●"/>
            </a:pPr>
            <a:r>
              <a:rPr lang="en-US" sz="1100" b="1" i="1" dirty="0">
                <a:solidFill>
                  <a:schemeClr val="dk1"/>
                </a:solidFill>
              </a:rPr>
              <a:t>{{</a:t>
            </a:r>
            <a:r>
              <a:rPr lang="en-US" sz="1100" b="1" i="1" dirty="0" err="1">
                <a:solidFill>
                  <a:schemeClr val="dk1"/>
                </a:solidFill>
              </a:rPr>
              <a:t>nbNew</a:t>
            </a:r>
            <a:r>
              <a:rPr lang="en-US" sz="1100" b="1" i="1" dirty="0">
                <a:solidFill>
                  <a:schemeClr val="dk1"/>
                </a:solidFill>
              </a:rPr>
              <a:t>}} </a:t>
            </a:r>
            <a:r>
              <a:rPr lang="en-US" sz="1100" b="1" dirty="0" err="1">
                <a:solidFill>
                  <a:schemeClr val="dk1"/>
                </a:solidFill>
              </a:rPr>
              <a:t>logements</a:t>
            </a:r>
            <a:r>
              <a:rPr lang="en-US" sz="1100" b="1" dirty="0">
                <a:solidFill>
                  <a:schemeClr val="dk1"/>
                </a:solidFill>
              </a:rPr>
              <a:t> </a:t>
            </a:r>
            <a:r>
              <a:rPr lang="en-US" sz="1100" b="1" dirty="0" err="1">
                <a:solidFill>
                  <a:schemeClr val="dk1"/>
                </a:solidFill>
              </a:rPr>
              <a:t>neufs</a:t>
            </a:r>
            <a:r>
              <a:rPr lang="en-US" sz="1100" dirty="0">
                <a:solidFill>
                  <a:schemeClr val="dk1"/>
                </a:solidFill>
              </a:rPr>
              <a:t> par an </a:t>
            </a:r>
            <a:r>
              <a:rPr lang="en-US" sz="1100" dirty="0" err="1">
                <a:solidFill>
                  <a:schemeClr val="dk1"/>
                </a:solidFill>
              </a:rPr>
              <a:t>à</a:t>
            </a:r>
            <a:r>
              <a:rPr lang="en-US" sz="1100" dirty="0">
                <a:solidFill>
                  <a:schemeClr val="dk1"/>
                </a:solidFill>
              </a:rPr>
              <a:t> </a:t>
            </a:r>
            <a:r>
              <a:rPr lang="en-US" sz="1100" dirty="0" err="1">
                <a:solidFill>
                  <a:schemeClr val="dk1"/>
                </a:solidFill>
              </a:rPr>
              <a:t>construire</a:t>
            </a:r>
            <a:r>
              <a:rPr lang="en-US" sz="1100" dirty="0">
                <a:solidFill>
                  <a:schemeClr val="dk1"/>
                </a:solidFill>
              </a:rPr>
              <a:t> sur </a:t>
            </a:r>
            <a:r>
              <a:rPr lang="en-US" sz="1100" i="1" dirty="0">
                <a:solidFill>
                  <a:schemeClr val="dk1"/>
                </a:solidFill>
              </a:rPr>
              <a:t>la </a:t>
            </a:r>
            <a:r>
              <a:rPr lang="en-US" sz="1100" i="1" dirty="0" err="1">
                <a:solidFill>
                  <a:schemeClr val="dk1"/>
                </a:solidFill>
              </a:rPr>
              <a:t>période</a:t>
            </a:r>
            <a:r>
              <a:rPr lang="en-US" sz="1100" i="1" dirty="0">
                <a:solidFill>
                  <a:schemeClr val="dk1"/>
                </a:solidFill>
              </a:rPr>
              <a:t>.</a:t>
            </a:r>
            <a:endParaRPr sz="1100" i="1" dirty="0">
              <a:solidFill>
                <a:schemeClr val="dk1"/>
              </a:solidFill>
            </a:endParaRPr>
          </a:p>
          <a:p>
            <a:pPr marL="0" marR="148107" lvl="0" indent="0" algn="l" rtl="0">
              <a:lnSpc>
                <a:spcPct val="100000"/>
              </a:lnSpc>
              <a:spcBef>
                <a:spcPts val="1200"/>
              </a:spcBef>
              <a:spcAft>
                <a:spcPts val="0"/>
              </a:spcAft>
              <a:buNone/>
            </a:pPr>
            <a:endParaRPr sz="1100" i="1" dirty="0">
              <a:solidFill>
                <a:schemeClr val="dk1"/>
              </a:solidFill>
            </a:endParaRPr>
          </a:p>
          <a:p>
            <a:pPr marL="342900" marR="148107" lvl="0" indent="-241300" algn="l" rtl="0">
              <a:spcBef>
                <a:spcPts val="1200"/>
              </a:spcBef>
              <a:spcAft>
                <a:spcPts val="1200"/>
              </a:spcAft>
              <a:buClr>
                <a:schemeClr val="dk1"/>
              </a:buClr>
              <a:buSzPts val="1100"/>
              <a:buChar char="●"/>
            </a:pPr>
            <a:r>
              <a:rPr lang="en-US" sz="1100" b="1" dirty="0">
                <a:solidFill>
                  <a:schemeClr val="dk1"/>
                </a:solidFill>
              </a:rPr>
              <a:t>{{</a:t>
            </a:r>
            <a:r>
              <a:rPr lang="en-US" sz="1100" b="1" dirty="0" err="1">
                <a:solidFill>
                  <a:schemeClr val="dk1"/>
                </a:solidFill>
              </a:rPr>
              <a:t>nb</a:t>
            </a:r>
            <a:r>
              <a:rPr lang="en-US" sz="1100" b="1" dirty="0">
                <a:solidFill>
                  <a:schemeClr val="dk1"/>
                </a:solidFill>
              </a:rPr>
              <a:t>}} </a:t>
            </a:r>
            <a:r>
              <a:rPr lang="en-US" sz="1100" b="1" dirty="0" err="1">
                <a:solidFill>
                  <a:schemeClr val="dk1"/>
                </a:solidFill>
              </a:rPr>
              <a:t>logements</a:t>
            </a:r>
            <a:r>
              <a:rPr lang="en-US" sz="1100" b="1" dirty="0">
                <a:solidFill>
                  <a:schemeClr val="dk1"/>
                </a:solidFill>
              </a:rPr>
              <a:t> </a:t>
            </a:r>
            <a:r>
              <a:rPr lang="en-US" sz="1100" dirty="0" err="1">
                <a:solidFill>
                  <a:schemeClr val="dk1"/>
                </a:solidFill>
              </a:rPr>
              <a:t>à</a:t>
            </a:r>
            <a:r>
              <a:rPr lang="en-US" sz="1100" dirty="0">
                <a:solidFill>
                  <a:schemeClr val="dk1"/>
                </a:solidFill>
              </a:rPr>
              <a:t> mobiliser </a:t>
            </a:r>
            <a:r>
              <a:rPr lang="en-US" sz="1100" dirty="0" err="1">
                <a:solidFill>
                  <a:schemeClr val="dk1"/>
                </a:solidFill>
              </a:rPr>
              <a:t>à</a:t>
            </a:r>
            <a:r>
              <a:rPr lang="en-US" sz="1100" dirty="0">
                <a:solidFill>
                  <a:schemeClr val="dk1"/>
                </a:solidFill>
              </a:rPr>
              <a:t> </a:t>
            </a:r>
            <a:r>
              <a:rPr lang="en-US" sz="1100" dirty="0" err="1">
                <a:solidFill>
                  <a:schemeClr val="dk1"/>
                </a:solidFill>
              </a:rPr>
              <a:t>partir</a:t>
            </a:r>
            <a:r>
              <a:rPr lang="en-US" sz="1100" dirty="0">
                <a:solidFill>
                  <a:schemeClr val="dk1"/>
                </a:solidFill>
              </a:rPr>
              <a:t> du parc </a:t>
            </a:r>
            <a:r>
              <a:rPr lang="en-US" sz="1100" dirty="0" err="1">
                <a:solidFill>
                  <a:schemeClr val="dk1"/>
                </a:solidFill>
              </a:rPr>
              <a:t>existant</a:t>
            </a:r>
            <a:r>
              <a:rPr lang="en-US" sz="1100" dirty="0">
                <a:solidFill>
                  <a:schemeClr val="dk1"/>
                </a:solidFill>
              </a:rPr>
              <a:t>.</a:t>
            </a:r>
            <a:endParaRPr sz="1100" dirty="0"/>
          </a:p>
        </p:txBody>
      </p:sp>
      <p:sp>
        <p:nvSpPr>
          <p:cNvPr id="87" name="Google Shape;87;p14"/>
          <p:cNvSpPr txBox="1"/>
          <p:nvPr/>
        </p:nvSpPr>
        <p:spPr>
          <a:xfrm>
            <a:off x="2333825" y="946500"/>
            <a:ext cx="3170100" cy="523200"/>
          </a:xfrm>
          <a:prstGeom prst="rect">
            <a:avLst/>
          </a:prstGeom>
          <a:noFill/>
          <a:ln>
            <a:noFill/>
          </a:ln>
        </p:spPr>
        <p:txBody>
          <a:bodyPr spcFirstLastPara="1" wrap="square" lIns="45700" tIns="45700" rIns="45700" bIns="45700" anchor="t" anchorCtr="0">
            <a:spAutoFit/>
          </a:bodyPr>
          <a:lstStyle/>
          <a:p>
            <a:pPr marL="0" lvl="0" indent="0" algn="ctr" rtl="0">
              <a:spcBef>
                <a:spcPts val="0"/>
              </a:spcBef>
              <a:spcAft>
                <a:spcPts val="0"/>
              </a:spcAft>
              <a:buClr>
                <a:schemeClr val="dk2"/>
              </a:buClr>
              <a:buSzPts val="1200"/>
              <a:buFont typeface="Arial"/>
              <a:buNone/>
            </a:pPr>
            <a:r>
              <a:rPr lang="en-US" b="1">
                <a:solidFill>
                  <a:schemeClr val="dk2"/>
                </a:solidFill>
              </a:rPr>
              <a:t>Le besoin en logements supplémentaires</a:t>
            </a:r>
            <a:endParaRPr>
              <a:solidFill>
                <a:srgbClr val="060091"/>
              </a:solidFill>
            </a:endParaRPr>
          </a:p>
        </p:txBody>
      </p:sp>
      <p:sp>
        <p:nvSpPr>
          <p:cNvPr id="88" name="Google Shape;88;p14"/>
          <p:cNvSpPr txBox="1"/>
          <p:nvPr/>
        </p:nvSpPr>
        <p:spPr>
          <a:xfrm>
            <a:off x="5702150" y="1054200"/>
            <a:ext cx="3170100" cy="307800"/>
          </a:xfrm>
          <a:prstGeom prst="rect">
            <a:avLst/>
          </a:prstGeom>
          <a:noFill/>
          <a:ln>
            <a:noFill/>
          </a:ln>
        </p:spPr>
        <p:txBody>
          <a:bodyPr spcFirstLastPara="1" wrap="square" lIns="45700" tIns="45700" rIns="45700" bIns="45700" anchor="t" anchorCtr="0">
            <a:spAutoFit/>
          </a:bodyPr>
          <a:lstStyle/>
          <a:p>
            <a:pPr marL="0" lvl="0" indent="0" algn="ctr" rtl="0">
              <a:spcBef>
                <a:spcPts val="0"/>
              </a:spcBef>
              <a:spcAft>
                <a:spcPts val="0"/>
              </a:spcAft>
              <a:buClr>
                <a:schemeClr val="dk2"/>
              </a:buClr>
              <a:buSzPts val="1200"/>
              <a:buFont typeface="Arial"/>
              <a:buNone/>
            </a:pPr>
            <a:r>
              <a:rPr lang="en-US" b="1">
                <a:solidFill>
                  <a:schemeClr val="dk2"/>
                </a:solidFill>
              </a:rPr>
              <a:t>Pourquoi ces besoins ?</a:t>
            </a:r>
            <a:endParaRPr>
              <a:solidFill>
                <a:srgbClr val="060091"/>
              </a:solidFill>
            </a:endParaRPr>
          </a:p>
        </p:txBody>
      </p:sp>
      <p:sp>
        <p:nvSpPr>
          <p:cNvPr id="89" name="Google Shape;89;p14"/>
          <p:cNvSpPr/>
          <p:nvPr/>
        </p:nvSpPr>
        <p:spPr>
          <a:xfrm>
            <a:off x="5702150" y="1430013"/>
            <a:ext cx="3170100" cy="2738700"/>
          </a:xfrm>
          <a:prstGeom prst="rect">
            <a:avLst/>
          </a:prstGeom>
          <a:solidFill>
            <a:srgbClr val="CED1FF">
              <a:alpha val="27840"/>
            </a:srgbClr>
          </a:solidFill>
          <a:ln>
            <a:noFill/>
          </a:ln>
        </p:spPr>
        <p:txBody>
          <a:bodyPr spcFirstLastPara="1" wrap="square" lIns="45700" tIns="182875" rIns="45700" bIns="45700" anchor="ctr" anchorCtr="0">
            <a:noAutofit/>
          </a:bodyPr>
          <a:lstStyle/>
          <a:p>
            <a:pPr marL="342900" marR="148107" lvl="0" indent="-241300" algn="l" rtl="0">
              <a:lnSpc>
                <a:spcPct val="100000"/>
              </a:lnSpc>
              <a:spcBef>
                <a:spcPts val="1200"/>
              </a:spcBef>
              <a:spcAft>
                <a:spcPts val="0"/>
              </a:spcAft>
              <a:buClr>
                <a:schemeClr val="dk1"/>
              </a:buClr>
              <a:buSzPts val="1100"/>
              <a:buChar char="●"/>
            </a:pPr>
            <a:r>
              <a:rPr lang="en-US" sz="1100" b="1" i="1" dirty="0">
                <a:solidFill>
                  <a:schemeClr val="dk1"/>
                </a:solidFill>
              </a:rPr>
              <a:t>{{</a:t>
            </a:r>
            <a:r>
              <a:rPr lang="en-US" sz="1100" b="1" i="1" dirty="0" err="1">
                <a:solidFill>
                  <a:schemeClr val="dk1"/>
                </a:solidFill>
              </a:rPr>
              <a:t>percentMenages</a:t>
            </a:r>
            <a:r>
              <a:rPr lang="en-US" sz="1100" b="1" i="1" dirty="0">
                <a:solidFill>
                  <a:schemeClr val="dk1"/>
                </a:solidFill>
              </a:rPr>
              <a:t>}}%</a:t>
            </a:r>
            <a:r>
              <a:rPr lang="en-US" sz="1100" b="1" dirty="0">
                <a:solidFill>
                  <a:schemeClr val="dk1"/>
                </a:solidFill>
              </a:rPr>
              <a:t> </a:t>
            </a:r>
            <a:r>
              <a:rPr lang="en-US" sz="1100" b="1" dirty="0" err="1">
                <a:solidFill>
                  <a:schemeClr val="dk1"/>
                </a:solidFill>
              </a:rPr>
              <a:t>lié</a:t>
            </a:r>
            <a:r>
              <a:rPr lang="en-US" sz="1100" b="1" dirty="0">
                <a:solidFill>
                  <a:schemeClr val="dk1"/>
                </a:solidFill>
              </a:rPr>
              <a:t> </a:t>
            </a:r>
            <a:r>
              <a:rPr lang="en-US" sz="1100" b="1" dirty="0" err="1">
                <a:solidFill>
                  <a:schemeClr val="dk1"/>
                </a:solidFill>
              </a:rPr>
              <a:t>à</a:t>
            </a:r>
            <a:r>
              <a:rPr lang="en-US" sz="1100" b="1" dirty="0">
                <a:solidFill>
                  <a:schemeClr val="dk1"/>
                </a:solidFill>
              </a:rPr>
              <a:t> la </a:t>
            </a:r>
            <a:r>
              <a:rPr lang="en-US" sz="1100" b="1" dirty="0" err="1">
                <a:solidFill>
                  <a:schemeClr val="dk1"/>
                </a:solidFill>
              </a:rPr>
              <a:t>croissance</a:t>
            </a:r>
            <a:r>
              <a:rPr lang="en-US" sz="1100" b="1" dirty="0">
                <a:solidFill>
                  <a:schemeClr val="dk1"/>
                </a:solidFill>
              </a:rPr>
              <a:t> du </a:t>
            </a:r>
            <a:r>
              <a:rPr lang="en-US" sz="1100" b="1" dirty="0" err="1">
                <a:solidFill>
                  <a:schemeClr val="dk1"/>
                </a:solidFill>
              </a:rPr>
              <a:t>nombre</a:t>
            </a:r>
            <a:r>
              <a:rPr lang="en-US" sz="1100" b="1" dirty="0">
                <a:solidFill>
                  <a:schemeClr val="dk1"/>
                </a:solidFill>
              </a:rPr>
              <a:t> de ménages </a:t>
            </a:r>
            <a:r>
              <a:rPr lang="en-US" sz="1100" dirty="0">
                <a:solidFill>
                  <a:schemeClr val="dk1"/>
                </a:solidFill>
              </a:rPr>
              <a:t>(</a:t>
            </a:r>
            <a:r>
              <a:rPr lang="en-US" sz="1100" i="1" dirty="0">
                <a:solidFill>
                  <a:schemeClr val="dk1"/>
                </a:solidFill>
              </a:rPr>
              <a:t>{{</a:t>
            </a:r>
            <a:r>
              <a:rPr lang="en-US" sz="1100" i="1" dirty="0" err="1">
                <a:solidFill>
                  <a:schemeClr val="dk1"/>
                </a:solidFill>
              </a:rPr>
              <a:t>nbMenages</a:t>
            </a:r>
            <a:r>
              <a:rPr lang="en-US" sz="1100" i="1" dirty="0">
                <a:solidFill>
                  <a:schemeClr val="dk1"/>
                </a:solidFill>
              </a:rPr>
              <a:t>}} ménages </a:t>
            </a:r>
            <a:r>
              <a:rPr lang="en-US" sz="1100" dirty="0" err="1">
                <a:solidFill>
                  <a:schemeClr val="dk1"/>
                </a:solidFill>
              </a:rPr>
              <a:t>attendus</a:t>
            </a:r>
            <a:r>
              <a:rPr lang="en-US" sz="1100" dirty="0">
                <a:solidFill>
                  <a:schemeClr val="dk1"/>
                </a:solidFill>
              </a:rPr>
              <a:t>).</a:t>
            </a:r>
            <a:endParaRPr sz="1100" dirty="0">
              <a:solidFill>
                <a:schemeClr val="dk1"/>
              </a:solidFill>
            </a:endParaRPr>
          </a:p>
          <a:p>
            <a:pPr marL="0" marR="148107" lvl="0" indent="0" algn="l" rtl="0">
              <a:lnSpc>
                <a:spcPct val="100000"/>
              </a:lnSpc>
              <a:spcBef>
                <a:spcPts val="1200"/>
              </a:spcBef>
              <a:spcAft>
                <a:spcPts val="0"/>
              </a:spcAft>
              <a:buNone/>
            </a:pPr>
            <a:endParaRPr sz="1100" dirty="0">
              <a:solidFill>
                <a:schemeClr val="dk1"/>
              </a:solidFill>
            </a:endParaRPr>
          </a:p>
          <a:p>
            <a:pPr marL="342900" marR="148107" lvl="0" indent="-241300" algn="l" rtl="0">
              <a:spcBef>
                <a:spcPts val="1200"/>
              </a:spcBef>
              <a:spcAft>
                <a:spcPts val="0"/>
              </a:spcAft>
              <a:buClr>
                <a:schemeClr val="dk1"/>
              </a:buClr>
              <a:buSzPts val="1100"/>
              <a:buChar char="●"/>
            </a:pPr>
            <a:r>
              <a:rPr lang="en-US" sz="1100" b="1" i="1" dirty="0">
                <a:solidFill>
                  <a:schemeClr val="dk1"/>
                </a:solidFill>
              </a:rPr>
              <a:t>{{</a:t>
            </a:r>
            <a:r>
              <a:rPr lang="en-US" sz="1100" b="1" i="1" dirty="0" err="1">
                <a:solidFill>
                  <a:schemeClr val="dk1"/>
                </a:solidFill>
              </a:rPr>
              <a:t>percentBadHousing</a:t>
            </a:r>
            <a:r>
              <a:rPr lang="en-US" sz="1100" b="1" i="1" dirty="0">
                <a:solidFill>
                  <a:schemeClr val="dk1"/>
                </a:solidFill>
              </a:rPr>
              <a:t>}}%</a:t>
            </a:r>
            <a:r>
              <a:rPr lang="en-US" sz="1100" b="1" dirty="0">
                <a:solidFill>
                  <a:schemeClr val="dk1"/>
                </a:solidFill>
              </a:rPr>
              <a:t> </a:t>
            </a:r>
            <a:r>
              <a:rPr lang="en-US" sz="1100" b="1" dirty="0" err="1">
                <a:solidFill>
                  <a:schemeClr val="dk1"/>
                </a:solidFill>
              </a:rPr>
              <a:t>lié</a:t>
            </a:r>
            <a:r>
              <a:rPr lang="en-US" sz="1100" b="1" dirty="0">
                <a:solidFill>
                  <a:schemeClr val="dk1"/>
                </a:solidFill>
              </a:rPr>
              <a:t> au mal-</a:t>
            </a:r>
            <a:r>
              <a:rPr lang="en-US" sz="1100" b="1" dirty="0" err="1">
                <a:solidFill>
                  <a:schemeClr val="dk1"/>
                </a:solidFill>
              </a:rPr>
              <a:t>logement</a:t>
            </a:r>
            <a:r>
              <a:rPr lang="en-US" sz="1100" dirty="0">
                <a:solidFill>
                  <a:schemeClr val="dk1"/>
                </a:solidFill>
              </a:rPr>
              <a:t> : </a:t>
            </a:r>
            <a:r>
              <a:rPr lang="en-US" sz="1100" dirty="0" err="1">
                <a:solidFill>
                  <a:schemeClr val="dk1"/>
                </a:solidFill>
              </a:rPr>
              <a:t>résorption</a:t>
            </a:r>
            <a:r>
              <a:rPr lang="en-US" sz="1100" dirty="0">
                <a:solidFill>
                  <a:schemeClr val="dk1"/>
                </a:solidFill>
              </a:rPr>
              <a:t> de </a:t>
            </a:r>
            <a:r>
              <a:rPr lang="en-US" sz="1100" i="1" dirty="0">
                <a:solidFill>
                  <a:schemeClr val="dk1"/>
                </a:solidFill>
              </a:rPr>
              <a:t>{{</a:t>
            </a:r>
            <a:r>
              <a:rPr lang="en-US" sz="1100" i="1" dirty="0" err="1">
                <a:solidFill>
                  <a:schemeClr val="dk1"/>
                </a:solidFill>
              </a:rPr>
              <a:t>nbResorption</a:t>
            </a:r>
            <a:r>
              <a:rPr lang="en-US" sz="1100" i="1" dirty="0">
                <a:solidFill>
                  <a:schemeClr val="dk1"/>
                </a:solidFill>
              </a:rPr>
              <a:t>}} situations de mal-</a:t>
            </a:r>
            <a:r>
              <a:rPr lang="en-US" sz="1100" i="1" dirty="0" err="1">
                <a:solidFill>
                  <a:schemeClr val="dk1"/>
                </a:solidFill>
              </a:rPr>
              <a:t>logement</a:t>
            </a:r>
            <a:r>
              <a:rPr lang="en-US" sz="1100" dirty="0">
                <a:solidFill>
                  <a:schemeClr val="dk1"/>
                </a:solidFill>
              </a:rPr>
              <a:t> </a:t>
            </a:r>
            <a:r>
              <a:rPr lang="en-US" sz="1100" dirty="0" err="1">
                <a:solidFill>
                  <a:schemeClr val="dk1"/>
                </a:solidFill>
              </a:rPr>
              <a:t>d’ici</a:t>
            </a:r>
            <a:r>
              <a:rPr lang="en-US" sz="1100" dirty="0">
                <a:solidFill>
                  <a:schemeClr val="dk1"/>
                </a:solidFill>
              </a:rPr>
              <a:t> {{</a:t>
            </a:r>
            <a:r>
              <a:rPr lang="en-US" sz="1100" dirty="0" err="1">
                <a:solidFill>
                  <a:schemeClr val="dk1"/>
                </a:solidFill>
              </a:rPr>
              <a:t>peakYear</a:t>
            </a:r>
            <a:r>
              <a:rPr lang="en-US" sz="1100" dirty="0">
                <a:solidFill>
                  <a:schemeClr val="dk1"/>
                </a:solidFill>
              </a:rPr>
              <a:t>}}</a:t>
            </a:r>
            <a:r>
              <a:rPr lang="en-US" sz="1100" i="1" dirty="0">
                <a:solidFill>
                  <a:schemeClr val="dk1"/>
                </a:solidFill>
              </a:rPr>
              <a:t>.</a:t>
            </a:r>
            <a:endParaRPr sz="1100" i="1" dirty="0">
              <a:solidFill>
                <a:schemeClr val="dk1"/>
              </a:solidFill>
            </a:endParaRPr>
          </a:p>
          <a:p>
            <a:pPr marL="0" marR="148107" lvl="0" indent="0" algn="l" rtl="0">
              <a:spcBef>
                <a:spcPts val="1200"/>
              </a:spcBef>
              <a:spcAft>
                <a:spcPts val="0"/>
              </a:spcAft>
              <a:buNone/>
            </a:pPr>
            <a:endParaRPr sz="1100" i="1" dirty="0">
              <a:solidFill>
                <a:schemeClr val="dk1"/>
              </a:solidFill>
            </a:endParaRPr>
          </a:p>
          <a:p>
            <a:pPr marL="342900" marR="148107" lvl="0" indent="-241300" algn="l" rtl="0">
              <a:spcBef>
                <a:spcPts val="1200"/>
              </a:spcBef>
              <a:spcAft>
                <a:spcPts val="1200"/>
              </a:spcAft>
              <a:buClr>
                <a:schemeClr val="dk1"/>
              </a:buClr>
              <a:buSzPts val="1100"/>
              <a:buChar char="●"/>
            </a:pPr>
            <a:r>
              <a:rPr lang="en-US" sz="1100" b="1" i="1" dirty="0">
                <a:solidFill>
                  <a:schemeClr val="dk1"/>
                </a:solidFill>
              </a:rPr>
              <a:t>{{percent}Fluidity}}%</a:t>
            </a:r>
            <a:r>
              <a:rPr lang="en-US" sz="1100" b="1" dirty="0">
                <a:solidFill>
                  <a:schemeClr val="dk1"/>
                </a:solidFill>
              </a:rPr>
              <a:t> </a:t>
            </a:r>
            <a:r>
              <a:rPr lang="en-US" sz="1100" b="1" dirty="0" err="1">
                <a:solidFill>
                  <a:schemeClr val="dk1"/>
                </a:solidFill>
              </a:rPr>
              <a:t>lié</a:t>
            </a:r>
            <a:r>
              <a:rPr lang="en-US" sz="1100" b="1" dirty="0">
                <a:solidFill>
                  <a:schemeClr val="dk1"/>
                </a:solidFill>
              </a:rPr>
              <a:t> </a:t>
            </a:r>
            <a:r>
              <a:rPr lang="en-US" sz="1100" b="1" dirty="0" err="1">
                <a:solidFill>
                  <a:schemeClr val="dk1"/>
                </a:solidFill>
              </a:rPr>
              <a:t>à</a:t>
            </a:r>
            <a:r>
              <a:rPr lang="en-US" sz="1100" b="1" dirty="0">
                <a:solidFill>
                  <a:schemeClr val="dk1"/>
                </a:solidFill>
              </a:rPr>
              <a:t> la </a:t>
            </a:r>
            <a:r>
              <a:rPr lang="en-US" sz="1100" b="1" dirty="0" err="1">
                <a:solidFill>
                  <a:schemeClr val="dk1"/>
                </a:solidFill>
              </a:rPr>
              <a:t>fluidité</a:t>
            </a:r>
            <a:r>
              <a:rPr lang="en-US" sz="1100" dirty="0">
                <a:solidFill>
                  <a:schemeClr val="dk1"/>
                </a:solidFill>
              </a:rPr>
              <a:t> : </a:t>
            </a:r>
            <a:r>
              <a:rPr lang="en-US" sz="1100" dirty="0" err="1">
                <a:solidFill>
                  <a:schemeClr val="dk1"/>
                </a:solidFill>
              </a:rPr>
              <a:t>maintien</a:t>
            </a:r>
            <a:r>
              <a:rPr lang="en-US" sz="1100" dirty="0">
                <a:solidFill>
                  <a:schemeClr val="dk1"/>
                </a:solidFill>
              </a:rPr>
              <a:t> d'un </a:t>
            </a:r>
            <a:r>
              <a:rPr lang="en-US" sz="1100" dirty="0" err="1">
                <a:solidFill>
                  <a:schemeClr val="dk1"/>
                </a:solidFill>
              </a:rPr>
              <a:t>marché</a:t>
            </a:r>
            <a:r>
              <a:rPr lang="en-US" sz="1100" dirty="0">
                <a:solidFill>
                  <a:schemeClr val="dk1"/>
                </a:solidFill>
              </a:rPr>
              <a:t> </a:t>
            </a:r>
            <a:r>
              <a:rPr lang="en-US" sz="1100" dirty="0" err="1">
                <a:solidFill>
                  <a:schemeClr val="dk1"/>
                </a:solidFill>
              </a:rPr>
              <a:t>équilibré</a:t>
            </a:r>
            <a:r>
              <a:rPr lang="en-US" sz="1100" dirty="0">
                <a:solidFill>
                  <a:schemeClr val="dk1"/>
                </a:solidFill>
              </a:rPr>
              <a:t>.</a:t>
            </a:r>
            <a:endParaRPr sz="1100" dirty="0">
              <a:solidFill>
                <a:schemeClr val="dk1"/>
              </a:solidFill>
            </a:endParaRPr>
          </a:p>
        </p:txBody>
      </p:sp>
      <p:sp>
        <p:nvSpPr>
          <p:cNvPr id="90" name="Google Shape;90;p14"/>
          <p:cNvSpPr/>
          <p:nvPr/>
        </p:nvSpPr>
        <p:spPr>
          <a:xfrm>
            <a:off x="2600325" y="4236750"/>
            <a:ext cx="6267300" cy="725700"/>
          </a:xfrm>
          <a:prstGeom prst="rect">
            <a:avLst/>
          </a:prstGeom>
          <a:noFill/>
          <a:ln>
            <a:noFill/>
          </a:ln>
        </p:spPr>
        <p:txBody>
          <a:bodyPr spcFirstLastPara="1" wrap="square" lIns="26450" tIns="26450" rIns="26450" bIns="26450" anchor="ctr" anchorCtr="0">
            <a:noAutofit/>
          </a:bodyPr>
          <a:lstStyle/>
          <a:p>
            <a:pPr marL="0" lvl="0" indent="0" algn="l" rtl="0">
              <a:lnSpc>
                <a:spcPct val="100000"/>
              </a:lnSpc>
              <a:spcBef>
                <a:spcPts val="600"/>
              </a:spcBef>
              <a:spcAft>
                <a:spcPts val="0"/>
              </a:spcAft>
              <a:buClr>
                <a:schemeClr val="dk1"/>
              </a:buClr>
              <a:buSzPts val="1100"/>
              <a:buFont typeface="Arial"/>
              <a:buNone/>
            </a:pPr>
            <a:r>
              <a:rPr lang="en-US" sz="1200" b="1" dirty="0">
                <a:solidFill>
                  <a:schemeClr val="dk1"/>
                </a:solidFill>
              </a:rPr>
              <a:t>💡Le </a:t>
            </a:r>
            <a:r>
              <a:rPr lang="en-US" sz="1200" b="1" dirty="0" err="1">
                <a:solidFill>
                  <a:schemeClr val="dk1"/>
                </a:solidFill>
              </a:rPr>
              <a:t>scénario</a:t>
            </a:r>
            <a:r>
              <a:rPr lang="en-US" sz="1200" b="1" dirty="0">
                <a:solidFill>
                  <a:schemeClr val="dk1"/>
                </a:solidFill>
              </a:rPr>
              <a:t> </a:t>
            </a:r>
            <a:r>
              <a:rPr lang="en-US" sz="1200" b="1" dirty="0" err="1">
                <a:solidFill>
                  <a:schemeClr val="dk1"/>
                </a:solidFill>
              </a:rPr>
              <a:t>recommandé</a:t>
            </a:r>
            <a:r>
              <a:rPr lang="en-US" sz="1200" b="1" dirty="0">
                <a:solidFill>
                  <a:schemeClr val="dk1"/>
                </a:solidFill>
              </a:rPr>
              <a:t> : "🟣{{</a:t>
            </a:r>
            <a:r>
              <a:rPr lang="en-US" sz="1200" b="1" dirty="0" err="1">
                <a:solidFill>
                  <a:schemeClr val="dk1"/>
                </a:solidFill>
              </a:rPr>
              <a:t>privilegedScenario</a:t>
            </a:r>
            <a:r>
              <a:rPr lang="en-US" sz="1200" b="1" dirty="0">
                <a:solidFill>
                  <a:schemeClr val="dk1"/>
                </a:solidFill>
              </a:rPr>
              <a:t>}}"</a:t>
            </a:r>
            <a:endParaRPr sz="1200" b="1" dirty="0">
              <a:solidFill>
                <a:schemeClr val="dk1"/>
              </a:solidFill>
            </a:endParaRPr>
          </a:p>
          <a:p>
            <a:pPr marL="0" lvl="0" indent="0" algn="l" rtl="0">
              <a:lnSpc>
                <a:spcPct val="100000"/>
              </a:lnSpc>
              <a:spcBef>
                <a:spcPts val="600"/>
              </a:spcBef>
              <a:spcAft>
                <a:spcPts val="600"/>
              </a:spcAft>
              <a:buClr>
                <a:schemeClr val="dk1"/>
              </a:buClr>
              <a:buSzPts val="1100"/>
              <a:buFont typeface="Arial"/>
              <a:buNone/>
            </a:pPr>
            <a:r>
              <a:rPr lang="en-US" sz="1100" i="1" dirty="0">
                <a:solidFill>
                  <a:schemeClr val="dk1"/>
                </a:solidFill>
              </a:rPr>
              <a:t>jeu de </a:t>
            </a:r>
            <a:r>
              <a:rPr lang="en-US" sz="1100" i="1" dirty="0" err="1">
                <a:solidFill>
                  <a:schemeClr val="dk1"/>
                </a:solidFill>
              </a:rPr>
              <a:t>paramètres</a:t>
            </a:r>
            <a:r>
              <a:rPr lang="en-US" sz="1100" i="1" dirty="0">
                <a:solidFill>
                  <a:schemeClr val="dk1"/>
                </a:solidFill>
              </a:rPr>
              <a:t> </a:t>
            </a:r>
            <a:r>
              <a:rPr lang="en-US" sz="1100" i="1" dirty="0" err="1">
                <a:solidFill>
                  <a:schemeClr val="dk1"/>
                </a:solidFill>
              </a:rPr>
              <a:t>retenu</a:t>
            </a:r>
            <a:r>
              <a:rPr lang="en-US" sz="1100" i="1" dirty="0">
                <a:solidFill>
                  <a:schemeClr val="dk1"/>
                </a:solidFill>
              </a:rPr>
              <a:t> par {{</a:t>
            </a:r>
            <a:r>
              <a:rPr lang="en-US" sz="1100" i="1" dirty="0" err="1">
                <a:solidFill>
                  <a:schemeClr val="dk1"/>
                </a:solidFill>
              </a:rPr>
              <a:t>orgName</a:t>
            </a:r>
            <a:r>
              <a:rPr lang="en-US" sz="1100" i="1" dirty="0">
                <a:solidFill>
                  <a:schemeClr val="dk1"/>
                </a:solidFill>
              </a:rPr>
              <a:t>}}</a:t>
            </a:r>
            <a:endParaRPr sz="405" dirty="0">
              <a:solidFill>
                <a:srgbClr val="CED1FF"/>
              </a:solidFill>
              <a:latin typeface="Calibri"/>
              <a:ea typeface="Calibri"/>
              <a:cs typeface="Calibri"/>
              <a:sym typeface="Calibri"/>
            </a:endParaRPr>
          </a:p>
        </p:txBody>
      </p:sp>
      <p:sp>
        <p:nvSpPr>
          <p:cNvPr id="91" name="Google Shape;91;p14"/>
          <p:cNvSpPr txBox="1">
            <a:spLocks noGrp="1"/>
          </p:cNvSpPr>
          <p:nvPr>
            <p:ph type="body" idx="4294967295"/>
          </p:nvPr>
        </p:nvSpPr>
        <p:spPr>
          <a:xfrm>
            <a:off x="355025" y="484524"/>
            <a:ext cx="1535700" cy="346349"/>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sz="1100" i="1" dirty="0"/>
              <a:t>EPCI {{</a:t>
            </a:r>
            <a:r>
              <a:rPr lang="en-US" sz="1100" i="1" dirty="0" err="1"/>
              <a:t>layoutEpciName</a:t>
            </a:r>
            <a:r>
              <a:rPr lang="en-US" sz="1100" i="1" dirty="0"/>
              <a:t>}} / BH {{</a:t>
            </a:r>
            <a:r>
              <a:rPr lang="en-US" sz="1100" i="1" dirty="0" err="1"/>
              <a:t>layoutBassinName</a:t>
            </a:r>
            <a:r>
              <a:rPr lang="en-US" sz="1100" i="1" dirty="0"/>
              <a:t>}}</a:t>
            </a:r>
            <a:endParaRPr sz="1100" i="1" dirty="0"/>
          </a:p>
        </p:txBody>
      </p:sp>
      <p:sp>
        <p:nvSpPr>
          <p:cNvPr id="92" name="Google Shape;92;p14"/>
          <p:cNvSpPr txBox="1">
            <a:spLocks noGrp="1"/>
          </p:cNvSpPr>
          <p:nvPr>
            <p:ph type="body" idx="4294967295"/>
          </p:nvPr>
        </p:nvSpPr>
        <p:spPr>
          <a:xfrm>
            <a:off x="355025" y="1017925"/>
            <a:ext cx="1535700" cy="733054"/>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sz="1100" dirty="0"/>
              <a:t>Estimation sur la </a:t>
            </a:r>
            <a:r>
              <a:rPr lang="en-US" sz="1100" dirty="0" err="1"/>
              <a:t>période</a:t>
            </a:r>
            <a:r>
              <a:rPr lang="en-US" sz="1100" dirty="0"/>
              <a:t> {{</a:t>
            </a:r>
            <a:r>
              <a:rPr lang="en-US" sz="1100" dirty="0" err="1"/>
              <a:t>layoutStart</a:t>
            </a:r>
            <a:r>
              <a:rPr lang="en-US" sz="1100" dirty="0"/>
              <a:t>}} – {{</a:t>
            </a:r>
            <a:r>
              <a:rPr lang="en-US" sz="1100" dirty="0" err="1"/>
              <a:t>layoutEnd</a:t>
            </a:r>
            <a:r>
              <a:rPr lang="en-US" sz="1100" dirty="0"/>
              <a:t>}} pour le {{</a:t>
            </a:r>
            <a:r>
              <a:rPr lang="en-US" sz="1100" dirty="0" err="1"/>
              <a:t>layoutDocumentType</a:t>
            </a:r>
            <a:r>
              <a:rPr lang="en-US" sz="1100" dirty="0"/>
              <a:t>}}</a:t>
            </a:r>
            <a:endParaRPr sz="1100" i="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5"/>
          <p:cNvSpPr txBox="1">
            <a:spLocks noGrp="1"/>
          </p:cNvSpPr>
          <p:nvPr>
            <p:ph type="body" idx="1"/>
          </p:nvPr>
        </p:nvSpPr>
        <p:spPr>
          <a:xfrm>
            <a:off x="2709800" y="2344050"/>
            <a:ext cx="5277600" cy="4554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US"/>
              <a:t>1. Méthodologie : l’outil Otelo</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6"/>
          <p:cNvSpPr txBox="1"/>
          <p:nvPr/>
        </p:nvSpPr>
        <p:spPr>
          <a:xfrm>
            <a:off x="2370696" y="369175"/>
            <a:ext cx="6230100" cy="461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L’outil Otelo pour [territoire]</a:t>
            </a:r>
            <a:endParaRPr sz="2400" b="1">
              <a:solidFill>
                <a:srgbClr val="262626"/>
              </a:solidFill>
            </a:endParaRPr>
          </a:p>
        </p:txBody>
      </p:sp>
      <p:sp>
        <p:nvSpPr>
          <p:cNvPr id="103" name="Google Shape;103;p16"/>
          <p:cNvSpPr/>
          <p:nvPr/>
        </p:nvSpPr>
        <p:spPr>
          <a:xfrm>
            <a:off x="2076525" y="2134450"/>
            <a:ext cx="6712500" cy="2828100"/>
          </a:xfrm>
          <a:prstGeom prst="rect">
            <a:avLst/>
          </a:prstGeom>
          <a:solidFill>
            <a:srgbClr val="696AF5"/>
          </a:solidFill>
          <a:ln>
            <a:noFill/>
          </a:ln>
        </p:spPr>
        <p:txBody>
          <a:bodyPr spcFirstLastPara="1" wrap="square" lIns="79675" tIns="79675" rIns="79675" bIns="79675" anchor="ctr" anchorCtr="0">
            <a:noAutofit/>
          </a:bodyPr>
          <a:lstStyle/>
          <a:p>
            <a:pPr marL="0" marR="0" lvl="0" indent="0" algn="l" rtl="0">
              <a:lnSpc>
                <a:spcPct val="100000"/>
              </a:lnSpc>
              <a:spcBef>
                <a:spcPts val="0"/>
              </a:spcBef>
              <a:spcAft>
                <a:spcPts val="0"/>
              </a:spcAft>
              <a:buClr>
                <a:srgbClr val="000000"/>
              </a:buClr>
              <a:buSzPts val="1220"/>
              <a:buFont typeface="Arial"/>
              <a:buNone/>
            </a:pPr>
            <a:endParaRPr sz="1220" b="0" i="0" u="none" strike="noStrike" cap="none">
              <a:solidFill>
                <a:srgbClr val="000000"/>
              </a:solidFill>
              <a:latin typeface="Arial"/>
              <a:ea typeface="Arial"/>
              <a:cs typeface="Arial"/>
              <a:sym typeface="Arial"/>
            </a:endParaRPr>
          </a:p>
        </p:txBody>
      </p:sp>
      <p:grpSp>
        <p:nvGrpSpPr>
          <p:cNvPr id="104" name="Google Shape;104;p16"/>
          <p:cNvGrpSpPr/>
          <p:nvPr/>
        </p:nvGrpSpPr>
        <p:grpSpPr>
          <a:xfrm>
            <a:off x="2991715" y="1799407"/>
            <a:ext cx="475363" cy="475176"/>
            <a:chOff x="3912667" y="4991665"/>
            <a:chExt cx="1869300" cy="1869300"/>
          </a:xfrm>
        </p:grpSpPr>
        <p:sp>
          <p:nvSpPr>
            <p:cNvPr id="105" name="Google Shape;105;p16"/>
            <p:cNvSpPr/>
            <p:nvPr/>
          </p:nvSpPr>
          <p:spPr>
            <a:xfrm>
              <a:off x="3912667" y="4991665"/>
              <a:ext cx="1869300" cy="1869300"/>
            </a:xfrm>
            <a:prstGeom prst="ellipse">
              <a:avLst/>
            </a:prstGeom>
            <a:solidFill>
              <a:srgbClr val="FFFFFF"/>
            </a:solidFill>
            <a:ln>
              <a:noFill/>
            </a:ln>
            <a:effectLst>
              <a:outerShdw blurRad="87160" dist="16602" dir="5400000" algn="bl" rotWithShape="0">
                <a:srgbClr val="000000">
                  <a:alpha val="20780"/>
                </a:srgbClr>
              </a:outerShdw>
            </a:effectLst>
          </p:spPr>
          <p:txBody>
            <a:bodyPr spcFirstLastPara="1" wrap="square" lIns="79675" tIns="39825" rIns="79675" bIns="39825" anchor="ctr" anchorCtr="0">
              <a:noAutofit/>
            </a:bodyPr>
            <a:lstStyle/>
            <a:p>
              <a:pPr marL="0" marR="0" lvl="0" indent="0" algn="ctr" rtl="0">
                <a:lnSpc>
                  <a:spcPct val="100000"/>
                </a:lnSpc>
                <a:spcBef>
                  <a:spcPts val="0"/>
                </a:spcBef>
                <a:spcAft>
                  <a:spcPts val="0"/>
                </a:spcAft>
                <a:buClr>
                  <a:srgbClr val="000000"/>
                </a:buClr>
                <a:buSzPts val="4183"/>
                <a:buFont typeface="Arial"/>
                <a:buNone/>
              </a:pPr>
              <a:endParaRPr sz="4183" b="0" i="0" u="none" strike="noStrike" cap="none">
                <a:solidFill>
                  <a:srgbClr val="FFFFFF"/>
                </a:solidFill>
                <a:latin typeface="Calibri"/>
                <a:ea typeface="Calibri"/>
                <a:cs typeface="Calibri"/>
                <a:sym typeface="Calibri"/>
              </a:endParaRPr>
            </a:p>
          </p:txBody>
        </p:sp>
        <p:sp>
          <p:nvSpPr>
            <p:cNvPr id="106" name="Google Shape;106;p16"/>
            <p:cNvSpPr/>
            <p:nvPr/>
          </p:nvSpPr>
          <p:spPr>
            <a:xfrm>
              <a:off x="4483180" y="5717448"/>
              <a:ext cx="728132" cy="440266"/>
            </a:xfrm>
            <a:custGeom>
              <a:avLst/>
              <a:gdLst/>
              <a:ahLst/>
              <a:cxnLst/>
              <a:rect l="l" t="t" r="r" b="b"/>
              <a:pathLst>
                <a:path w="728132" h="440266" extrusionOk="0">
                  <a:moveTo>
                    <a:pt x="0" y="152400"/>
                  </a:moveTo>
                  <a:lnTo>
                    <a:pt x="287866" y="440266"/>
                  </a:lnTo>
                  <a:lnTo>
                    <a:pt x="728132" y="0"/>
                  </a:lnTo>
                </a:path>
              </a:pathLst>
            </a:custGeom>
            <a:solidFill>
              <a:srgbClr val="FFFFFF"/>
            </a:solidFill>
            <a:ln w="24900" cap="rnd" cmpd="sng">
              <a:solidFill>
                <a:srgbClr val="000000"/>
              </a:solidFill>
              <a:prstDash val="solid"/>
              <a:round/>
              <a:headEnd type="none" w="sm" len="sm"/>
              <a:tailEnd type="none" w="sm" len="sm"/>
            </a:ln>
          </p:spPr>
          <p:txBody>
            <a:bodyPr spcFirstLastPara="1" wrap="square" lIns="79675" tIns="39825" rIns="79675" bIns="39825" anchor="ctr" anchorCtr="0">
              <a:noAutofit/>
            </a:bodyPr>
            <a:lstStyle/>
            <a:p>
              <a:pPr marL="0" marR="0" lvl="0" indent="0" algn="ctr" rtl="0">
                <a:lnSpc>
                  <a:spcPct val="100000"/>
                </a:lnSpc>
                <a:spcBef>
                  <a:spcPts val="0"/>
                </a:spcBef>
                <a:spcAft>
                  <a:spcPts val="0"/>
                </a:spcAft>
                <a:buClr>
                  <a:srgbClr val="000000"/>
                </a:buClr>
                <a:buSzPts val="4183"/>
                <a:buFont typeface="Arial"/>
                <a:buNone/>
              </a:pPr>
              <a:endParaRPr sz="4183" b="0" i="0" u="none" strike="noStrike" cap="none">
                <a:solidFill>
                  <a:srgbClr val="FFFFFF"/>
                </a:solidFill>
                <a:latin typeface="Calibri"/>
                <a:ea typeface="Calibri"/>
                <a:cs typeface="Calibri"/>
                <a:sym typeface="Calibri"/>
              </a:endParaRPr>
            </a:p>
          </p:txBody>
        </p:sp>
      </p:grpSp>
      <p:grpSp>
        <p:nvGrpSpPr>
          <p:cNvPr id="107" name="Google Shape;107;p16"/>
          <p:cNvGrpSpPr/>
          <p:nvPr/>
        </p:nvGrpSpPr>
        <p:grpSpPr>
          <a:xfrm>
            <a:off x="5248063" y="1799407"/>
            <a:ext cx="475363" cy="475176"/>
            <a:chOff x="3912667" y="4991665"/>
            <a:chExt cx="1869300" cy="1869300"/>
          </a:xfrm>
        </p:grpSpPr>
        <p:sp>
          <p:nvSpPr>
            <p:cNvPr id="108" name="Google Shape;108;p16"/>
            <p:cNvSpPr/>
            <p:nvPr/>
          </p:nvSpPr>
          <p:spPr>
            <a:xfrm>
              <a:off x="3912667" y="4991665"/>
              <a:ext cx="1869300" cy="1869300"/>
            </a:xfrm>
            <a:prstGeom prst="ellipse">
              <a:avLst/>
            </a:prstGeom>
            <a:solidFill>
              <a:srgbClr val="FFFFFF"/>
            </a:solidFill>
            <a:ln>
              <a:noFill/>
            </a:ln>
            <a:effectLst>
              <a:outerShdw blurRad="87160" dist="16602" dir="5400000" algn="bl" rotWithShape="0">
                <a:srgbClr val="000000">
                  <a:alpha val="20780"/>
                </a:srgbClr>
              </a:outerShdw>
            </a:effectLst>
          </p:spPr>
          <p:txBody>
            <a:bodyPr spcFirstLastPara="1" wrap="square" lIns="79675" tIns="39825" rIns="79675" bIns="39825" anchor="ctr" anchorCtr="0">
              <a:noAutofit/>
            </a:bodyPr>
            <a:lstStyle/>
            <a:p>
              <a:pPr marL="0" marR="0" lvl="0" indent="0" algn="ctr" rtl="0">
                <a:lnSpc>
                  <a:spcPct val="100000"/>
                </a:lnSpc>
                <a:spcBef>
                  <a:spcPts val="0"/>
                </a:spcBef>
                <a:spcAft>
                  <a:spcPts val="0"/>
                </a:spcAft>
                <a:buClr>
                  <a:srgbClr val="000000"/>
                </a:buClr>
                <a:buSzPts val="4183"/>
                <a:buFont typeface="Arial"/>
                <a:buNone/>
              </a:pPr>
              <a:endParaRPr sz="4183" b="0" i="0" u="none" strike="noStrike" cap="none">
                <a:solidFill>
                  <a:srgbClr val="FFFFFF"/>
                </a:solidFill>
                <a:latin typeface="Calibri"/>
                <a:ea typeface="Calibri"/>
                <a:cs typeface="Calibri"/>
                <a:sym typeface="Calibri"/>
              </a:endParaRPr>
            </a:p>
          </p:txBody>
        </p:sp>
        <p:sp>
          <p:nvSpPr>
            <p:cNvPr id="109" name="Google Shape;109;p16"/>
            <p:cNvSpPr/>
            <p:nvPr/>
          </p:nvSpPr>
          <p:spPr>
            <a:xfrm>
              <a:off x="4483180" y="5717448"/>
              <a:ext cx="728132" cy="440266"/>
            </a:xfrm>
            <a:custGeom>
              <a:avLst/>
              <a:gdLst/>
              <a:ahLst/>
              <a:cxnLst/>
              <a:rect l="l" t="t" r="r" b="b"/>
              <a:pathLst>
                <a:path w="728132" h="440266" extrusionOk="0">
                  <a:moveTo>
                    <a:pt x="0" y="152400"/>
                  </a:moveTo>
                  <a:lnTo>
                    <a:pt x="287866" y="440266"/>
                  </a:lnTo>
                  <a:lnTo>
                    <a:pt x="728132" y="0"/>
                  </a:lnTo>
                </a:path>
              </a:pathLst>
            </a:custGeom>
            <a:solidFill>
              <a:srgbClr val="FFFFFF"/>
            </a:solidFill>
            <a:ln w="24900" cap="rnd" cmpd="sng">
              <a:solidFill>
                <a:srgbClr val="000000"/>
              </a:solidFill>
              <a:prstDash val="solid"/>
              <a:round/>
              <a:headEnd type="none" w="sm" len="sm"/>
              <a:tailEnd type="none" w="sm" len="sm"/>
            </a:ln>
          </p:spPr>
          <p:txBody>
            <a:bodyPr spcFirstLastPara="1" wrap="square" lIns="79675" tIns="39825" rIns="79675" bIns="39825" anchor="ctr" anchorCtr="0">
              <a:noAutofit/>
            </a:bodyPr>
            <a:lstStyle/>
            <a:p>
              <a:pPr marL="0" marR="0" lvl="0" indent="0" algn="ctr" rtl="0">
                <a:lnSpc>
                  <a:spcPct val="100000"/>
                </a:lnSpc>
                <a:spcBef>
                  <a:spcPts val="0"/>
                </a:spcBef>
                <a:spcAft>
                  <a:spcPts val="0"/>
                </a:spcAft>
                <a:buClr>
                  <a:srgbClr val="000000"/>
                </a:buClr>
                <a:buSzPts val="4183"/>
                <a:buFont typeface="Arial"/>
                <a:buNone/>
              </a:pPr>
              <a:endParaRPr sz="4183" b="0" i="0" u="none" strike="noStrike" cap="none">
                <a:solidFill>
                  <a:srgbClr val="FFFFFF"/>
                </a:solidFill>
                <a:latin typeface="Calibri"/>
                <a:ea typeface="Calibri"/>
                <a:cs typeface="Calibri"/>
                <a:sym typeface="Calibri"/>
              </a:endParaRPr>
            </a:p>
          </p:txBody>
        </p:sp>
      </p:grpSp>
      <p:grpSp>
        <p:nvGrpSpPr>
          <p:cNvPr id="110" name="Google Shape;110;p16"/>
          <p:cNvGrpSpPr/>
          <p:nvPr/>
        </p:nvGrpSpPr>
        <p:grpSpPr>
          <a:xfrm>
            <a:off x="7504411" y="1799407"/>
            <a:ext cx="475363" cy="475176"/>
            <a:chOff x="3912667" y="4991665"/>
            <a:chExt cx="1869300" cy="1869300"/>
          </a:xfrm>
        </p:grpSpPr>
        <p:sp>
          <p:nvSpPr>
            <p:cNvPr id="111" name="Google Shape;111;p16"/>
            <p:cNvSpPr/>
            <p:nvPr/>
          </p:nvSpPr>
          <p:spPr>
            <a:xfrm>
              <a:off x="3912667" y="4991665"/>
              <a:ext cx="1869300" cy="1869300"/>
            </a:xfrm>
            <a:prstGeom prst="ellipse">
              <a:avLst/>
            </a:prstGeom>
            <a:solidFill>
              <a:srgbClr val="FFFFFF"/>
            </a:solidFill>
            <a:ln>
              <a:noFill/>
            </a:ln>
            <a:effectLst>
              <a:outerShdw blurRad="87160" dist="16602" dir="5400000" algn="bl" rotWithShape="0">
                <a:srgbClr val="000000">
                  <a:alpha val="20780"/>
                </a:srgbClr>
              </a:outerShdw>
            </a:effectLst>
          </p:spPr>
          <p:txBody>
            <a:bodyPr spcFirstLastPara="1" wrap="square" lIns="79675" tIns="39825" rIns="79675" bIns="39825" anchor="ctr" anchorCtr="0">
              <a:noAutofit/>
            </a:bodyPr>
            <a:lstStyle/>
            <a:p>
              <a:pPr marL="0" marR="0" lvl="0" indent="0" algn="ctr" rtl="0">
                <a:lnSpc>
                  <a:spcPct val="100000"/>
                </a:lnSpc>
                <a:spcBef>
                  <a:spcPts val="0"/>
                </a:spcBef>
                <a:spcAft>
                  <a:spcPts val="0"/>
                </a:spcAft>
                <a:buClr>
                  <a:srgbClr val="000000"/>
                </a:buClr>
                <a:buSzPts val="4183"/>
                <a:buFont typeface="Arial"/>
                <a:buNone/>
              </a:pPr>
              <a:endParaRPr sz="4183" b="0" i="0" u="none" strike="noStrike" cap="none">
                <a:solidFill>
                  <a:srgbClr val="FFFFFF"/>
                </a:solidFill>
                <a:latin typeface="Calibri"/>
                <a:ea typeface="Calibri"/>
                <a:cs typeface="Calibri"/>
                <a:sym typeface="Calibri"/>
              </a:endParaRPr>
            </a:p>
          </p:txBody>
        </p:sp>
        <p:sp>
          <p:nvSpPr>
            <p:cNvPr id="112" name="Google Shape;112;p16"/>
            <p:cNvSpPr/>
            <p:nvPr/>
          </p:nvSpPr>
          <p:spPr>
            <a:xfrm>
              <a:off x="4483180" y="5717448"/>
              <a:ext cx="728132" cy="440266"/>
            </a:xfrm>
            <a:custGeom>
              <a:avLst/>
              <a:gdLst/>
              <a:ahLst/>
              <a:cxnLst/>
              <a:rect l="l" t="t" r="r" b="b"/>
              <a:pathLst>
                <a:path w="728132" h="440266" extrusionOk="0">
                  <a:moveTo>
                    <a:pt x="0" y="152400"/>
                  </a:moveTo>
                  <a:lnTo>
                    <a:pt x="287866" y="440266"/>
                  </a:lnTo>
                  <a:lnTo>
                    <a:pt x="728132" y="0"/>
                  </a:lnTo>
                </a:path>
              </a:pathLst>
            </a:custGeom>
            <a:solidFill>
              <a:srgbClr val="FFFFFF"/>
            </a:solidFill>
            <a:ln w="24900" cap="rnd" cmpd="sng">
              <a:solidFill>
                <a:srgbClr val="000000"/>
              </a:solidFill>
              <a:prstDash val="solid"/>
              <a:round/>
              <a:headEnd type="none" w="sm" len="sm"/>
              <a:tailEnd type="none" w="sm" len="sm"/>
            </a:ln>
          </p:spPr>
          <p:txBody>
            <a:bodyPr spcFirstLastPara="1" wrap="square" lIns="79675" tIns="39825" rIns="79675" bIns="39825" anchor="ctr" anchorCtr="0">
              <a:noAutofit/>
            </a:bodyPr>
            <a:lstStyle/>
            <a:p>
              <a:pPr marL="0" marR="0" lvl="0" indent="0" algn="ctr" rtl="0">
                <a:lnSpc>
                  <a:spcPct val="100000"/>
                </a:lnSpc>
                <a:spcBef>
                  <a:spcPts val="0"/>
                </a:spcBef>
                <a:spcAft>
                  <a:spcPts val="0"/>
                </a:spcAft>
                <a:buClr>
                  <a:srgbClr val="000000"/>
                </a:buClr>
                <a:buSzPts val="4183"/>
                <a:buFont typeface="Arial"/>
                <a:buNone/>
              </a:pPr>
              <a:endParaRPr sz="4183" b="0" i="0" u="none" strike="noStrike" cap="none">
                <a:solidFill>
                  <a:srgbClr val="FFFFFF"/>
                </a:solidFill>
                <a:latin typeface="Calibri"/>
                <a:ea typeface="Calibri"/>
                <a:cs typeface="Calibri"/>
                <a:sym typeface="Calibri"/>
              </a:endParaRPr>
            </a:p>
          </p:txBody>
        </p:sp>
      </p:grpSp>
      <p:sp>
        <p:nvSpPr>
          <p:cNvPr id="113" name="Google Shape;113;p16"/>
          <p:cNvSpPr txBox="1"/>
          <p:nvPr/>
        </p:nvSpPr>
        <p:spPr>
          <a:xfrm>
            <a:off x="4491500" y="2364275"/>
            <a:ext cx="1882500" cy="2598300"/>
          </a:xfrm>
          <a:prstGeom prst="rect">
            <a:avLst/>
          </a:prstGeom>
          <a:noFill/>
          <a:ln>
            <a:noFill/>
          </a:ln>
        </p:spPr>
        <p:txBody>
          <a:bodyPr spcFirstLastPara="1" wrap="square" lIns="79675" tIns="79675" rIns="79675" bIns="79675" anchor="t" anchorCtr="0">
            <a:noAutofit/>
          </a:bodyPr>
          <a:lstStyle/>
          <a:p>
            <a:pPr marL="0" lvl="0" indent="0" algn="ctr" rtl="0">
              <a:spcBef>
                <a:spcPts val="523"/>
              </a:spcBef>
              <a:spcAft>
                <a:spcPts val="0"/>
              </a:spcAft>
              <a:buNone/>
            </a:pPr>
            <a:r>
              <a:rPr lang="en-US" sz="1220" b="1" u="sng">
                <a:solidFill>
                  <a:schemeClr val="lt1"/>
                </a:solidFill>
              </a:rPr>
              <a:t>Vos paramètres </a:t>
            </a:r>
            <a:endParaRPr sz="1220" b="1" u="sng">
              <a:solidFill>
                <a:schemeClr val="lt1"/>
              </a:solidFill>
            </a:endParaRPr>
          </a:p>
          <a:p>
            <a:pPr marL="0" lvl="0" indent="0" algn="ctr" rtl="0">
              <a:spcBef>
                <a:spcPts val="523"/>
              </a:spcBef>
              <a:spcAft>
                <a:spcPts val="0"/>
              </a:spcAft>
              <a:buNone/>
            </a:pPr>
            <a:endParaRPr sz="820" b="1">
              <a:solidFill>
                <a:schemeClr val="lt1"/>
              </a:solidFill>
            </a:endParaRPr>
          </a:p>
          <a:p>
            <a:pPr marL="78433" lvl="0" indent="-138209" algn="l" rtl="0">
              <a:spcBef>
                <a:spcPts val="523"/>
              </a:spcBef>
              <a:spcAft>
                <a:spcPts val="0"/>
              </a:spcAft>
              <a:buClr>
                <a:schemeClr val="lt1"/>
              </a:buClr>
              <a:buSzPts val="1000"/>
              <a:buChar char="➔"/>
            </a:pPr>
            <a:r>
              <a:rPr lang="en-US" sz="1000">
                <a:solidFill>
                  <a:schemeClr val="lt1"/>
                </a:solidFill>
              </a:rPr>
              <a:t>Évolution en nombre d’habitants et de ménages</a:t>
            </a:r>
            <a:endParaRPr sz="1000" i="1">
              <a:solidFill>
                <a:schemeClr val="lt1"/>
              </a:solidFill>
            </a:endParaRPr>
          </a:p>
          <a:p>
            <a:pPr marL="78433" lvl="0" indent="-138209" algn="l" rtl="0">
              <a:spcBef>
                <a:spcPts val="523"/>
              </a:spcBef>
              <a:spcAft>
                <a:spcPts val="0"/>
              </a:spcAft>
              <a:buClr>
                <a:schemeClr val="lt1"/>
              </a:buClr>
              <a:buSzPts val="1000"/>
              <a:buChar char="➔"/>
            </a:pPr>
            <a:r>
              <a:rPr lang="en-US" sz="1000">
                <a:solidFill>
                  <a:schemeClr val="lt1"/>
                </a:solidFill>
              </a:rPr>
              <a:t>Un objectif de réduction de la part des logements vacants de plus de 2 ans.</a:t>
            </a:r>
            <a:endParaRPr sz="1000">
              <a:solidFill>
                <a:schemeClr val="lt1"/>
              </a:solidFill>
            </a:endParaRPr>
          </a:p>
          <a:p>
            <a:pPr marL="78433" lvl="0" indent="-138209" algn="l" rtl="0">
              <a:spcBef>
                <a:spcPts val="523"/>
              </a:spcBef>
              <a:spcAft>
                <a:spcPts val="0"/>
              </a:spcAft>
              <a:buClr>
                <a:schemeClr val="lt1"/>
              </a:buClr>
              <a:buSzPts val="1000"/>
              <a:buChar char="➔"/>
            </a:pPr>
            <a:r>
              <a:rPr lang="en-US" sz="1000">
                <a:solidFill>
                  <a:schemeClr val="lt1"/>
                </a:solidFill>
              </a:rPr>
              <a:t>Un objectif de taux de résidences secondaires.</a:t>
            </a:r>
            <a:endParaRPr sz="1000" i="1">
              <a:solidFill>
                <a:schemeClr val="lt1"/>
              </a:solidFill>
            </a:endParaRPr>
          </a:p>
          <a:p>
            <a:pPr marL="78433" lvl="0" indent="-138209" algn="l" rtl="0">
              <a:spcBef>
                <a:spcPts val="523"/>
              </a:spcBef>
              <a:spcAft>
                <a:spcPts val="523"/>
              </a:spcAft>
              <a:buClr>
                <a:schemeClr val="lt1"/>
              </a:buClr>
              <a:buSzPts val="1000"/>
              <a:buChar char="➔"/>
            </a:pPr>
            <a:r>
              <a:rPr lang="en-US" sz="1000">
                <a:solidFill>
                  <a:schemeClr val="lt1"/>
                </a:solidFill>
              </a:rPr>
              <a:t>Résorption du mal-logement.</a:t>
            </a:r>
            <a:endParaRPr sz="1220" b="1" i="1">
              <a:solidFill>
                <a:srgbClr val="FFFFFF"/>
              </a:solidFill>
            </a:endParaRPr>
          </a:p>
        </p:txBody>
      </p:sp>
      <p:cxnSp>
        <p:nvCxnSpPr>
          <p:cNvPr id="114" name="Google Shape;114;p16"/>
          <p:cNvCxnSpPr/>
          <p:nvPr/>
        </p:nvCxnSpPr>
        <p:spPr>
          <a:xfrm>
            <a:off x="4306025" y="2474226"/>
            <a:ext cx="0" cy="2307000"/>
          </a:xfrm>
          <a:prstGeom prst="straightConnector1">
            <a:avLst/>
          </a:prstGeom>
          <a:noFill/>
          <a:ln w="8300" cap="flat" cmpd="sng">
            <a:solidFill>
              <a:srgbClr val="FFFFFF"/>
            </a:solidFill>
            <a:prstDash val="solid"/>
            <a:round/>
            <a:headEnd type="none" w="sm" len="sm"/>
            <a:tailEnd type="none" w="sm" len="sm"/>
          </a:ln>
        </p:spPr>
      </p:cxnSp>
      <p:sp>
        <p:nvSpPr>
          <p:cNvPr id="115" name="Google Shape;115;p16"/>
          <p:cNvSpPr txBox="1"/>
          <p:nvPr/>
        </p:nvSpPr>
        <p:spPr>
          <a:xfrm>
            <a:off x="6744900" y="2364275"/>
            <a:ext cx="1882500" cy="2598300"/>
          </a:xfrm>
          <a:prstGeom prst="rect">
            <a:avLst/>
          </a:prstGeom>
          <a:noFill/>
          <a:ln>
            <a:noFill/>
          </a:ln>
        </p:spPr>
        <p:txBody>
          <a:bodyPr spcFirstLastPara="1" wrap="square" lIns="79675" tIns="79675" rIns="79675" bIns="79675" anchor="t" anchorCtr="0">
            <a:noAutofit/>
          </a:bodyPr>
          <a:lstStyle/>
          <a:p>
            <a:pPr marL="0" lvl="0" indent="0" algn="ctr" rtl="0">
              <a:spcBef>
                <a:spcPts val="523"/>
              </a:spcBef>
              <a:spcAft>
                <a:spcPts val="0"/>
              </a:spcAft>
              <a:buClr>
                <a:srgbClr val="000000"/>
              </a:buClr>
              <a:buSzPts val="959"/>
              <a:buFont typeface="Arial"/>
              <a:buNone/>
            </a:pPr>
            <a:r>
              <a:rPr lang="en-US" sz="1220" b="1" u="sng">
                <a:solidFill>
                  <a:srgbClr val="FFFFFF"/>
                </a:solidFill>
              </a:rPr>
              <a:t>Les résultats d’Otelo</a:t>
            </a:r>
            <a:endParaRPr sz="1220" b="1" u="sng">
              <a:solidFill>
                <a:srgbClr val="FFFFFF"/>
              </a:solidFill>
            </a:endParaRPr>
          </a:p>
          <a:p>
            <a:pPr marL="0" lvl="0" indent="0" algn="just" rtl="0">
              <a:spcBef>
                <a:spcPts val="523"/>
              </a:spcBef>
              <a:spcAft>
                <a:spcPts val="0"/>
              </a:spcAft>
              <a:buClr>
                <a:srgbClr val="000000"/>
              </a:buClr>
              <a:buSzPts val="959"/>
              <a:buFont typeface="Arial"/>
              <a:buNone/>
            </a:pPr>
            <a:endParaRPr sz="820" b="1">
              <a:solidFill>
                <a:srgbClr val="FFFFFF"/>
              </a:solidFill>
            </a:endParaRPr>
          </a:p>
          <a:p>
            <a:pPr marL="78433" lvl="0" indent="-138209" algn="l" rtl="0">
              <a:spcBef>
                <a:spcPts val="523"/>
              </a:spcBef>
              <a:spcAft>
                <a:spcPts val="0"/>
              </a:spcAft>
              <a:buClr>
                <a:schemeClr val="lt1"/>
              </a:buClr>
              <a:buSzPts val="1000"/>
              <a:buChar char="➔"/>
            </a:pPr>
            <a:r>
              <a:rPr lang="en-US" sz="1000" b="1">
                <a:solidFill>
                  <a:schemeClr val="lt1"/>
                </a:solidFill>
              </a:rPr>
              <a:t>Besoins en logements supplémentaires :</a:t>
            </a:r>
            <a:endParaRPr sz="1000" b="1">
              <a:solidFill>
                <a:schemeClr val="lt1"/>
              </a:solidFill>
            </a:endParaRPr>
          </a:p>
          <a:p>
            <a:pPr marL="228600" lvl="1" indent="-120650" algn="l" rtl="0">
              <a:spcBef>
                <a:spcPts val="523"/>
              </a:spcBef>
              <a:spcAft>
                <a:spcPts val="0"/>
              </a:spcAft>
              <a:buClr>
                <a:schemeClr val="lt1"/>
              </a:buClr>
              <a:buSzPts val="1000"/>
              <a:buChar char="◆"/>
            </a:pPr>
            <a:r>
              <a:rPr lang="en-US" sz="1000">
                <a:solidFill>
                  <a:schemeClr val="lt1"/>
                </a:solidFill>
              </a:rPr>
              <a:t>Nombre de </a:t>
            </a:r>
            <a:r>
              <a:rPr lang="en-US" sz="1000" b="1">
                <a:solidFill>
                  <a:schemeClr val="lt1"/>
                </a:solidFill>
              </a:rPr>
              <a:t>constructions neuves</a:t>
            </a:r>
            <a:r>
              <a:rPr lang="en-US" sz="1000">
                <a:solidFill>
                  <a:schemeClr val="lt1"/>
                </a:solidFill>
              </a:rPr>
              <a:t> nécessaires.</a:t>
            </a:r>
            <a:endParaRPr sz="1000">
              <a:solidFill>
                <a:schemeClr val="lt1"/>
              </a:solidFill>
            </a:endParaRPr>
          </a:p>
          <a:p>
            <a:pPr marL="228600" lvl="1" indent="-120650" algn="l" rtl="0">
              <a:spcBef>
                <a:spcPts val="523"/>
              </a:spcBef>
              <a:spcAft>
                <a:spcPts val="523"/>
              </a:spcAft>
              <a:buClr>
                <a:schemeClr val="lt1"/>
              </a:buClr>
              <a:buSzPts val="1000"/>
              <a:buChar char="◆"/>
            </a:pPr>
            <a:r>
              <a:rPr lang="en-US" sz="1000">
                <a:solidFill>
                  <a:schemeClr val="lt1"/>
                </a:solidFill>
              </a:rPr>
              <a:t>Nombre de </a:t>
            </a:r>
            <a:r>
              <a:rPr lang="en-US" sz="1000" b="1">
                <a:solidFill>
                  <a:schemeClr val="lt1"/>
                </a:solidFill>
              </a:rPr>
              <a:t>logements vacants à remettre sur le marché</a:t>
            </a:r>
            <a:r>
              <a:rPr lang="en-US" sz="1000">
                <a:solidFill>
                  <a:schemeClr val="lt1"/>
                </a:solidFill>
              </a:rPr>
              <a:t>.</a:t>
            </a:r>
            <a:endParaRPr sz="1000">
              <a:solidFill>
                <a:srgbClr val="FFFFFF"/>
              </a:solidFill>
            </a:endParaRPr>
          </a:p>
        </p:txBody>
      </p:sp>
      <p:sp>
        <p:nvSpPr>
          <p:cNvPr id="116" name="Google Shape;116;p16"/>
          <p:cNvSpPr txBox="1"/>
          <p:nvPr/>
        </p:nvSpPr>
        <p:spPr>
          <a:xfrm>
            <a:off x="2370700" y="1113213"/>
            <a:ext cx="62301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200">
                <a:solidFill>
                  <a:schemeClr val="dk1"/>
                </a:solidFill>
              </a:rPr>
              <a:t>Otelo est un </a:t>
            </a:r>
            <a:r>
              <a:rPr lang="en-US" sz="1200" b="1">
                <a:solidFill>
                  <a:schemeClr val="dk1"/>
                </a:solidFill>
              </a:rPr>
              <a:t>outil numérique d'aide à la décision </a:t>
            </a:r>
            <a:r>
              <a:rPr lang="en-US" sz="1200">
                <a:solidFill>
                  <a:schemeClr val="dk1"/>
                </a:solidFill>
              </a:rPr>
              <a:t>développé par la DGALN et le Cerema. Il permet </a:t>
            </a:r>
            <a:r>
              <a:rPr lang="en-US" sz="1200" b="1">
                <a:solidFill>
                  <a:schemeClr val="dk1"/>
                </a:solidFill>
              </a:rPr>
              <a:t>d’estimer précisément les besoins en logement des collectivités </a:t>
            </a:r>
            <a:r>
              <a:rPr lang="en-US" sz="1200">
                <a:solidFill>
                  <a:schemeClr val="dk1"/>
                </a:solidFill>
              </a:rPr>
              <a:t>afin de prendre des décisions éclairées en matière d’aménagement du territoire.</a:t>
            </a:r>
            <a:endParaRPr sz="1200"/>
          </a:p>
        </p:txBody>
      </p:sp>
      <p:sp>
        <p:nvSpPr>
          <p:cNvPr id="117" name="Google Shape;117;p16"/>
          <p:cNvSpPr txBox="1"/>
          <p:nvPr/>
        </p:nvSpPr>
        <p:spPr>
          <a:xfrm>
            <a:off x="2238050" y="2364225"/>
            <a:ext cx="1882500" cy="2598300"/>
          </a:xfrm>
          <a:prstGeom prst="rect">
            <a:avLst/>
          </a:prstGeom>
          <a:noFill/>
          <a:ln>
            <a:noFill/>
          </a:ln>
        </p:spPr>
        <p:txBody>
          <a:bodyPr spcFirstLastPara="1" wrap="square" lIns="79675" tIns="79675" rIns="79675" bIns="79675" anchor="t" anchorCtr="0">
            <a:noAutofit/>
          </a:bodyPr>
          <a:lstStyle/>
          <a:p>
            <a:pPr marL="0" lvl="0" indent="0" algn="ctr" rtl="0">
              <a:spcBef>
                <a:spcPts val="523"/>
              </a:spcBef>
              <a:spcAft>
                <a:spcPts val="0"/>
              </a:spcAft>
              <a:buClr>
                <a:srgbClr val="000000"/>
              </a:buClr>
              <a:buSzPts val="959"/>
              <a:buFont typeface="Arial"/>
              <a:buNone/>
            </a:pPr>
            <a:r>
              <a:rPr lang="en-US" sz="1220" b="1" u="sng">
                <a:solidFill>
                  <a:srgbClr val="FFFFFF"/>
                </a:solidFill>
              </a:rPr>
              <a:t>La méthode de calcul</a:t>
            </a:r>
            <a:endParaRPr sz="1220" b="1" u="sng">
              <a:solidFill>
                <a:srgbClr val="FFFFFF"/>
              </a:solidFill>
            </a:endParaRPr>
          </a:p>
          <a:p>
            <a:pPr marL="0" lvl="0" indent="0" algn="l" rtl="0">
              <a:spcBef>
                <a:spcPts val="523"/>
              </a:spcBef>
              <a:spcAft>
                <a:spcPts val="0"/>
              </a:spcAft>
              <a:buClr>
                <a:srgbClr val="000000"/>
              </a:buClr>
              <a:buSzPts val="959"/>
              <a:buFont typeface="Arial"/>
              <a:buNone/>
            </a:pPr>
            <a:endParaRPr sz="820" b="1">
              <a:solidFill>
                <a:srgbClr val="FFFFFF"/>
              </a:solidFill>
            </a:endParaRPr>
          </a:p>
          <a:p>
            <a:pPr marL="78433" marR="0" lvl="0" indent="-138209" algn="l" rtl="0">
              <a:lnSpc>
                <a:spcPct val="100000"/>
              </a:lnSpc>
              <a:spcBef>
                <a:spcPts val="523"/>
              </a:spcBef>
              <a:spcAft>
                <a:spcPts val="0"/>
              </a:spcAft>
              <a:buClr>
                <a:srgbClr val="FFFFFF"/>
              </a:buClr>
              <a:buSzPts val="1000"/>
              <a:buChar char="➔"/>
            </a:pPr>
            <a:r>
              <a:rPr lang="en-US" sz="1000" b="1">
                <a:solidFill>
                  <a:srgbClr val="FFFFFF"/>
                </a:solidFill>
              </a:rPr>
              <a:t>Otelo analyse 2 types de besoins complémentaires :</a:t>
            </a:r>
            <a:endParaRPr sz="1000" b="1">
              <a:solidFill>
                <a:srgbClr val="FFFFFF"/>
              </a:solidFill>
            </a:endParaRPr>
          </a:p>
          <a:p>
            <a:pPr marL="228600" marR="0" lvl="1" indent="-120650" algn="l" rtl="0">
              <a:lnSpc>
                <a:spcPct val="100000"/>
              </a:lnSpc>
              <a:spcBef>
                <a:spcPts val="523"/>
              </a:spcBef>
              <a:spcAft>
                <a:spcPts val="0"/>
              </a:spcAft>
              <a:buClr>
                <a:srgbClr val="FFFFFF"/>
              </a:buClr>
              <a:buSzPts val="1000"/>
              <a:buChar char="◆"/>
            </a:pPr>
            <a:r>
              <a:rPr lang="en-US" sz="1000" b="1">
                <a:solidFill>
                  <a:srgbClr val="FFFFFF"/>
                </a:solidFill>
              </a:rPr>
              <a:t>Besoins futurs</a:t>
            </a:r>
            <a:r>
              <a:rPr lang="en-US" sz="1000">
                <a:solidFill>
                  <a:srgbClr val="FFFFFF"/>
                </a:solidFill>
              </a:rPr>
              <a:t> :  logements pour les nouveaux ménages qui vont se former.</a:t>
            </a:r>
            <a:endParaRPr sz="1000">
              <a:solidFill>
                <a:srgbClr val="FFFFFF"/>
              </a:solidFill>
            </a:endParaRPr>
          </a:p>
          <a:p>
            <a:pPr marL="228600" marR="0" lvl="1" indent="-120650" algn="l" rtl="0">
              <a:lnSpc>
                <a:spcPct val="100000"/>
              </a:lnSpc>
              <a:spcBef>
                <a:spcPts val="523"/>
              </a:spcBef>
              <a:spcAft>
                <a:spcPts val="523"/>
              </a:spcAft>
              <a:buClr>
                <a:srgbClr val="FFFFFF"/>
              </a:buClr>
              <a:buSzPts val="1000"/>
              <a:buChar char="◆"/>
            </a:pPr>
            <a:r>
              <a:rPr lang="en-US" sz="1000" b="1">
                <a:solidFill>
                  <a:srgbClr val="FFFFFF"/>
                </a:solidFill>
              </a:rPr>
              <a:t>Besoins actuels</a:t>
            </a:r>
            <a:r>
              <a:rPr lang="en-US" sz="1000">
                <a:solidFill>
                  <a:srgbClr val="FFFFFF"/>
                </a:solidFill>
              </a:rPr>
              <a:t> :  logements pour résoudre les situations de mal-logement existantes.</a:t>
            </a:r>
            <a:endParaRPr sz="1000">
              <a:solidFill>
                <a:srgbClr val="FFFFFF"/>
              </a:solidFill>
            </a:endParaRPr>
          </a:p>
        </p:txBody>
      </p:sp>
      <p:cxnSp>
        <p:nvCxnSpPr>
          <p:cNvPr id="120" name="Google Shape;120;p16"/>
          <p:cNvCxnSpPr/>
          <p:nvPr/>
        </p:nvCxnSpPr>
        <p:spPr>
          <a:xfrm>
            <a:off x="6544400" y="2474226"/>
            <a:ext cx="0" cy="2307000"/>
          </a:xfrm>
          <a:prstGeom prst="straightConnector1">
            <a:avLst/>
          </a:prstGeom>
          <a:noFill/>
          <a:ln w="8300" cap="flat" cmpd="sng">
            <a:solidFill>
              <a:srgbClr val="FFFFFF"/>
            </a:solidFill>
            <a:prstDash val="solid"/>
            <a:round/>
            <a:headEnd type="none" w="sm" len="sm"/>
            <a:tailEnd type="none" w="sm" len="sm"/>
          </a:ln>
        </p:spPr>
      </p:cxnSp>
      <p:sp>
        <p:nvSpPr>
          <p:cNvPr id="4" name="Google Shape;91;p14">
            <a:extLst>
              <a:ext uri="{FF2B5EF4-FFF2-40B4-BE49-F238E27FC236}">
                <a16:creationId xmlns:a16="http://schemas.microsoft.com/office/drawing/2014/main" id="{0FB46CCA-AA96-7DF5-027D-FF66A112092E}"/>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5" name="Google Shape;92;p14">
            <a:extLst>
              <a:ext uri="{FF2B5EF4-FFF2-40B4-BE49-F238E27FC236}">
                <a16:creationId xmlns:a16="http://schemas.microsoft.com/office/drawing/2014/main" id="{F75BE5EC-91BD-5E7F-2B50-FDAB07620020}"/>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7"/>
          <p:cNvSpPr txBox="1">
            <a:spLocks noGrp="1"/>
          </p:cNvSpPr>
          <p:nvPr>
            <p:ph type="body" idx="1"/>
          </p:nvPr>
        </p:nvSpPr>
        <p:spPr>
          <a:xfrm>
            <a:off x="2709800" y="2344050"/>
            <a:ext cx="5277600" cy="4554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US"/>
              <a:t>2. Les données de cadrage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8"/>
          <p:cNvSpPr txBox="1"/>
          <p:nvPr/>
        </p:nvSpPr>
        <p:spPr>
          <a:xfrm>
            <a:off x="2600446" y="184525"/>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Comparaison entre la construction récente et l’évolution de la population</a:t>
            </a:r>
            <a:endParaRPr sz="1200" i="1">
              <a:solidFill>
                <a:srgbClr val="262626"/>
              </a:solidFill>
            </a:endParaRPr>
          </a:p>
        </p:txBody>
      </p:sp>
      <p:sp>
        <p:nvSpPr>
          <p:cNvPr id="2" name="Google Shape;91;p14">
            <a:extLst>
              <a:ext uri="{FF2B5EF4-FFF2-40B4-BE49-F238E27FC236}">
                <a16:creationId xmlns:a16="http://schemas.microsoft.com/office/drawing/2014/main" id="{AD9DD880-1E8B-101C-3917-FED770FA8999}"/>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8619A1E2-864C-0AE1-6AB8-18EAC0EAB41E}"/>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19"/>
          <p:cNvSpPr txBox="1"/>
          <p:nvPr/>
        </p:nvSpPr>
        <p:spPr>
          <a:xfrm>
            <a:off x="2469158" y="369175"/>
            <a:ext cx="6267300" cy="461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L’évolution du parc de logements</a:t>
            </a:r>
            <a:endParaRPr sz="1200" i="1">
              <a:solidFill>
                <a:srgbClr val="262626"/>
              </a:solidFill>
            </a:endParaRPr>
          </a:p>
        </p:txBody>
      </p:sp>
      <p:pic>
        <p:nvPicPr>
          <p:cNvPr id="138" name="Google Shape;138;p19"/>
          <p:cNvPicPr preferRelativeResize="0"/>
          <p:nvPr/>
        </p:nvPicPr>
        <p:blipFill rotWithShape="1">
          <a:blip r:embed="rId3">
            <a:alphaModFix/>
          </a:blip>
          <a:srcRect/>
          <a:stretch/>
        </p:blipFill>
        <p:spPr>
          <a:xfrm>
            <a:off x="3290976" y="1017925"/>
            <a:ext cx="4623651" cy="3853024"/>
          </a:xfrm>
          <a:prstGeom prst="rect">
            <a:avLst/>
          </a:prstGeom>
          <a:noFill/>
          <a:ln>
            <a:noFill/>
          </a:ln>
        </p:spPr>
      </p:pic>
      <p:sp>
        <p:nvSpPr>
          <p:cNvPr id="141" name="Google Shape;141;p19"/>
          <p:cNvSpPr/>
          <p:nvPr/>
        </p:nvSpPr>
        <p:spPr>
          <a:xfrm>
            <a:off x="4173675" y="2898650"/>
            <a:ext cx="2501400" cy="1210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solidFill>
                  <a:schemeClr val="lt1"/>
                </a:solidFill>
                <a:latin typeface="Calibri"/>
                <a:ea typeface="Calibri"/>
                <a:cs typeface="Calibri"/>
                <a:sym typeface="Calibri"/>
              </a:rPr>
              <a:t>Ne pas automatiser dans un premier temps</a:t>
            </a: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F5F5EB2E-2833-5180-460C-4EB54C9A4D0D}"/>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26316708-287E-4AAD-D84F-6B3BE805B2D7}"/>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0"/>
          <p:cNvSpPr txBox="1"/>
          <p:nvPr/>
        </p:nvSpPr>
        <p:spPr>
          <a:xfrm>
            <a:off x="2552821" y="184525"/>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Les trois scénarios de population du modèle OMPHALE</a:t>
            </a:r>
            <a:endParaRPr sz="1200" i="1">
              <a:solidFill>
                <a:srgbClr val="262626"/>
              </a:solidFill>
            </a:endParaRPr>
          </a:p>
        </p:txBody>
      </p:sp>
      <p:pic>
        <p:nvPicPr>
          <p:cNvPr id="147" name="Google Shape;147;p20"/>
          <p:cNvPicPr preferRelativeResize="0"/>
          <p:nvPr/>
        </p:nvPicPr>
        <p:blipFill rotWithShape="1">
          <a:blip r:embed="rId3">
            <a:alphaModFix/>
          </a:blip>
          <a:srcRect/>
          <a:stretch/>
        </p:blipFill>
        <p:spPr>
          <a:xfrm>
            <a:off x="234325" y="1609950"/>
            <a:ext cx="5021750" cy="3068425"/>
          </a:xfrm>
          <a:prstGeom prst="rect">
            <a:avLst/>
          </a:prstGeom>
          <a:noFill/>
          <a:ln>
            <a:noFill/>
          </a:ln>
        </p:spPr>
      </p:pic>
      <p:graphicFrame>
        <p:nvGraphicFramePr>
          <p:cNvPr id="150" name="Google Shape;150;p20"/>
          <p:cNvGraphicFramePr/>
          <p:nvPr/>
        </p:nvGraphicFramePr>
        <p:xfrm>
          <a:off x="5438700" y="1310800"/>
          <a:ext cx="3495725" cy="3068400"/>
        </p:xfrm>
        <a:graphic>
          <a:graphicData uri="http://schemas.openxmlformats.org/drawingml/2006/table">
            <a:tbl>
              <a:tblPr>
                <a:noFill/>
                <a:tableStyleId>{8782ED91-6AAA-4FC9-A8D7-22FAF3BB82A8}</a:tableStyleId>
              </a:tblPr>
              <a:tblGrid>
                <a:gridCol w="1059325">
                  <a:extLst>
                    <a:ext uri="{9D8B030D-6E8A-4147-A177-3AD203B41FA5}">
                      <a16:colId xmlns:a16="http://schemas.microsoft.com/office/drawing/2014/main" val="20000"/>
                    </a:ext>
                  </a:extLst>
                </a:gridCol>
                <a:gridCol w="760750">
                  <a:extLst>
                    <a:ext uri="{9D8B030D-6E8A-4147-A177-3AD203B41FA5}">
                      <a16:colId xmlns:a16="http://schemas.microsoft.com/office/drawing/2014/main" val="20001"/>
                    </a:ext>
                  </a:extLst>
                </a:gridCol>
                <a:gridCol w="837825">
                  <a:extLst>
                    <a:ext uri="{9D8B030D-6E8A-4147-A177-3AD203B41FA5}">
                      <a16:colId xmlns:a16="http://schemas.microsoft.com/office/drawing/2014/main" val="20002"/>
                    </a:ext>
                  </a:extLst>
                </a:gridCol>
                <a:gridCol w="837825">
                  <a:extLst>
                    <a:ext uri="{9D8B030D-6E8A-4147-A177-3AD203B41FA5}">
                      <a16:colId xmlns:a16="http://schemas.microsoft.com/office/drawing/2014/main" val="20003"/>
                    </a:ext>
                  </a:extLst>
                </a:gridCol>
              </a:tblGrid>
              <a:tr h="764475">
                <a:tc>
                  <a:txBody>
                    <a:bodyPr/>
                    <a:lstStyle/>
                    <a:p>
                      <a:pPr marL="0" lvl="0" indent="0" algn="l" rtl="0">
                        <a:lnSpc>
                          <a:spcPct val="115000"/>
                        </a:lnSpc>
                        <a:spcBef>
                          <a:spcPts val="1200"/>
                        </a:spcBef>
                        <a:spcAft>
                          <a:spcPts val="0"/>
                        </a:spcAft>
                        <a:buNone/>
                      </a:pPr>
                      <a:endParaRPr sz="1000"/>
                    </a:p>
                  </a:txBody>
                  <a:tcPr marL="68575" marR="68575" marT="91425" marB="91425">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tc gridSpan="3">
                  <a:txBody>
                    <a:bodyPr/>
                    <a:lstStyle/>
                    <a:p>
                      <a:pPr marL="0" lvl="0" indent="0" algn="ctr" rtl="0">
                        <a:lnSpc>
                          <a:spcPct val="100000"/>
                        </a:lnSpc>
                        <a:spcBef>
                          <a:spcPts val="1200"/>
                        </a:spcBef>
                        <a:spcAft>
                          <a:spcPts val="0"/>
                        </a:spcAft>
                        <a:buNone/>
                      </a:pPr>
                      <a:r>
                        <a:rPr lang="en-US" b="1" u="sng"/>
                        <a:t>Evolution annuelle moyenne (en %)</a:t>
                      </a:r>
                      <a:endParaRPr b="1" u="sng"/>
                    </a:p>
                  </a:txBody>
                  <a:tcPr marL="68575" marR="68575" marT="0" marB="0">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4350">
                <a:tc>
                  <a:txBody>
                    <a:bodyPr/>
                    <a:lstStyle/>
                    <a:p>
                      <a:pPr marL="0" lvl="0" indent="0" algn="just" rtl="0">
                        <a:lnSpc>
                          <a:spcPct val="100000"/>
                        </a:lnSpc>
                        <a:spcBef>
                          <a:spcPts val="1200"/>
                        </a:spcBef>
                        <a:spcAft>
                          <a:spcPts val="0"/>
                        </a:spcAft>
                        <a:buNone/>
                      </a:pPr>
                      <a:r>
                        <a:rPr lang="en-US" sz="1200" b="1" i="1"/>
                        <a:t>Périodes</a:t>
                      </a:r>
                      <a:endParaRPr sz="1200" b="1" i="1"/>
                    </a:p>
                  </a:txBody>
                  <a:tcPr marL="68575" marR="68575" marT="0" marB="91425"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i="1"/>
                        <a:t>2021 - 2030</a:t>
                      </a:r>
                      <a:endParaRPr sz="1200" i="1"/>
                    </a:p>
                  </a:txBody>
                  <a:tcPr marL="68575" marR="68575" marT="0" marB="91425"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i="1"/>
                        <a:t>2030 - 2040</a:t>
                      </a:r>
                      <a:endParaRPr sz="1200" i="1"/>
                    </a:p>
                  </a:txBody>
                  <a:tcPr marL="68575" marR="68575" marT="0" marB="91425"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i="1"/>
                        <a:t>2040 - 2050</a:t>
                      </a:r>
                      <a:endParaRPr sz="1200" i="1"/>
                    </a:p>
                  </a:txBody>
                  <a:tcPr marL="68575" marR="68575" marT="0" marB="91425"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36525">
                <a:tc>
                  <a:txBody>
                    <a:bodyPr/>
                    <a:lstStyle/>
                    <a:p>
                      <a:pPr marL="0" lvl="0" indent="0" algn="l" rtl="0">
                        <a:lnSpc>
                          <a:spcPct val="100000"/>
                        </a:lnSpc>
                        <a:spcBef>
                          <a:spcPts val="1200"/>
                        </a:spcBef>
                        <a:spcAft>
                          <a:spcPts val="0"/>
                        </a:spcAft>
                        <a:buNone/>
                      </a:pPr>
                      <a:r>
                        <a:rPr lang="en-US" sz="1200" i="1"/>
                        <a:t>Pop. basse</a:t>
                      </a:r>
                      <a:endParaRPr sz="1200" i="1"/>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a:t>X%</a:t>
                      </a:r>
                      <a:endParaRPr sz="1200"/>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tcPr>
                </a:tc>
                <a:tc>
                  <a:txBody>
                    <a:bodyPr/>
                    <a:lstStyle/>
                    <a:p>
                      <a:pPr marL="0" lvl="0" indent="0" algn="ctr" rtl="0">
                        <a:lnSpc>
                          <a:spcPct val="100000"/>
                        </a:lnSpc>
                        <a:spcBef>
                          <a:spcPts val="1200"/>
                        </a:spcBef>
                        <a:spcAft>
                          <a:spcPts val="0"/>
                        </a:spcAft>
                        <a:buNone/>
                      </a:pPr>
                      <a:r>
                        <a:rPr lang="en-US" sz="1200"/>
                        <a:t>X%</a:t>
                      </a:r>
                      <a:endParaRPr sz="1200"/>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tcPr>
                </a:tc>
                <a:tc>
                  <a:txBody>
                    <a:bodyPr/>
                    <a:lstStyle/>
                    <a:p>
                      <a:pPr marL="0" lvl="0" indent="0" algn="ctr" rtl="0">
                        <a:lnSpc>
                          <a:spcPct val="100000"/>
                        </a:lnSpc>
                        <a:spcBef>
                          <a:spcPts val="1200"/>
                        </a:spcBef>
                        <a:spcAft>
                          <a:spcPts val="0"/>
                        </a:spcAft>
                        <a:buNone/>
                      </a:pPr>
                      <a:r>
                        <a:rPr lang="en-US" sz="1200"/>
                        <a:t>X%</a:t>
                      </a:r>
                      <a:endParaRPr sz="1200"/>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tcPr>
                </a:tc>
                <a:extLst>
                  <a:ext uri="{0D108BD9-81ED-4DB2-BD59-A6C34878D82A}">
                    <a16:rowId xmlns:a16="http://schemas.microsoft.com/office/drawing/2014/main" val="10002"/>
                  </a:ext>
                </a:extLst>
              </a:tr>
              <a:tr h="536525">
                <a:tc>
                  <a:txBody>
                    <a:bodyPr/>
                    <a:lstStyle/>
                    <a:p>
                      <a:pPr marL="0" lvl="0" indent="0" algn="l" rtl="0">
                        <a:lnSpc>
                          <a:spcPct val="100000"/>
                        </a:lnSpc>
                        <a:spcBef>
                          <a:spcPts val="1200"/>
                        </a:spcBef>
                        <a:spcAft>
                          <a:spcPts val="0"/>
                        </a:spcAft>
                        <a:buNone/>
                      </a:pPr>
                      <a:r>
                        <a:rPr lang="en-US" sz="1200" i="1">
                          <a:solidFill>
                            <a:schemeClr val="lt2"/>
                          </a:solidFill>
                        </a:rPr>
                        <a:t>Pop. centrale</a:t>
                      </a:r>
                      <a:endParaRPr sz="1200" i="1">
                        <a:solidFill>
                          <a:schemeClr val="lt2"/>
                        </a:solidFill>
                      </a:endParaRPr>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a:solidFill>
                            <a:schemeClr val="lt2"/>
                          </a:solidFill>
                        </a:rPr>
                        <a:t>X%</a:t>
                      </a:r>
                      <a:endParaRPr sz="1200">
                        <a:solidFill>
                          <a:schemeClr val="lt2"/>
                        </a:solidFill>
                      </a:endParaRPr>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1200"/>
                        </a:spcBef>
                        <a:spcAft>
                          <a:spcPts val="0"/>
                        </a:spcAft>
                        <a:buNone/>
                      </a:pPr>
                      <a:r>
                        <a:rPr lang="en-US" sz="1200">
                          <a:solidFill>
                            <a:schemeClr val="lt2"/>
                          </a:solidFill>
                        </a:rPr>
                        <a:t>X%</a:t>
                      </a:r>
                      <a:endParaRPr sz="1200">
                        <a:solidFill>
                          <a:schemeClr val="lt2"/>
                        </a:solidFill>
                      </a:endParaRPr>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1200"/>
                        </a:spcBef>
                        <a:spcAft>
                          <a:spcPts val="0"/>
                        </a:spcAft>
                        <a:buNone/>
                      </a:pPr>
                      <a:r>
                        <a:rPr lang="en-US" sz="1200">
                          <a:solidFill>
                            <a:schemeClr val="lt2"/>
                          </a:solidFill>
                        </a:rPr>
                        <a:t>X%</a:t>
                      </a:r>
                      <a:endParaRPr sz="1200">
                        <a:solidFill>
                          <a:schemeClr val="lt2"/>
                        </a:solidFill>
                      </a:endParaRPr>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536525">
                <a:tc>
                  <a:txBody>
                    <a:bodyPr/>
                    <a:lstStyle/>
                    <a:p>
                      <a:pPr marL="0" lvl="0" indent="0" algn="l" rtl="0">
                        <a:lnSpc>
                          <a:spcPct val="100000"/>
                        </a:lnSpc>
                        <a:spcBef>
                          <a:spcPts val="1200"/>
                        </a:spcBef>
                        <a:spcAft>
                          <a:spcPts val="0"/>
                        </a:spcAft>
                        <a:buNone/>
                      </a:pPr>
                      <a:r>
                        <a:rPr lang="en-US" sz="1200" i="1"/>
                        <a:t>Pop. haute</a:t>
                      </a:r>
                      <a:endParaRPr sz="1200" i="1"/>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a:t>X%</a:t>
                      </a:r>
                      <a:endParaRPr sz="1200"/>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a:t>X%</a:t>
                      </a:r>
                      <a:endParaRPr sz="1200"/>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1200"/>
                        </a:spcBef>
                        <a:spcAft>
                          <a:spcPts val="0"/>
                        </a:spcAft>
                        <a:buNone/>
                      </a:pPr>
                      <a:r>
                        <a:rPr lang="en-US" sz="1200"/>
                        <a:t>X%</a:t>
                      </a:r>
                      <a:endParaRPr sz="1200"/>
                    </a:p>
                  </a:txBody>
                  <a:tcPr marL="68575" marR="68575" marT="0" marB="91425">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4" name="Google Shape;91;p14">
            <a:extLst>
              <a:ext uri="{FF2B5EF4-FFF2-40B4-BE49-F238E27FC236}">
                <a16:creationId xmlns:a16="http://schemas.microsoft.com/office/drawing/2014/main" id="{389579A1-31D4-AE04-6D0D-7164A775FBD0}"/>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5" name="Google Shape;92;p14">
            <a:extLst>
              <a:ext uri="{FF2B5EF4-FFF2-40B4-BE49-F238E27FC236}">
                <a16:creationId xmlns:a16="http://schemas.microsoft.com/office/drawing/2014/main" id="{D20E0DA8-69C2-3005-7046-12F0B90015D8}"/>
              </a:ext>
            </a:extLst>
          </p:cNvPr>
          <p:cNvSpPr txBox="1">
            <a:spLocks/>
          </p:cNvSpPr>
          <p:nvPr/>
        </p:nvSpPr>
        <p:spPr>
          <a:xfrm>
            <a:off x="355025" y="876896"/>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dirty="0"/>
              <a:t>Estimation sur la </a:t>
            </a:r>
            <a:r>
              <a:rPr lang="en-US" sz="1100" dirty="0" err="1"/>
              <a:t>période</a:t>
            </a:r>
            <a:r>
              <a:rPr lang="en-US" sz="1100" dirty="0"/>
              <a:t> {{</a:t>
            </a:r>
            <a:r>
              <a:rPr lang="en-US" sz="1100" dirty="0" err="1"/>
              <a:t>layoutStart</a:t>
            </a:r>
            <a:r>
              <a:rPr lang="en-US" sz="1100" dirty="0"/>
              <a:t>}} – {{</a:t>
            </a:r>
            <a:r>
              <a:rPr lang="en-US" sz="1100" dirty="0" err="1"/>
              <a:t>layoutEnd</a:t>
            </a:r>
            <a:r>
              <a:rPr lang="en-US" sz="1100" dirty="0"/>
              <a:t>}} pour le {{</a:t>
            </a:r>
            <a:r>
              <a:rPr lang="en-US" sz="1100" dirty="0" err="1"/>
              <a:t>layoutDocumentType</a:t>
            </a:r>
            <a:r>
              <a:rPr lang="en-US" sz="1100" dirty="0"/>
              <a:t>}}</a:t>
            </a:r>
            <a:endParaRPr lang="en-US" sz="1100" i="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1"/>
          <p:cNvSpPr txBox="1"/>
          <p:nvPr/>
        </p:nvSpPr>
        <p:spPr>
          <a:xfrm>
            <a:off x="2600446" y="209550"/>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Les projections d’évolution du nombre de ménages</a:t>
            </a:r>
            <a:endParaRPr sz="1200" i="1">
              <a:solidFill>
                <a:srgbClr val="262626"/>
              </a:solidFill>
            </a:endParaRPr>
          </a:p>
        </p:txBody>
      </p:sp>
      <p:pic>
        <p:nvPicPr>
          <p:cNvPr id="158" name="Google Shape;158;p21"/>
          <p:cNvPicPr preferRelativeResize="0"/>
          <p:nvPr/>
        </p:nvPicPr>
        <p:blipFill rotWithShape="1">
          <a:blip r:embed="rId3">
            <a:alphaModFix/>
          </a:blip>
          <a:srcRect/>
          <a:stretch/>
        </p:blipFill>
        <p:spPr>
          <a:xfrm>
            <a:off x="234325" y="1636713"/>
            <a:ext cx="4934151" cy="3014899"/>
          </a:xfrm>
          <a:prstGeom prst="rect">
            <a:avLst/>
          </a:prstGeom>
          <a:noFill/>
          <a:ln>
            <a:noFill/>
          </a:ln>
        </p:spPr>
      </p:pic>
      <p:graphicFrame>
        <p:nvGraphicFramePr>
          <p:cNvPr id="159" name="Google Shape;159;p21"/>
          <p:cNvGraphicFramePr/>
          <p:nvPr/>
        </p:nvGraphicFramePr>
        <p:xfrm>
          <a:off x="5630600" y="891113"/>
          <a:ext cx="3406750" cy="4143875"/>
        </p:xfrm>
        <a:graphic>
          <a:graphicData uri="http://schemas.openxmlformats.org/drawingml/2006/table">
            <a:tbl>
              <a:tblPr>
                <a:noFill/>
                <a:tableStyleId>{8782ED91-6AAA-4FC9-A8D7-22FAF3BB82A8}</a:tableStyleId>
              </a:tblPr>
              <a:tblGrid>
                <a:gridCol w="1193375">
                  <a:extLst>
                    <a:ext uri="{9D8B030D-6E8A-4147-A177-3AD203B41FA5}">
                      <a16:colId xmlns:a16="http://schemas.microsoft.com/office/drawing/2014/main" val="20000"/>
                    </a:ext>
                  </a:extLst>
                </a:gridCol>
                <a:gridCol w="744075">
                  <a:extLst>
                    <a:ext uri="{9D8B030D-6E8A-4147-A177-3AD203B41FA5}">
                      <a16:colId xmlns:a16="http://schemas.microsoft.com/office/drawing/2014/main" val="20001"/>
                    </a:ext>
                  </a:extLst>
                </a:gridCol>
                <a:gridCol w="734650">
                  <a:extLst>
                    <a:ext uri="{9D8B030D-6E8A-4147-A177-3AD203B41FA5}">
                      <a16:colId xmlns:a16="http://schemas.microsoft.com/office/drawing/2014/main" val="20002"/>
                    </a:ext>
                  </a:extLst>
                </a:gridCol>
                <a:gridCol w="734650">
                  <a:extLst>
                    <a:ext uri="{9D8B030D-6E8A-4147-A177-3AD203B41FA5}">
                      <a16:colId xmlns:a16="http://schemas.microsoft.com/office/drawing/2014/main" val="20003"/>
                    </a:ext>
                  </a:extLst>
                </a:gridCol>
              </a:tblGrid>
              <a:tr h="503725">
                <a:tc>
                  <a:txBody>
                    <a:bodyPr/>
                    <a:lstStyle/>
                    <a:p>
                      <a:pPr marL="0" lvl="0" indent="0" algn="l" rtl="0">
                        <a:lnSpc>
                          <a:spcPct val="100000"/>
                        </a:lnSpc>
                        <a:spcBef>
                          <a:spcPts val="0"/>
                        </a:spcBef>
                        <a:spcAft>
                          <a:spcPts val="0"/>
                        </a:spcAft>
                        <a:buNone/>
                      </a:pPr>
                      <a:r>
                        <a:rPr lang="en-US"/>
                        <a:t> </a:t>
                      </a:r>
                      <a:endParaRPr/>
                    </a:p>
                  </a:txBody>
                  <a:tcPr marL="68575" marR="68575" marT="0" marB="0" anchor="ctr">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tc gridSpan="3">
                  <a:txBody>
                    <a:bodyPr/>
                    <a:lstStyle/>
                    <a:p>
                      <a:pPr marL="0" lvl="0" indent="0" algn="ctr" rtl="0">
                        <a:lnSpc>
                          <a:spcPct val="100000"/>
                        </a:lnSpc>
                        <a:spcBef>
                          <a:spcPts val="0"/>
                        </a:spcBef>
                        <a:spcAft>
                          <a:spcPts val="0"/>
                        </a:spcAft>
                        <a:buNone/>
                      </a:pPr>
                      <a:r>
                        <a:rPr lang="en-US" sz="1200" b="1" u="sng"/>
                        <a:t>Evolution annuelle moyenne (en %)</a:t>
                      </a:r>
                      <a:endParaRPr sz="1200" b="1" u="sng"/>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487900">
                <a:tc>
                  <a:txBody>
                    <a:bodyPr/>
                    <a:lstStyle/>
                    <a:p>
                      <a:pPr marL="0" lvl="0" indent="0" algn="just" rtl="0">
                        <a:lnSpc>
                          <a:spcPct val="100000"/>
                        </a:lnSpc>
                        <a:spcBef>
                          <a:spcPts val="0"/>
                        </a:spcBef>
                        <a:spcAft>
                          <a:spcPts val="0"/>
                        </a:spcAft>
                        <a:buNone/>
                      </a:pPr>
                      <a:r>
                        <a:rPr lang="en-US" sz="1100" b="1" i="1"/>
                        <a:t>Périodes</a:t>
                      </a:r>
                      <a:endParaRPr sz="1100" b="1"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100" i="1"/>
                        <a:t>2021 - 2030</a:t>
                      </a:r>
                      <a:endParaRPr sz="1100"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100" i="1"/>
                        <a:t>2030 - 2040</a:t>
                      </a:r>
                      <a:endParaRPr sz="1100"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100" i="1"/>
                        <a:t>2040 - 2050</a:t>
                      </a:r>
                      <a:endParaRPr sz="1100"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30450">
                <a:tc>
                  <a:txBody>
                    <a:bodyPr/>
                    <a:lstStyle/>
                    <a:p>
                      <a:pPr marL="0" lvl="0" indent="0" algn="l" rtl="0">
                        <a:lnSpc>
                          <a:spcPct val="100000"/>
                        </a:lnSpc>
                        <a:spcBef>
                          <a:spcPts val="0"/>
                        </a:spcBef>
                        <a:spcAft>
                          <a:spcPts val="0"/>
                        </a:spcAft>
                        <a:buNone/>
                      </a:pPr>
                      <a:r>
                        <a:rPr lang="en-US" sz="1000" i="1"/>
                        <a:t>Pop. Centrale - Décohabitation accélérée</a:t>
                      </a:r>
                      <a:endParaRPr sz="1000"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tcPr>
                </a:tc>
                <a:extLst>
                  <a:ext uri="{0D108BD9-81ED-4DB2-BD59-A6C34878D82A}">
                    <a16:rowId xmlns:a16="http://schemas.microsoft.com/office/drawing/2014/main" val="10002"/>
                  </a:ext>
                </a:extLst>
              </a:tr>
              <a:tr h="630450">
                <a:tc>
                  <a:txBody>
                    <a:bodyPr/>
                    <a:lstStyle/>
                    <a:p>
                      <a:pPr marL="0" lvl="0" indent="0" algn="l" rtl="0">
                        <a:lnSpc>
                          <a:spcPct val="100000"/>
                        </a:lnSpc>
                        <a:spcBef>
                          <a:spcPts val="0"/>
                        </a:spcBef>
                        <a:spcAft>
                          <a:spcPts val="0"/>
                        </a:spcAft>
                        <a:buNone/>
                      </a:pPr>
                      <a:r>
                        <a:rPr lang="en-US" sz="1000" i="1">
                          <a:solidFill>
                            <a:schemeClr val="lt2"/>
                          </a:solidFill>
                        </a:rPr>
                        <a:t>Pop. Centrale - Décohabitation tendancielle</a:t>
                      </a:r>
                      <a:endParaRPr sz="1000" i="1">
                        <a:solidFill>
                          <a:schemeClr val="lt2"/>
                        </a:solidFill>
                      </a:endParaRPr>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200">
                          <a:solidFill>
                            <a:schemeClr val="lt2"/>
                          </a:solidFill>
                        </a:rPr>
                        <a:t>X%</a:t>
                      </a:r>
                      <a:endParaRPr sz="1200">
                        <a:solidFill>
                          <a:schemeClr val="lt2"/>
                        </a:solidFill>
                      </a:endParaRPr>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0"/>
                        </a:spcBef>
                        <a:spcAft>
                          <a:spcPts val="0"/>
                        </a:spcAft>
                        <a:buNone/>
                      </a:pPr>
                      <a:r>
                        <a:rPr lang="en-US" sz="1200">
                          <a:solidFill>
                            <a:schemeClr val="lt2"/>
                          </a:solidFill>
                        </a:rPr>
                        <a:t>X%</a:t>
                      </a:r>
                      <a:endParaRPr sz="1200">
                        <a:solidFill>
                          <a:schemeClr val="lt2"/>
                        </a:solidFill>
                      </a:endParaRPr>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0"/>
                        </a:spcBef>
                        <a:spcAft>
                          <a:spcPts val="0"/>
                        </a:spcAft>
                        <a:buNone/>
                      </a:pPr>
                      <a:r>
                        <a:rPr lang="en-US" sz="1200">
                          <a:solidFill>
                            <a:schemeClr val="lt2"/>
                          </a:solidFill>
                        </a:rPr>
                        <a:t>X%</a:t>
                      </a:r>
                      <a:endParaRPr sz="1200">
                        <a:solidFill>
                          <a:schemeClr val="lt2"/>
                        </a:solidFill>
                      </a:endParaRPr>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630450">
                <a:tc>
                  <a:txBody>
                    <a:bodyPr/>
                    <a:lstStyle/>
                    <a:p>
                      <a:pPr marL="0" lvl="0" indent="0" algn="l" rtl="0">
                        <a:lnSpc>
                          <a:spcPct val="100000"/>
                        </a:lnSpc>
                        <a:spcBef>
                          <a:spcPts val="0"/>
                        </a:spcBef>
                        <a:spcAft>
                          <a:spcPts val="0"/>
                        </a:spcAft>
                        <a:buNone/>
                      </a:pPr>
                      <a:r>
                        <a:rPr lang="en-US" sz="1000" i="1"/>
                        <a:t>Pop. Centrale - Décohabitation décélérée</a:t>
                      </a:r>
                      <a:endParaRPr sz="1000"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extLst>
                  <a:ext uri="{0D108BD9-81ED-4DB2-BD59-A6C34878D82A}">
                    <a16:rowId xmlns:a16="http://schemas.microsoft.com/office/drawing/2014/main" val="10004"/>
                  </a:ext>
                </a:extLst>
              </a:tr>
              <a:tr h="630450">
                <a:tc>
                  <a:txBody>
                    <a:bodyPr/>
                    <a:lstStyle/>
                    <a:p>
                      <a:pPr marL="0" lvl="0" indent="0" algn="l" rtl="0">
                        <a:lnSpc>
                          <a:spcPct val="100000"/>
                        </a:lnSpc>
                        <a:spcBef>
                          <a:spcPts val="0"/>
                        </a:spcBef>
                        <a:spcAft>
                          <a:spcPts val="0"/>
                        </a:spcAft>
                        <a:buNone/>
                      </a:pPr>
                      <a:r>
                        <a:rPr lang="en-US" sz="1000" i="1"/>
                        <a:t>Pop. Haute - Décohabitation tendancielle</a:t>
                      </a:r>
                      <a:endParaRPr sz="1000"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630450">
                <a:tc>
                  <a:txBody>
                    <a:bodyPr/>
                    <a:lstStyle/>
                    <a:p>
                      <a:pPr marL="0" lvl="0" indent="0" algn="l" rtl="0">
                        <a:lnSpc>
                          <a:spcPct val="100000"/>
                        </a:lnSpc>
                        <a:spcBef>
                          <a:spcPts val="0"/>
                        </a:spcBef>
                        <a:spcAft>
                          <a:spcPts val="0"/>
                        </a:spcAft>
                        <a:buNone/>
                      </a:pPr>
                      <a:r>
                        <a:rPr lang="en-US" sz="1000" i="1"/>
                        <a:t>Pop. Basse - Décohabitation tendancielle</a:t>
                      </a:r>
                      <a:endParaRPr sz="1000" i="1"/>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T w="8650" cap="flat" cmpd="sng">
                      <a:solidFill>
                        <a:srgbClr val="000000"/>
                      </a:solidFill>
                      <a:prstDash val="solid"/>
                      <a:round/>
                      <a:headEnd type="none" w="sm" len="sm"/>
                      <a:tailEnd type="none" w="sm" len="sm"/>
                    </a:lnT>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tc>
                  <a:txBody>
                    <a:bodyPr/>
                    <a:lstStyle/>
                    <a:p>
                      <a:pPr marL="0" lvl="0" indent="0" algn="ctr" rtl="0">
                        <a:lnSpc>
                          <a:spcPct val="100000"/>
                        </a:lnSpc>
                        <a:spcBef>
                          <a:spcPts val="0"/>
                        </a:spcBef>
                        <a:spcAft>
                          <a:spcPts val="0"/>
                        </a:spcAft>
                        <a:buNone/>
                      </a:pPr>
                      <a:r>
                        <a:rPr lang="en-US" sz="1200"/>
                        <a:t>X%</a:t>
                      </a:r>
                      <a:endParaRPr sz="1200"/>
                    </a:p>
                  </a:txBody>
                  <a:tcPr marL="68575" marR="68575" marT="0" marB="0" anchor="ctr">
                    <a:lnL w="8650" cap="flat" cmpd="sng">
                      <a:solidFill>
                        <a:srgbClr val="000000"/>
                      </a:solidFill>
                      <a:prstDash val="solid"/>
                      <a:round/>
                      <a:headEnd type="none" w="sm" len="sm"/>
                      <a:tailEnd type="none" w="sm" len="sm"/>
                    </a:lnL>
                    <a:lnR w="8650" cap="flat" cmpd="sng">
                      <a:solidFill>
                        <a:srgbClr val="000000"/>
                      </a:solidFill>
                      <a:prstDash val="solid"/>
                      <a:round/>
                      <a:headEnd type="none" w="sm" len="sm"/>
                      <a:tailEnd type="none" w="sm" len="sm"/>
                    </a:lnR>
                    <a:lnB w="865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
        <p:nvSpPr>
          <p:cNvPr id="2" name="Google Shape;91;p14">
            <a:extLst>
              <a:ext uri="{FF2B5EF4-FFF2-40B4-BE49-F238E27FC236}">
                <a16:creationId xmlns:a16="http://schemas.microsoft.com/office/drawing/2014/main" id="{4D2AFAD5-1BA0-0C24-3F03-2FF40E63E7F4}"/>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E6CCFF36-9FEF-CE52-5B4F-8CD74FB816E3}"/>
              </a:ext>
            </a:extLst>
          </p:cNvPr>
          <p:cNvSpPr txBox="1">
            <a:spLocks/>
          </p:cNvSpPr>
          <p:nvPr/>
        </p:nvSpPr>
        <p:spPr>
          <a:xfrm>
            <a:off x="355025" y="903659"/>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dirty="0"/>
              <a:t>Estimation sur la </a:t>
            </a:r>
            <a:r>
              <a:rPr lang="en-US" sz="1100" dirty="0" err="1"/>
              <a:t>période</a:t>
            </a:r>
            <a:r>
              <a:rPr lang="en-US" sz="1100" dirty="0"/>
              <a:t> {{</a:t>
            </a:r>
            <a:r>
              <a:rPr lang="en-US" sz="1100" dirty="0" err="1"/>
              <a:t>layoutStart</a:t>
            </a:r>
            <a:r>
              <a:rPr lang="en-US" sz="1100" dirty="0"/>
              <a:t>}} – {{</a:t>
            </a:r>
            <a:r>
              <a:rPr lang="en-US" sz="1100" dirty="0" err="1"/>
              <a:t>layoutEnd</a:t>
            </a:r>
            <a:r>
              <a:rPr lang="en-US" sz="1100" dirty="0"/>
              <a:t>}} pour le {{</a:t>
            </a:r>
            <a:r>
              <a:rPr lang="en-US" sz="1100" dirty="0" err="1"/>
              <a:t>layoutDocumentType</a:t>
            </a:r>
            <a:r>
              <a:rPr lang="en-US" sz="1100" dirty="0"/>
              <a:t>}}</a:t>
            </a:r>
            <a:endParaRPr lang="en-US" sz="1100" i="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2"/>
          <p:cNvSpPr txBox="1"/>
          <p:nvPr/>
        </p:nvSpPr>
        <p:spPr>
          <a:xfrm>
            <a:off x="2577096" y="184525"/>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Indicateurs : Répartition des situations</a:t>
            </a:r>
            <a:endParaRPr sz="2400" b="1">
              <a:solidFill>
                <a:srgbClr val="262626"/>
              </a:solidFill>
            </a:endParaRPr>
          </a:p>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de mal-logements par type </a:t>
            </a:r>
            <a:endParaRPr sz="2400" b="1">
              <a:solidFill>
                <a:srgbClr val="262626"/>
              </a:solidFill>
            </a:endParaRPr>
          </a:p>
        </p:txBody>
      </p:sp>
      <p:pic>
        <p:nvPicPr>
          <p:cNvPr id="165" name="Google Shape;165;p22"/>
          <p:cNvPicPr preferRelativeResize="0"/>
          <p:nvPr/>
        </p:nvPicPr>
        <p:blipFill rotWithShape="1">
          <a:blip r:embed="rId3">
            <a:alphaModFix/>
          </a:blip>
          <a:srcRect l="4387" t="18633" r="4387"/>
          <a:stretch/>
        </p:blipFill>
        <p:spPr>
          <a:xfrm>
            <a:off x="2922871" y="1438024"/>
            <a:ext cx="4974349" cy="3100501"/>
          </a:xfrm>
          <a:prstGeom prst="rect">
            <a:avLst/>
          </a:prstGeom>
          <a:noFill/>
          <a:ln>
            <a:noFill/>
          </a:ln>
        </p:spPr>
      </p:pic>
      <p:sp>
        <p:nvSpPr>
          <p:cNvPr id="166" name="Google Shape;166;p22"/>
          <p:cNvSpPr/>
          <p:nvPr/>
        </p:nvSpPr>
        <p:spPr>
          <a:xfrm>
            <a:off x="5260800" y="4226675"/>
            <a:ext cx="550200" cy="117000"/>
          </a:xfrm>
          <a:prstGeom prst="roundRect">
            <a:avLst>
              <a:gd name="adj" fmla="val 1666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6265B7A4-9349-A4F0-28F8-D3D056729B9E}"/>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A5D5AEDF-E569-F0D5-71B3-84774F767AEA}"/>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3"/>
          <p:cNvSpPr txBox="1">
            <a:spLocks noGrp="1"/>
          </p:cNvSpPr>
          <p:nvPr>
            <p:ph type="body" idx="1"/>
          </p:nvPr>
        </p:nvSpPr>
        <p:spPr>
          <a:xfrm>
            <a:off x="2709800" y="2344050"/>
            <a:ext cx="5277600" cy="4554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US"/>
              <a:t>3. Comparaison des X scenarios retenus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4"/>
          <p:cNvSpPr txBox="1"/>
          <p:nvPr/>
        </p:nvSpPr>
        <p:spPr>
          <a:xfrm>
            <a:off x="2600446" y="209550"/>
            <a:ext cx="6267300" cy="461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Récapitulatif des </a:t>
            </a:r>
            <a:r>
              <a:rPr lang="en-US" sz="2400" b="1" i="1">
                <a:solidFill>
                  <a:srgbClr val="262626"/>
                </a:solidFill>
              </a:rPr>
              <a:t>X scénarios</a:t>
            </a:r>
            <a:r>
              <a:rPr lang="en-US" sz="2400" b="1">
                <a:solidFill>
                  <a:srgbClr val="262626"/>
                </a:solidFill>
              </a:rPr>
              <a:t> étudiés</a:t>
            </a:r>
            <a:endParaRPr sz="1200" i="1">
              <a:solidFill>
                <a:srgbClr val="262626"/>
              </a:solidFill>
            </a:endParaRPr>
          </a:p>
        </p:txBody>
      </p:sp>
      <p:graphicFrame>
        <p:nvGraphicFramePr>
          <p:cNvPr id="179" name="Google Shape;179;p24"/>
          <p:cNvGraphicFramePr/>
          <p:nvPr/>
        </p:nvGraphicFramePr>
        <p:xfrm>
          <a:off x="2154425" y="866100"/>
          <a:ext cx="6837225" cy="2983225"/>
        </p:xfrm>
        <a:graphic>
          <a:graphicData uri="http://schemas.openxmlformats.org/drawingml/2006/table">
            <a:tbl>
              <a:tblPr>
                <a:noFill/>
                <a:tableStyleId>{8782ED91-6AAA-4FC9-A8D7-22FAF3BB82A8}</a:tableStyleId>
              </a:tblPr>
              <a:tblGrid>
                <a:gridCol w="1528050">
                  <a:extLst>
                    <a:ext uri="{9D8B030D-6E8A-4147-A177-3AD203B41FA5}">
                      <a16:colId xmlns:a16="http://schemas.microsoft.com/office/drawing/2014/main" val="20000"/>
                    </a:ext>
                  </a:extLst>
                </a:gridCol>
                <a:gridCol w="1769725">
                  <a:extLst>
                    <a:ext uri="{9D8B030D-6E8A-4147-A177-3AD203B41FA5}">
                      <a16:colId xmlns:a16="http://schemas.microsoft.com/office/drawing/2014/main" val="20001"/>
                    </a:ext>
                  </a:extLst>
                </a:gridCol>
                <a:gridCol w="1769725">
                  <a:extLst>
                    <a:ext uri="{9D8B030D-6E8A-4147-A177-3AD203B41FA5}">
                      <a16:colId xmlns:a16="http://schemas.microsoft.com/office/drawing/2014/main" val="20002"/>
                    </a:ext>
                  </a:extLst>
                </a:gridCol>
                <a:gridCol w="1769725">
                  <a:extLst>
                    <a:ext uri="{9D8B030D-6E8A-4147-A177-3AD203B41FA5}">
                      <a16:colId xmlns:a16="http://schemas.microsoft.com/office/drawing/2014/main" val="20003"/>
                    </a:ext>
                  </a:extLst>
                </a:gridCol>
              </a:tblGrid>
              <a:tr h="409175">
                <a:tc>
                  <a:txBody>
                    <a:bodyPr/>
                    <a:lstStyle/>
                    <a:p>
                      <a:pPr marL="45720" marR="45720" lvl="0" indent="0" algn="l" rtl="0">
                        <a:lnSpc>
                          <a:spcPct val="115000"/>
                        </a:lnSpc>
                        <a:spcBef>
                          <a:spcPts val="0"/>
                        </a:spcBef>
                        <a:spcAft>
                          <a:spcPts val="0"/>
                        </a:spcAft>
                        <a:buNone/>
                      </a:pPr>
                      <a:r>
                        <a:rPr lang="en-US" sz="1200" b="1">
                          <a:solidFill>
                            <a:schemeClr val="dk2"/>
                          </a:solidFill>
                        </a:rPr>
                        <a:t>Critères</a:t>
                      </a:r>
                      <a:endParaRPr sz="1200" b="1">
                        <a:solidFill>
                          <a:schemeClr val="dk2"/>
                        </a:solidFill>
                      </a:endParaRPr>
                    </a:p>
                  </a:txBody>
                  <a:tcPr marL="28575" marR="28575" marT="19050" marB="19050" anchor="ctr">
                    <a:lnL w="9525" cap="flat" cmpd="sng">
                      <a:solidFill>
                        <a:schemeClr val="accent6">
                          <a:alpha val="0"/>
                        </a:scheme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ctr" rtl="0">
                        <a:lnSpc>
                          <a:spcPct val="115000"/>
                        </a:lnSpc>
                        <a:spcBef>
                          <a:spcPts val="0"/>
                        </a:spcBef>
                        <a:spcAft>
                          <a:spcPts val="0"/>
                        </a:spcAft>
                        <a:buNone/>
                      </a:pPr>
                      <a:r>
                        <a:rPr lang="en-US" sz="1200" b="1">
                          <a:solidFill>
                            <a:schemeClr val="dk2"/>
                          </a:solidFill>
                        </a:rPr>
                        <a:t>🟠 Tendanciel</a:t>
                      </a:r>
                      <a:endParaRPr sz="1200" b="1">
                        <a:solidFill>
                          <a:schemeClr val="dk2"/>
                        </a:solidFill>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ctr" rtl="0">
                        <a:lnSpc>
                          <a:spcPct val="115000"/>
                        </a:lnSpc>
                        <a:spcBef>
                          <a:spcPts val="0"/>
                        </a:spcBef>
                        <a:spcAft>
                          <a:spcPts val="0"/>
                        </a:spcAft>
                        <a:buNone/>
                      </a:pPr>
                      <a:r>
                        <a:rPr lang="en-US" sz="1200" b="1">
                          <a:solidFill>
                            <a:schemeClr val="dk2"/>
                          </a:solidFill>
                        </a:rPr>
                        <a:t>🟣 Accélération</a:t>
                      </a:r>
                      <a:endParaRPr sz="1200" b="1">
                        <a:solidFill>
                          <a:schemeClr val="dk2"/>
                        </a:solidFill>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solidFill>
                      <a:schemeClr val="accent3"/>
                    </a:solidFill>
                  </a:tcPr>
                </a:tc>
                <a:tc>
                  <a:txBody>
                    <a:bodyPr/>
                    <a:lstStyle/>
                    <a:p>
                      <a:pPr marL="45720" marR="45720" lvl="0" indent="0" algn="ctr" rtl="0">
                        <a:lnSpc>
                          <a:spcPct val="115000"/>
                        </a:lnSpc>
                        <a:spcBef>
                          <a:spcPts val="0"/>
                        </a:spcBef>
                        <a:spcAft>
                          <a:spcPts val="0"/>
                        </a:spcAft>
                        <a:buNone/>
                      </a:pPr>
                      <a:r>
                        <a:rPr lang="en-US" sz="1200" b="1">
                          <a:solidFill>
                            <a:schemeClr val="dk2"/>
                          </a:solidFill>
                        </a:rPr>
                        <a:t>🔵 Par défaut</a:t>
                      </a:r>
                      <a:endParaRPr sz="1200" b="1">
                        <a:solidFill>
                          <a:schemeClr val="dk2"/>
                        </a:solidFill>
                      </a:endParaRPr>
                    </a:p>
                  </a:txBody>
                  <a:tcPr marL="91425" marR="9142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extLst>
                  <a:ext uri="{0D108BD9-81ED-4DB2-BD59-A6C34878D82A}">
                    <a16:rowId xmlns:a16="http://schemas.microsoft.com/office/drawing/2014/main" val="10000"/>
                  </a:ext>
                </a:extLst>
              </a:tr>
              <a:tr h="287875">
                <a:tc>
                  <a:txBody>
                    <a:bodyPr/>
                    <a:lstStyle/>
                    <a:p>
                      <a:pPr marL="45720" marR="45720" lvl="0" indent="0" algn="l" rtl="0">
                        <a:lnSpc>
                          <a:spcPct val="115000"/>
                        </a:lnSpc>
                        <a:spcBef>
                          <a:spcPts val="0"/>
                        </a:spcBef>
                        <a:spcAft>
                          <a:spcPts val="0"/>
                        </a:spcAft>
                        <a:buNone/>
                      </a:pPr>
                      <a:r>
                        <a:rPr lang="en-US" sz="1100" b="1">
                          <a:solidFill>
                            <a:schemeClr val="accent5"/>
                          </a:solidFill>
                        </a:rPr>
                        <a:t>Population </a:t>
                      </a:r>
                      <a:r>
                        <a:rPr lang="en-US" sz="1100" b="1" i="1">
                          <a:solidFill>
                            <a:schemeClr val="accent5"/>
                          </a:solidFill>
                        </a:rPr>
                        <a:t>[horizon]</a:t>
                      </a:r>
                      <a:endParaRPr sz="1100" b="1" i="1">
                        <a:solidFill>
                          <a:schemeClr val="accent5"/>
                        </a:solidFill>
                      </a:endParaRPr>
                    </a:p>
                  </a:txBody>
                  <a:tcPr marL="28575" marR="28575" marT="19050" marB="19050" anchor="ctr">
                    <a:lnL w="9525" cap="flat" cmpd="sng">
                      <a:solidFill>
                        <a:schemeClr val="accent6">
                          <a:alpha val="0"/>
                        </a:scheme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solidFill>
                            <a:schemeClr val="dk1"/>
                          </a:solidFill>
                        </a:rPr>
                        <a:t>[nom scenario] X</a:t>
                      </a:r>
                      <a:r>
                        <a:rPr lang="en-US" sz="1100">
                          <a:solidFill>
                            <a:schemeClr val="dk1"/>
                          </a:solidFill>
                        </a:rPr>
                        <a:t> </a:t>
                      </a:r>
                      <a:r>
                        <a:rPr lang="en-US" sz="1100" i="1"/>
                        <a:t>hab.</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solidFill>
                            <a:schemeClr val="dk1"/>
                          </a:solidFill>
                        </a:rPr>
                        <a:t>[nom scenario] X</a:t>
                      </a:r>
                      <a:r>
                        <a:rPr lang="en-US" sz="1100"/>
                        <a:t> hab.</a:t>
                      </a:r>
                      <a:endParaRPr sz="1100"/>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solidFill>
                      <a:schemeClr val="accent3"/>
                    </a:solidFill>
                  </a:tcPr>
                </a:tc>
                <a:tc>
                  <a:txBody>
                    <a:bodyPr/>
                    <a:lstStyle/>
                    <a:p>
                      <a:pPr marL="0" marR="45720" lvl="0" indent="0" algn="l" rtl="0">
                        <a:lnSpc>
                          <a:spcPct val="115000"/>
                        </a:lnSpc>
                        <a:spcBef>
                          <a:spcPts val="0"/>
                        </a:spcBef>
                        <a:spcAft>
                          <a:spcPts val="0"/>
                        </a:spcAft>
                        <a:buNone/>
                      </a:pPr>
                      <a:r>
                        <a:rPr lang="en-US" sz="1100" i="1">
                          <a:solidFill>
                            <a:schemeClr val="dk1"/>
                          </a:solidFill>
                        </a:rPr>
                        <a:t>[nom scenario] X</a:t>
                      </a:r>
                      <a:r>
                        <a:rPr lang="en-US" sz="1100">
                          <a:solidFill>
                            <a:schemeClr val="dk1"/>
                          </a:solidFill>
                        </a:rPr>
                        <a:t> </a:t>
                      </a:r>
                      <a:r>
                        <a:rPr lang="en-US" sz="1100"/>
                        <a:t>hab.</a:t>
                      </a:r>
                      <a:endParaRPr sz="1100"/>
                    </a:p>
                  </a:txBody>
                  <a:tcPr marL="91425" marR="9142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extLst>
                  <a:ext uri="{0D108BD9-81ED-4DB2-BD59-A6C34878D82A}">
                    <a16:rowId xmlns:a16="http://schemas.microsoft.com/office/drawing/2014/main" val="10001"/>
                  </a:ext>
                </a:extLst>
              </a:tr>
              <a:tr h="287875">
                <a:tc>
                  <a:txBody>
                    <a:bodyPr/>
                    <a:lstStyle/>
                    <a:p>
                      <a:pPr marL="45720" marR="45720" lvl="0" indent="0" algn="l" rtl="0">
                        <a:lnSpc>
                          <a:spcPct val="115000"/>
                        </a:lnSpc>
                        <a:spcBef>
                          <a:spcPts val="0"/>
                        </a:spcBef>
                        <a:spcAft>
                          <a:spcPts val="0"/>
                        </a:spcAft>
                        <a:buNone/>
                      </a:pPr>
                      <a:r>
                        <a:rPr lang="en-US" sz="1100" b="1">
                          <a:solidFill>
                            <a:schemeClr val="accent5"/>
                          </a:solidFill>
                        </a:rPr>
                        <a:t>Ménages </a:t>
                      </a:r>
                      <a:r>
                        <a:rPr lang="en-US" sz="1100" b="1" i="1">
                          <a:solidFill>
                            <a:schemeClr val="accent5"/>
                          </a:solidFill>
                        </a:rPr>
                        <a:t>[horizon]</a:t>
                      </a:r>
                      <a:endParaRPr sz="1100" b="1" i="1">
                        <a:solidFill>
                          <a:schemeClr val="accent5"/>
                        </a:solidFill>
                      </a:endParaRPr>
                    </a:p>
                  </a:txBody>
                  <a:tcPr marL="28575" marR="28575" marT="19050" marB="19050" anchor="ctr">
                    <a:lnL w="9525" cap="flat" cmpd="sng">
                      <a:solidFill>
                        <a:schemeClr val="accent6">
                          <a:alpha val="0"/>
                        </a:scheme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a:t> X Rés. Principales</a:t>
                      </a:r>
                      <a:endParaRPr sz="1100"/>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Clr>
                          <a:schemeClr val="dk1"/>
                        </a:buClr>
                        <a:buSzPts val="1100"/>
                        <a:buFont typeface="Arial"/>
                        <a:buNone/>
                      </a:pPr>
                      <a:r>
                        <a:rPr lang="en-US" sz="1100">
                          <a:solidFill>
                            <a:schemeClr val="dk1"/>
                          </a:solidFill>
                        </a:rPr>
                        <a:t>X Rés. Principales</a:t>
                      </a:r>
                      <a:endParaRPr sz="1100" b="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solidFill>
                      <a:schemeClr val="accent3"/>
                    </a:solidFill>
                  </a:tcPr>
                </a:tc>
                <a:tc>
                  <a:txBody>
                    <a:bodyPr/>
                    <a:lstStyle/>
                    <a:p>
                      <a:pPr marL="45720" marR="45720" lvl="0" indent="0" algn="l" rtl="0">
                        <a:lnSpc>
                          <a:spcPct val="115000"/>
                        </a:lnSpc>
                        <a:spcBef>
                          <a:spcPts val="0"/>
                        </a:spcBef>
                        <a:spcAft>
                          <a:spcPts val="0"/>
                        </a:spcAft>
                        <a:buClr>
                          <a:schemeClr val="dk1"/>
                        </a:buClr>
                        <a:buSzPts val="1100"/>
                        <a:buFont typeface="Arial"/>
                        <a:buNone/>
                      </a:pPr>
                      <a:r>
                        <a:rPr lang="en-US" sz="1100">
                          <a:solidFill>
                            <a:schemeClr val="dk1"/>
                          </a:solidFill>
                        </a:rPr>
                        <a:t>X Rés. Principales</a:t>
                      </a:r>
                      <a:endParaRPr sz="1100"/>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extLst>
                  <a:ext uri="{0D108BD9-81ED-4DB2-BD59-A6C34878D82A}">
                    <a16:rowId xmlns:a16="http://schemas.microsoft.com/office/drawing/2014/main" val="10002"/>
                  </a:ext>
                </a:extLst>
              </a:tr>
              <a:tr h="468825">
                <a:tc>
                  <a:txBody>
                    <a:bodyPr/>
                    <a:lstStyle/>
                    <a:p>
                      <a:pPr marL="45720" marR="45720" lvl="0" indent="0" algn="l" rtl="0">
                        <a:lnSpc>
                          <a:spcPct val="115000"/>
                        </a:lnSpc>
                        <a:spcBef>
                          <a:spcPts val="0"/>
                        </a:spcBef>
                        <a:spcAft>
                          <a:spcPts val="0"/>
                        </a:spcAft>
                        <a:buNone/>
                      </a:pPr>
                      <a:r>
                        <a:rPr lang="en-US" sz="1100" b="1">
                          <a:solidFill>
                            <a:schemeClr val="accent5"/>
                          </a:solidFill>
                        </a:rPr>
                        <a:t>Évolution démographique</a:t>
                      </a:r>
                      <a:endParaRPr sz="1100" b="1">
                        <a:solidFill>
                          <a:schemeClr val="accent5"/>
                        </a:solidFill>
                      </a:endParaRPr>
                    </a:p>
                  </a:txBody>
                  <a:tcPr marL="28575" marR="28575" marT="19050" marB="19050" anchor="ctr">
                    <a:lnL w="9525" cap="flat" cmpd="sng">
                      <a:solidFill>
                        <a:schemeClr val="accent6">
                          <a:alpha val="0"/>
                        </a:scheme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t>Tendance actuelle</a:t>
                      </a:r>
                      <a:br>
                        <a:rPr lang="en-US" sz="1100" i="1"/>
                      </a:br>
                      <a:r>
                        <a:rPr lang="en-US" sz="1100" i="1"/>
                        <a:t>[Taille des ménages à horizon]</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t>Décohabitation accélérée</a:t>
                      </a:r>
                      <a:endParaRPr sz="1100" i="1"/>
                    </a:p>
                    <a:p>
                      <a:pPr marL="45720" marR="45720" lvl="0" indent="0" algn="l" rtl="0">
                        <a:lnSpc>
                          <a:spcPct val="115000"/>
                        </a:lnSpc>
                        <a:spcBef>
                          <a:spcPts val="0"/>
                        </a:spcBef>
                        <a:spcAft>
                          <a:spcPts val="0"/>
                        </a:spcAft>
                        <a:buClr>
                          <a:schemeClr val="dk1"/>
                        </a:buClr>
                        <a:buSzPts val="1100"/>
                        <a:buFont typeface="Arial"/>
                        <a:buNone/>
                      </a:pPr>
                      <a:r>
                        <a:rPr lang="en-US" sz="1100" i="1">
                          <a:solidFill>
                            <a:schemeClr val="dk1"/>
                          </a:solidFill>
                        </a:rPr>
                        <a:t>[Taille des ménages à horizon]</a:t>
                      </a:r>
                      <a:endParaRPr sz="1100" b="1"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solidFill>
                      <a:schemeClr val="accent3"/>
                    </a:solidFill>
                  </a:tcPr>
                </a:tc>
                <a:tc>
                  <a:txBody>
                    <a:bodyPr/>
                    <a:lstStyle/>
                    <a:p>
                      <a:pPr marL="0" marR="45720" lvl="0" indent="0" algn="l" rtl="0">
                        <a:lnSpc>
                          <a:spcPct val="115000"/>
                        </a:lnSpc>
                        <a:spcBef>
                          <a:spcPts val="0"/>
                        </a:spcBef>
                        <a:spcAft>
                          <a:spcPts val="0"/>
                        </a:spcAft>
                        <a:buNone/>
                      </a:pPr>
                      <a:r>
                        <a:rPr lang="en-US" sz="1100" i="1"/>
                        <a:t>Tendance actuelle</a:t>
                      </a:r>
                      <a:endParaRPr sz="1100" i="1"/>
                    </a:p>
                    <a:p>
                      <a:pPr marL="45720" marR="45720" lvl="0" indent="0" algn="l" rtl="0">
                        <a:lnSpc>
                          <a:spcPct val="115000"/>
                        </a:lnSpc>
                        <a:spcBef>
                          <a:spcPts val="0"/>
                        </a:spcBef>
                        <a:spcAft>
                          <a:spcPts val="0"/>
                        </a:spcAft>
                        <a:buClr>
                          <a:schemeClr val="dk1"/>
                        </a:buClr>
                        <a:buSzPts val="1100"/>
                        <a:buFont typeface="Arial"/>
                        <a:buNone/>
                      </a:pPr>
                      <a:r>
                        <a:rPr lang="en-US" sz="1100" i="1">
                          <a:solidFill>
                            <a:schemeClr val="dk1"/>
                          </a:solidFill>
                        </a:rPr>
                        <a:t>[Taille des ménages à horizon]</a:t>
                      </a:r>
                      <a:endParaRPr sz="1100" i="1"/>
                    </a:p>
                  </a:txBody>
                  <a:tcPr marL="91425" marR="9142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extLst>
                  <a:ext uri="{0D108BD9-81ED-4DB2-BD59-A6C34878D82A}">
                    <a16:rowId xmlns:a16="http://schemas.microsoft.com/office/drawing/2014/main" val="10003"/>
                  </a:ext>
                </a:extLst>
              </a:tr>
              <a:tr h="287875">
                <a:tc>
                  <a:txBody>
                    <a:bodyPr/>
                    <a:lstStyle/>
                    <a:p>
                      <a:pPr marL="45720" marR="45720" lvl="0" indent="0" algn="l" rtl="0">
                        <a:lnSpc>
                          <a:spcPct val="115000"/>
                        </a:lnSpc>
                        <a:spcBef>
                          <a:spcPts val="0"/>
                        </a:spcBef>
                        <a:spcAft>
                          <a:spcPts val="0"/>
                        </a:spcAft>
                        <a:buNone/>
                      </a:pPr>
                      <a:r>
                        <a:rPr lang="en-US" sz="1100" b="1">
                          <a:solidFill>
                            <a:schemeClr val="accent5"/>
                          </a:solidFill>
                        </a:rPr>
                        <a:t>Réduction vacance</a:t>
                      </a:r>
                      <a:endParaRPr sz="1100" b="1">
                        <a:solidFill>
                          <a:schemeClr val="accent5"/>
                        </a:solidFill>
                      </a:endParaRPr>
                    </a:p>
                  </a:txBody>
                  <a:tcPr marL="28575" marR="28575" marT="19050" marB="19050" anchor="ctr">
                    <a:lnL w="9525" cap="flat" cmpd="sng">
                      <a:solidFill>
                        <a:schemeClr val="accent6">
                          <a:alpha val="0"/>
                        </a:scheme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Clr>
                          <a:schemeClr val="dk1"/>
                        </a:buClr>
                        <a:buSzPts val="1100"/>
                        <a:buFont typeface="Arial"/>
                        <a:buNone/>
                      </a:pPr>
                      <a:r>
                        <a:rPr lang="en-US" sz="1100" i="1">
                          <a:solidFill>
                            <a:schemeClr val="dk1"/>
                          </a:solidFill>
                        </a:rPr>
                        <a:t>X% </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solidFill>
                            <a:schemeClr val="dk1"/>
                          </a:solidFill>
                        </a:rPr>
                        <a:t>X% </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solidFill>
                      <a:schemeClr val="accent3"/>
                    </a:solidFill>
                  </a:tcPr>
                </a:tc>
                <a:tc>
                  <a:txBody>
                    <a:bodyPr/>
                    <a:lstStyle/>
                    <a:p>
                      <a:pPr marL="45720" marR="45720" lvl="0" indent="0" algn="l" rtl="0">
                        <a:lnSpc>
                          <a:spcPct val="115000"/>
                        </a:lnSpc>
                        <a:spcBef>
                          <a:spcPts val="0"/>
                        </a:spcBef>
                        <a:spcAft>
                          <a:spcPts val="0"/>
                        </a:spcAft>
                        <a:buNone/>
                      </a:pPr>
                      <a:r>
                        <a:rPr lang="en-US" sz="1100" i="1"/>
                        <a:t>Aucune</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extLst>
                  <a:ext uri="{0D108BD9-81ED-4DB2-BD59-A6C34878D82A}">
                    <a16:rowId xmlns:a16="http://schemas.microsoft.com/office/drawing/2014/main" val="10004"/>
                  </a:ext>
                </a:extLst>
              </a:tr>
              <a:tr h="555175">
                <a:tc>
                  <a:txBody>
                    <a:bodyPr/>
                    <a:lstStyle/>
                    <a:p>
                      <a:pPr marL="45720" marR="45720" lvl="0" indent="0" algn="l" rtl="0">
                        <a:lnSpc>
                          <a:spcPct val="115000"/>
                        </a:lnSpc>
                        <a:spcBef>
                          <a:spcPts val="0"/>
                        </a:spcBef>
                        <a:spcAft>
                          <a:spcPts val="0"/>
                        </a:spcAft>
                        <a:buNone/>
                      </a:pPr>
                      <a:r>
                        <a:rPr lang="en-US" sz="1100" b="1">
                          <a:solidFill>
                            <a:schemeClr val="accent5"/>
                          </a:solidFill>
                        </a:rPr>
                        <a:t>Résidences secondaires</a:t>
                      </a:r>
                      <a:endParaRPr sz="1100" b="1">
                        <a:solidFill>
                          <a:schemeClr val="accent5"/>
                        </a:solidFill>
                      </a:endParaRPr>
                    </a:p>
                  </a:txBody>
                  <a:tcPr marL="28575" marR="28575" marT="19050" marB="19050" anchor="ctr">
                    <a:lnL w="9525" cap="flat" cmpd="sng">
                      <a:solidFill>
                        <a:schemeClr val="accent6">
                          <a:alpha val="0"/>
                        </a:scheme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t>X% </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Clr>
                          <a:schemeClr val="dk1"/>
                        </a:buClr>
                        <a:buSzPts val="1100"/>
                        <a:buFont typeface="Arial"/>
                        <a:buNone/>
                      </a:pPr>
                      <a:r>
                        <a:rPr lang="en-US" sz="1100" i="1">
                          <a:solidFill>
                            <a:schemeClr val="dk1"/>
                          </a:solidFill>
                        </a:rPr>
                        <a:t>X% </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solidFill>
                      <a:schemeClr val="accent3"/>
                    </a:solidFill>
                  </a:tcPr>
                </a:tc>
                <a:tc>
                  <a:txBody>
                    <a:bodyPr/>
                    <a:lstStyle/>
                    <a:p>
                      <a:pPr marL="0" marR="45720" lvl="0" indent="0" algn="l" rtl="0">
                        <a:lnSpc>
                          <a:spcPct val="115000"/>
                        </a:lnSpc>
                        <a:spcBef>
                          <a:spcPts val="0"/>
                        </a:spcBef>
                        <a:spcAft>
                          <a:spcPts val="0"/>
                        </a:spcAft>
                        <a:buNone/>
                      </a:pPr>
                      <a:r>
                        <a:rPr lang="en-US" sz="1100" i="1"/>
                        <a:t> Stable</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extLst>
                  <a:ext uri="{0D108BD9-81ED-4DB2-BD59-A6C34878D82A}">
                    <a16:rowId xmlns:a16="http://schemas.microsoft.com/office/drawing/2014/main" val="10005"/>
                  </a:ext>
                </a:extLst>
              </a:tr>
              <a:tr h="555175">
                <a:tc>
                  <a:txBody>
                    <a:bodyPr/>
                    <a:lstStyle/>
                    <a:p>
                      <a:pPr marL="45720" marR="45720" lvl="0" indent="0" algn="l" rtl="0">
                        <a:lnSpc>
                          <a:spcPct val="115000"/>
                        </a:lnSpc>
                        <a:spcBef>
                          <a:spcPts val="0"/>
                        </a:spcBef>
                        <a:spcAft>
                          <a:spcPts val="0"/>
                        </a:spcAft>
                        <a:buNone/>
                      </a:pPr>
                      <a:r>
                        <a:rPr lang="en-US" sz="1100" b="1">
                          <a:solidFill>
                            <a:schemeClr val="accent5"/>
                          </a:solidFill>
                        </a:rPr>
                        <a:t>Résorption mal-logement</a:t>
                      </a:r>
                      <a:endParaRPr sz="1100" b="1">
                        <a:solidFill>
                          <a:schemeClr val="accent5"/>
                        </a:solidFill>
                      </a:endParaRPr>
                    </a:p>
                  </a:txBody>
                  <a:tcPr marL="28575" marR="28575" marT="19050" marB="19050" anchor="ctr">
                    <a:lnL w="9525" cap="flat" cmpd="sng">
                      <a:solidFill>
                        <a:schemeClr val="accent6">
                          <a:alpha val="0"/>
                        </a:scheme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t>D'ici xxxx</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tc>
                  <a:txBody>
                    <a:bodyPr/>
                    <a:lstStyle/>
                    <a:p>
                      <a:pPr marL="45720" marR="45720" lvl="0" indent="0" algn="l" rtl="0">
                        <a:lnSpc>
                          <a:spcPct val="115000"/>
                        </a:lnSpc>
                        <a:spcBef>
                          <a:spcPts val="0"/>
                        </a:spcBef>
                        <a:spcAft>
                          <a:spcPts val="0"/>
                        </a:spcAft>
                        <a:buNone/>
                      </a:pPr>
                      <a:r>
                        <a:rPr lang="en-US" sz="1100" i="1"/>
                        <a:t>D'ici xxxx</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solidFill>
                      <a:schemeClr val="accent3"/>
                    </a:solidFill>
                  </a:tcPr>
                </a:tc>
                <a:tc>
                  <a:txBody>
                    <a:bodyPr/>
                    <a:lstStyle/>
                    <a:p>
                      <a:pPr marL="45720" marR="45720" lvl="0" indent="0" algn="l" rtl="0">
                        <a:lnSpc>
                          <a:spcPct val="115000"/>
                        </a:lnSpc>
                        <a:spcBef>
                          <a:spcPts val="0"/>
                        </a:spcBef>
                        <a:spcAft>
                          <a:spcPts val="0"/>
                        </a:spcAft>
                        <a:buNone/>
                      </a:pPr>
                      <a:r>
                        <a:rPr lang="en-US" sz="1100" i="1"/>
                        <a:t>D'ici xxxx</a:t>
                      </a:r>
                      <a:endParaRPr sz="1100" i="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accent6">
                          <a:alpha val="0"/>
                        </a:schemeClr>
                      </a:solidFill>
                      <a:prstDash val="solid"/>
                      <a:round/>
                      <a:headEnd type="none" w="sm" len="sm"/>
                      <a:tailEnd type="none" w="sm" len="sm"/>
                    </a:lnT>
                    <a:lnB w="9525" cap="flat" cmpd="sng">
                      <a:solidFill>
                        <a:schemeClr val="accent6">
                          <a:alpha val="0"/>
                        </a:schemeClr>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
        <p:nvSpPr>
          <p:cNvPr id="180" name="Google Shape;180;p24"/>
          <p:cNvSpPr txBox="1"/>
          <p:nvPr/>
        </p:nvSpPr>
        <p:spPr>
          <a:xfrm flipH="1">
            <a:off x="2600450" y="4166975"/>
            <a:ext cx="6171600" cy="742200"/>
          </a:xfrm>
          <a:prstGeom prst="rect">
            <a:avLst/>
          </a:prstGeom>
          <a:solidFill>
            <a:schemeClr val="accent3"/>
          </a:solid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US" sz="1100" b="1" u="sng">
                <a:solidFill>
                  <a:schemeClr val="dk1"/>
                </a:solidFill>
              </a:rPr>
              <a:t>Pourquoi avoir choisir le scenario [ nom du scenario privilégié ] :</a:t>
            </a:r>
            <a:endParaRPr sz="1100" u="sng">
              <a:solidFill>
                <a:schemeClr val="dk1"/>
              </a:solidFill>
            </a:endParaRPr>
          </a:p>
          <a:p>
            <a:pPr marL="0" lvl="0" indent="0" algn="l" rtl="0">
              <a:lnSpc>
                <a:spcPct val="115000"/>
              </a:lnSpc>
              <a:spcBef>
                <a:spcPts val="1200"/>
              </a:spcBef>
              <a:spcAft>
                <a:spcPts val="1200"/>
              </a:spcAft>
              <a:buNone/>
            </a:pPr>
            <a:endParaRPr sz="1100">
              <a:solidFill>
                <a:schemeClr val="dk1"/>
              </a:solidFill>
            </a:endParaRPr>
          </a:p>
        </p:txBody>
      </p:sp>
      <p:sp>
        <p:nvSpPr>
          <p:cNvPr id="2" name="Google Shape;91;p14">
            <a:extLst>
              <a:ext uri="{FF2B5EF4-FFF2-40B4-BE49-F238E27FC236}">
                <a16:creationId xmlns:a16="http://schemas.microsoft.com/office/drawing/2014/main" id="{E2968BBA-C3CE-87EA-1D41-65760BC0F6CF}"/>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41A200EC-57ED-8FDC-23EE-195FB515939A}"/>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5"/>
          <p:cNvSpPr txBox="1"/>
          <p:nvPr/>
        </p:nvSpPr>
        <p:spPr>
          <a:xfrm>
            <a:off x="2600446" y="209550"/>
            <a:ext cx="6267300" cy="461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Comparaison des besoins par scénario</a:t>
            </a:r>
            <a:endParaRPr sz="1200" i="1">
              <a:solidFill>
                <a:srgbClr val="262626"/>
              </a:solidFill>
            </a:endParaRPr>
          </a:p>
        </p:txBody>
      </p:sp>
      <p:sp>
        <p:nvSpPr>
          <p:cNvPr id="188" name="Google Shape;188;p25"/>
          <p:cNvSpPr txBox="1"/>
          <p:nvPr/>
        </p:nvSpPr>
        <p:spPr>
          <a:xfrm>
            <a:off x="2600446" y="617725"/>
            <a:ext cx="6267300" cy="4002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000" i="1">
                <a:solidFill>
                  <a:srgbClr val="262626"/>
                </a:solidFill>
              </a:rPr>
              <a:t>Période document xxxx-xxxx</a:t>
            </a:r>
            <a:endParaRPr sz="800" i="1">
              <a:solidFill>
                <a:srgbClr val="262626"/>
              </a:solidFill>
            </a:endParaRPr>
          </a:p>
        </p:txBody>
      </p:sp>
      <p:graphicFrame>
        <p:nvGraphicFramePr>
          <p:cNvPr id="189" name="Google Shape;189;p25"/>
          <p:cNvGraphicFramePr/>
          <p:nvPr/>
        </p:nvGraphicFramePr>
        <p:xfrm>
          <a:off x="2191725" y="1064650"/>
          <a:ext cx="6804500" cy="3853187"/>
        </p:xfrm>
        <a:graphic>
          <a:graphicData uri="http://schemas.openxmlformats.org/drawingml/2006/table">
            <a:tbl>
              <a:tblPr>
                <a:noFill/>
                <a:tableStyleId>{8782ED91-6AAA-4FC9-A8D7-22FAF3BB82A8}</a:tableStyleId>
              </a:tblPr>
              <a:tblGrid>
                <a:gridCol w="1701125">
                  <a:extLst>
                    <a:ext uri="{9D8B030D-6E8A-4147-A177-3AD203B41FA5}">
                      <a16:colId xmlns:a16="http://schemas.microsoft.com/office/drawing/2014/main" val="20000"/>
                    </a:ext>
                  </a:extLst>
                </a:gridCol>
                <a:gridCol w="1701125">
                  <a:extLst>
                    <a:ext uri="{9D8B030D-6E8A-4147-A177-3AD203B41FA5}">
                      <a16:colId xmlns:a16="http://schemas.microsoft.com/office/drawing/2014/main" val="20001"/>
                    </a:ext>
                  </a:extLst>
                </a:gridCol>
                <a:gridCol w="1701125">
                  <a:extLst>
                    <a:ext uri="{9D8B030D-6E8A-4147-A177-3AD203B41FA5}">
                      <a16:colId xmlns:a16="http://schemas.microsoft.com/office/drawing/2014/main" val="20002"/>
                    </a:ext>
                  </a:extLst>
                </a:gridCol>
                <a:gridCol w="1701125">
                  <a:extLst>
                    <a:ext uri="{9D8B030D-6E8A-4147-A177-3AD203B41FA5}">
                      <a16:colId xmlns:a16="http://schemas.microsoft.com/office/drawing/2014/main" val="20003"/>
                    </a:ext>
                  </a:extLst>
                </a:gridCol>
              </a:tblGrid>
              <a:tr h="350950">
                <a:tc>
                  <a:txBody>
                    <a:bodyPr/>
                    <a:lstStyle/>
                    <a:p>
                      <a:pPr marL="0" lvl="0" indent="0" algn="ctr" rtl="0">
                        <a:lnSpc>
                          <a:spcPct val="115000"/>
                        </a:lnSpc>
                        <a:spcBef>
                          <a:spcPts val="0"/>
                        </a:spcBef>
                        <a:spcAft>
                          <a:spcPts val="0"/>
                        </a:spcAft>
                        <a:buNone/>
                      </a:pPr>
                      <a:r>
                        <a:rPr lang="en-US" b="1"/>
                        <a:t>Type de besoin</a:t>
                      </a:r>
                      <a:endParaRPr b="1"/>
                    </a:p>
                  </a:txBody>
                  <a:tcPr marL="28575" marR="0" marT="19050" marB="19050" anchor="ctr">
                    <a:lnL w="9525" cap="flat" cmpd="sng">
                      <a:solidFill>
                        <a:srgbClr val="CCCCCC">
                          <a:alpha val="0"/>
                        </a:srgb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b="1"/>
                        <a:t>🟠  Tendanciel</a:t>
                      </a:r>
                      <a:endParaRPr b="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b="1"/>
                        <a:t>🟣 Accélération</a:t>
                      </a:r>
                      <a:endParaRPr b="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b="1">
                          <a:solidFill>
                            <a:schemeClr val="dk1"/>
                          </a:solidFill>
                        </a:rPr>
                        <a:t>🔵</a:t>
                      </a:r>
                      <a:r>
                        <a:rPr lang="en-US" b="1"/>
                        <a:t> Par défaut</a:t>
                      </a:r>
                      <a:endParaRPr b="1"/>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0"/>
                  </a:ext>
                </a:extLst>
              </a:tr>
              <a:tr h="498700">
                <a:tc>
                  <a:txBody>
                    <a:bodyPr/>
                    <a:lstStyle/>
                    <a:p>
                      <a:pPr marL="0" lvl="0" indent="0" algn="ctr" rtl="0">
                        <a:lnSpc>
                          <a:spcPct val="115000"/>
                        </a:lnSpc>
                        <a:spcBef>
                          <a:spcPts val="0"/>
                        </a:spcBef>
                        <a:spcAft>
                          <a:spcPts val="0"/>
                        </a:spcAft>
                        <a:buNone/>
                      </a:pPr>
                      <a:r>
                        <a:rPr lang="en-US" sz="1200" b="1"/>
                        <a:t>🏗️ Constructions neuves</a:t>
                      </a:r>
                      <a:endParaRPr sz="1200" b="1"/>
                    </a:p>
                  </a:txBody>
                  <a:tcPr marL="28575" marR="28575" marT="19050" marB="19050"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extLst>
                  <a:ext uri="{0D108BD9-81ED-4DB2-BD59-A6C34878D82A}">
                    <a16:rowId xmlns:a16="http://schemas.microsoft.com/office/drawing/2014/main" val="10001"/>
                  </a:ext>
                </a:extLst>
              </a:tr>
              <a:tr h="447725">
                <a:tc>
                  <a:txBody>
                    <a:bodyPr/>
                    <a:lstStyle/>
                    <a:p>
                      <a:pPr marL="0" lvl="0" indent="0" algn="ctr" rtl="0">
                        <a:lnSpc>
                          <a:spcPct val="115000"/>
                        </a:lnSpc>
                        <a:spcBef>
                          <a:spcPts val="0"/>
                        </a:spcBef>
                        <a:spcAft>
                          <a:spcPts val="0"/>
                        </a:spcAft>
                        <a:buNone/>
                      </a:pPr>
                      <a:r>
                        <a:rPr lang="en-US" sz="1200"/>
                        <a:t>Croissance démographique</a:t>
                      </a:r>
                      <a:endParaRPr sz="1200"/>
                    </a:p>
                  </a:txBody>
                  <a:tcPr marL="28575" marR="28575" marT="19050" marB="19050"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extLst>
                  <a:ext uri="{0D108BD9-81ED-4DB2-BD59-A6C34878D82A}">
                    <a16:rowId xmlns:a16="http://schemas.microsoft.com/office/drawing/2014/main" val="10002"/>
                  </a:ext>
                </a:extLst>
              </a:tr>
              <a:tr h="332475">
                <a:tc>
                  <a:txBody>
                    <a:bodyPr/>
                    <a:lstStyle/>
                    <a:p>
                      <a:pPr marL="0" lvl="0" indent="0" algn="ctr" rtl="0">
                        <a:lnSpc>
                          <a:spcPct val="115000"/>
                        </a:lnSpc>
                        <a:spcBef>
                          <a:spcPts val="0"/>
                        </a:spcBef>
                        <a:spcAft>
                          <a:spcPts val="0"/>
                        </a:spcAft>
                        <a:buNone/>
                      </a:pPr>
                      <a:r>
                        <a:rPr lang="en-US" sz="1200"/>
                        <a:t>Fluidité du marché</a:t>
                      </a:r>
                      <a:endParaRPr sz="1200"/>
                    </a:p>
                  </a:txBody>
                  <a:tcPr marL="28575" marR="28575" marT="19050" marB="19050"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extLst>
                  <a:ext uri="{0D108BD9-81ED-4DB2-BD59-A6C34878D82A}">
                    <a16:rowId xmlns:a16="http://schemas.microsoft.com/office/drawing/2014/main" val="10003"/>
                  </a:ext>
                </a:extLst>
              </a:tr>
              <a:tr h="332475">
                <a:tc>
                  <a:txBody>
                    <a:bodyPr/>
                    <a:lstStyle/>
                    <a:p>
                      <a:pPr marL="0" lvl="0" indent="0" algn="ctr" rtl="0">
                        <a:lnSpc>
                          <a:spcPct val="115000"/>
                        </a:lnSpc>
                        <a:spcBef>
                          <a:spcPts val="0"/>
                        </a:spcBef>
                        <a:spcAft>
                          <a:spcPts val="0"/>
                        </a:spcAft>
                        <a:buNone/>
                      </a:pPr>
                      <a:r>
                        <a:rPr lang="en-US" sz="1200"/>
                        <a:t>Résorption mal-logement</a:t>
                      </a:r>
                      <a:endParaRPr sz="1200"/>
                    </a:p>
                  </a:txBody>
                  <a:tcPr marL="28575" marR="28575" marT="19050" marB="19050"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extLst>
                  <a:ext uri="{0D108BD9-81ED-4DB2-BD59-A6C34878D82A}">
                    <a16:rowId xmlns:a16="http://schemas.microsoft.com/office/drawing/2014/main" val="10004"/>
                  </a:ext>
                </a:extLst>
              </a:tr>
              <a:tr h="332475">
                <a:tc>
                  <a:txBody>
                    <a:bodyPr/>
                    <a:lstStyle/>
                    <a:p>
                      <a:pPr marL="0" lvl="0" indent="0" algn="ctr" rtl="0">
                        <a:lnSpc>
                          <a:spcPct val="115000"/>
                        </a:lnSpc>
                        <a:spcBef>
                          <a:spcPts val="0"/>
                        </a:spcBef>
                        <a:spcAft>
                          <a:spcPts val="0"/>
                        </a:spcAft>
                        <a:buNone/>
                      </a:pPr>
                      <a:r>
                        <a:rPr lang="en-US" sz="1200"/>
                        <a:t>Résidences secondaires</a:t>
                      </a:r>
                      <a:endParaRPr sz="1200"/>
                    </a:p>
                  </a:txBody>
                  <a:tcPr marL="28575" marR="28575" marT="19050" marB="19050"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extLst>
                  <a:ext uri="{0D108BD9-81ED-4DB2-BD59-A6C34878D82A}">
                    <a16:rowId xmlns:a16="http://schemas.microsoft.com/office/drawing/2014/main" val="10005"/>
                  </a:ext>
                </a:extLst>
              </a:tr>
              <a:tr h="491925">
                <a:tc>
                  <a:txBody>
                    <a:bodyPr/>
                    <a:lstStyle/>
                    <a:p>
                      <a:pPr marL="0" lvl="0" indent="0" algn="ctr" rtl="0">
                        <a:lnSpc>
                          <a:spcPct val="115000"/>
                        </a:lnSpc>
                        <a:spcBef>
                          <a:spcPts val="0"/>
                        </a:spcBef>
                        <a:spcAft>
                          <a:spcPts val="0"/>
                        </a:spcAft>
                        <a:buNone/>
                      </a:pPr>
                      <a:r>
                        <a:rPr lang="en-US" sz="1200"/>
                        <a:t>Renouvellement urbain</a:t>
                      </a:r>
                      <a:endParaRPr sz="1200"/>
                    </a:p>
                  </a:txBody>
                  <a:tcPr marL="28575" marR="28575" marT="19050" marB="19050"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6"/>
                  </a:ext>
                </a:extLst>
              </a:tr>
              <a:tr h="498700">
                <a:tc>
                  <a:txBody>
                    <a:bodyPr/>
                    <a:lstStyle/>
                    <a:p>
                      <a:pPr marL="0" lvl="0" indent="0" algn="ctr" rtl="0">
                        <a:lnSpc>
                          <a:spcPct val="115000"/>
                        </a:lnSpc>
                        <a:spcBef>
                          <a:spcPts val="0"/>
                        </a:spcBef>
                        <a:spcAft>
                          <a:spcPts val="0"/>
                        </a:spcAft>
                        <a:buNone/>
                      </a:pPr>
                      <a:r>
                        <a:rPr lang="en-US" sz="1300" b="1"/>
                        <a:t>🏠 Remobilisation vacants</a:t>
                      </a:r>
                      <a:endParaRPr sz="1300" b="1"/>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7"/>
                  </a:ext>
                </a:extLst>
              </a:tr>
              <a:tr h="350950">
                <a:tc>
                  <a:txBody>
                    <a:bodyPr/>
                    <a:lstStyle/>
                    <a:p>
                      <a:pPr marL="0" lvl="0" indent="0" algn="ctr" rtl="0">
                        <a:lnSpc>
                          <a:spcPct val="115000"/>
                        </a:lnSpc>
                        <a:spcBef>
                          <a:spcPts val="0"/>
                        </a:spcBef>
                        <a:spcAft>
                          <a:spcPts val="0"/>
                        </a:spcAft>
                        <a:buNone/>
                      </a:pPr>
                      <a:r>
                        <a:rPr lang="en-US" sz="1300" b="1"/>
                        <a:t>🎯 TOTAL BESOINS</a:t>
                      </a:r>
                      <a:endParaRPr sz="1300" b="1"/>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2" name="Google Shape;91;p14">
            <a:extLst>
              <a:ext uri="{FF2B5EF4-FFF2-40B4-BE49-F238E27FC236}">
                <a16:creationId xmlns:a16="http://schemas.microsoft.com/office/drawing/2014/main" id="{FDC3FED2-88A4-5B91-5658-77A697472ABD}"/>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5C9B5A63-009B-236B-5AAF-D09E63055135}"/>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6"/>
          <p:cNvSpPr txBox="1"/>
          <p:nvPr/>
        </p:nvSpPr>
        <p:spPr>
          <a:xfrm>
            <a:off x="2600450" y="209550"/>
            <a:ext cx="6381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Comparaison des besoins en construction neuve par scénario </a:t>
            </a:r>
            <a:r>
              <a:rPr lang="en-US" sz="2000" i="1">
                <a:solidFill>
                  <a:srgbClr val="262626"/>
                </a:solidFill>
              </a:rPr>
              <a:t>(période document xxxx-xxxx)</a:t>
            </a:r>
            <a:endParaRPr sz="2400" b="1">
              <a:solidFill>
                <a:srgbClr val="262626"/>
              </a:solidFill>
            </a:endParaRPr>
          </a:p>
        </p:txBody>
      </p:sp>
      <p:pic>
        <p:nvPicPr>
          <p:cNvPr id="197" name="Google Shape;197;p26"/>
          <p:cNvPicPr preferRelativeResize="0"/>
          <p:nvPr/>
        </p:nvPicPr>
        <p:blipFill rotWithShape="1">
          <a:blip r:embed="rId3">
            <a:alphaModFix/>
          </a:blip>
          <a:srcRect/>
          <a:stretch/>
        </p:blipFill>
        <p:spPr>
          <a:xfrm>
            <a:off x="2600450" y="1248925"/>
            <a:ext cx="6209925" cy="3499350"/>
          </a:xfrm>
          <a:prstGeom prst="rect">
            <a:avLst/>
          </a:prstGeom>
          <a:noFill/>
          <a:ln>
            <a:noFill/>
          </a:ln>
        </p:spPr>
      </p:pic>
      <p:sp>
        <p:nvSpPr>
          <p:cNvPr id="198" name="Google Shape;198;p26"/>
          <p:cNvSpPr/>
          <p:nvPr/>
        </p:nvSpPr>
        <p:spPr>
          <a:xfrm>
            <a:off x="5190500" y="1870375"/>
            <a:ext cx="1749900" cy="2277600"/>
          </a:xfrm>
          <a:prstGeom prst="rect">
            <a:avLst/>
          </a:prstGeom>
          <a:noFill/>
          <a:ln w="19475" cap="flat" cmpd="sng">
            <a:solidFill>
              <a:srgbClr val="00402F"/>
            </a:solidFill>
            <a:prstDash val="solid"/>
            <a:round/>
            <a:headEnd type="none" w="sm" len="sm"/>
            <a:tailEnd type="none" w="sm" len="sm"/>
          </a:ln>
        </p:spPr>
        <p:txBody>
          <a:bodyPr spcFirstLastPara="1" wrap="square" lIns="70125" tIns="35075" rIns="70125" bIns="35075" anchor="t" anchorCtr="0">
            <a:noAutofit/>
          </a:bodyPr>
          <a:lstStyle/>
          <a:p>
            <a:pPr marL="0" marR="0" lvl="0" indent="0" algn="ctr" rtl="0">
              <a:spcBef>
                <a:spcPts val="0"/>
              </a:spcBef>
              <a:spcAft>
                <a:spcPts val="0"/>
              </a:spcAft>
              <a:buNone/>
            </a:pPr>
            <a:r>
              <a:rPr lang="en-US" sz="1073" b="1"/>
              <a:t>document xxxx-xxxx</a:t>
            </a:r>
            <a:endParaRPr sz="1073"/>
          </a:p>
        </p:txBody>
      </p:sp>
      <p:sp>
        <p:nvSpPr>
          <p:cNvPr id="2" name="Google Shape;91;p14">
            <a:extLst>
              <a:ext uri="{FF2B5EF4-FFF2-40B4-BE49-F238E27FC236}">
                <a16:creationId xmlns:a16="http://schemas.microsoft.com/office/drawing/2014/main" id="{BABB023E-E0AB-9CA3-7D92-126FB97C92ED}"/>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90792871-ABB3-2FB2-C1A8-31E25C258AF3}"/>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27"/>
          <p:cNvSpPr txBox="1"/>
          <p:nvPr/>
        </p:nvSpPr>
        <p:spPr>
          <a:xfrm>
            <a:off x="2600446" y="209550"/>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Arguments en faveur du scénario</a:t>
            </a:r>
            <a:br>
              <a:rPr lang="en-US" sz="2400" b="1">
                <a:solidFill>
                  <a:srgbClr val="262626"/>
                </a:solidFill>
              </a:rPr>
            </a:br>
            <a:r>
              <a:rPr lang="en-US" sz="2400" b="1">
                <a:solidFill>
                  <a:srgbClr val="262626"/>
                </a:solidFill>
              </a:rPr>
              <a:t>"🟣 Accélération"</a:t>
            </a:r>
            <a:endParaRPr sz="1200" i="1">
              <a:solidFill>
                <a:srgbClr val="262626"/>
              </a:solidFill>
            </a:endParaRPr>
          </a:p>
        </p:txBody>
      </p:sp>
      <p:sp>
        <p:nvSpPr>
          <p:cNvPr id="206" name="Google Shape;206;p27"/>
          <p:cNvSpPr/>
          <p:nvPr/>
        </p:nvSpPr>
        <p:spPr>
          <a:xfrm>
            <a:off x="2676650" y="1351700"/>
            <a:ext cx="1807200" cy="773400"/>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700"/>
              <a:buFont typeface="Calibri"/>
              <a:buNone/>
            </a:pPr>
            <a:endParaRPr b="1" i="0" u="none" strike="noStrike" cap="none">
              <a:solidFill>
                <a:schemeClr val="dk2"/>
              </a:solidFill>
            </a:endParaRPr>
          </a:p>
        </p:txBody>
      </p:sp>
      <p:sp>
        <p:nvSpPr>
          <p:cNvPr id="207" name="Google Shape;207;p27"/>
          <p:cNvSpPr/>
          <p:nvPr/>
        </p:nvSpPr>
        <p:spPr>
          <a:xfrm>
            <a:off x="2676650" y="2278267"/>
            <a:ext cx="1807200" cy="773400"/>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700"/>
              <a:buFont typeface="Calibri"/>
              <a:buNone/>
            </a:pPr>
            <a:endParaRPr b="1" i="0" u="none" strike="noStrike" cap="none">
              <a:solidFill>
                <a:schemeClr val="dk2"/>
              </a:solidFill>
            </a:endParaRPr>
          </a:p>
        </p:txBody>
      </p:sp>
      <p:sp>
        <p:nvSpPr>
          <p:cNvPr id="208" name="Google Shape;208;p27"/>
          <p:cNvSpPr/>
          <p:nvPr/>
        </p:nvSpPr>
        <p:spPr>
          <a:xfrm>
            <a:off x="2676650" y="3204834"/>
            <a:ext cx="1807200" cy="773400"/>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700"/>
              <a:buFont typeface="Calibri"/>
              <a:buNone/>
            </a:pPr>
            <a:endParaRPr b="1" i="0" u="none" strike="noStrike" cap="none">
              <a:solidFill>
                <a:schemeClr val="dk2"/>
              </a:solidFill>
            </a:endParaRPr>
          </a:p>
        </p:txBody>
      </p:sp>
      <p:sp>
        <p:nvSpPr>
          <p:cNvPr id="209" name="Google Shape;209;p27"/>
          <p:cNvSpPr txBox="1"/>
          <p:nvPr/>
        </p:nvSpPr>
        <p:spPr>
          <a:xfrm>
            <a:off x="4484050" y="1351700"/>
            <a:ext cx="3936000" cy="773400"/>
          </a:xfrm>
          <a:prstGeom prst="rect">
            <a:avLst/>
          </a:prstGeom>
          <a:solidFill>
            <a:schemeClr val="accent3"/>
          </a:solidFill>
          <a:ln>
            <a:noFill/>
          </a:ln>
        </p:spPr>
        <p:txBody>
          <a:bodyPr spcFirstLastPara="1" wrap="square" lIns="45700" tIns="45700" rIns="45700" bIns="45700" anchor="ctr" anchorCtr="0">
            <a:noAutofit/>
          </a:bodyPr>
          <a:lstStyle/>
          <a:p>
            <a:pPr marL="285750" marR="0" lvl="0" indent="-180975" algn="l" rtl="0">
              <a:lnSpc>
                <a:spcPct val="100000"/>
              </a:lnSpc>
              <a:spcBef>
                <a:spcPts val="0"/>
              </a:spcBef>
              <a:spcAft>
                <a:spcPts val="0"/>
              </a:spcAft>
              <a:buSzPts val="1050"/>
              <a:buChar char="●"/>
            </a:pPr>
            <a:endParaRPr sz="1050"/>
          </a:p>
        </p:txBody>
      </p:sp>
      <p:sp>
        <p:nvSpPr>
          <p:cNvPr id="210" name="Google Shape;210;p27"/>
          <p:cNvSpPr/>
          <p:nvPr/>
        </p:nvSpPr>
        <p:spPr>
          <a:xfrm>
            <a:off x="2676650" y="4131401"/>
            <a:ext cx="1807200" cy="773400"/>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700"/>
              <a:buFont typeface="Calibri"/>
              <a:buNone/>
            </a:pPr>
            <a:r>
              <a:rPr lang="en-US" b="1">
                <a:solidFill>
                  <a:schemeClr val="dk2"/>
                </a:solidFill>
              </a:rPr>
              <a:t>❌ Pourquoi pas les autres scénarios ?</a:t>
            </a:r>
            <a:endParaRPr b="1" i="0" u="none" strike="noStrike" cap="none">
              <a:solidFill>
                <a:schemeClr val="dk2"/>
              </a:solidFill>
            </a:endParaRPr>
          </a:p>
        </p:txBody>
      </p:sp>
      <p:sp>
        <p:nvSpPr>
          <p:cNvPr id="211" name="Google Shape;211;p27"/>
          <p:cNvSpPr txBox="1"/>
          <p:nvPr/>
        </p:nvSpPr>
        <p:spPr>
          <a:xfrm>
            <a:off x="4484050" y="2278269"/>
            <a:ext cx="3936000" cy="773400"/>
          </a:xfrm>
          <a:prstGeom prst="rect">
            <a:avLst/>
          </a:prstGeom>
          <a:solidFill>
            <a:schemeClr val="accent3"/>
          </a:solidFill>
          <a:ln>
            <a:noFill/>
          </a:ln>
        </p:spPr>
        <p:txBody>
          <a:bodyPr spcFirstLastPara="1" wrap="square" lIns="45700" tIns="45700" rIns="45700" bIns="45700" anchor="ctr" anchorCtr="0">
            <a:noAutofit/>
          </a:bodyPr>
          <a:lstStyle/>
          <a:p>
            <a:pPr marL="285750" marR="0" lvl="0" indent="-180975" algn="l" rtl="0">
              <a:lnSpc>
                <a:spcPct val="100000"/>
              </a:lnSpc>
              <a:spcBef>
                <a:spcPts val="0"/>
              </a:spcBef>
              <a:spcAft>
                <a:spcPts val="0"/>
              </a:spcAft>
              <a:buSzPts val="1050"/>
              <a:buChar char="●"/>
            </a:pPr>
            <a:endParaRPr sz="1050"/>
          </a:p>
        </p:txBody>
      </p:sp>
      <p:sp>
        <p:nvSpPr>
          <p:cNvPr id="212" name="Google Shape;212;p27"/>
          <p:cNvSpPr txBox="1"/>
          <p:nvPr/>
        </p:nvSpPr>
        <p:spPr>
          <a:xfrm>
            <a:off x="4484050" y="3204837"/>
            <a:ext cx="3936000" cy="773400"/>
          </a:xfrm>
          <a:prstGeom prst="rect">
            <a:avLst/>
          </a:prstGeom>
          <a:solidFill>
            <a:schemeClr val="accent3"/>
          </a:solidFill>
          <a:ln>
            <a:noFill/>
          </a:ln>
        </p:spPr>
        <p:txBody>
          <a:bodyPr spcFirstLastPara="1" wrap="square" lIns="45700" tIns="45700" rIns="45700" bIns="45700" anchor="ctr" anchorCtr="0">
            <a:noAutofit/>
          </a:bodyPr>
          <a:lstStyle/>
          <a:p>
            <a:pPr marL="285750" marR="0" lvl="0" indent="-180975" algn="l" rtl="0">
              <a:lnSpc>
                <a:spcPct val="100000"/>
              </a:lnSpc>
              <a:spcBef>
                <a:spcPts val="0"/>
              </a:spcBef>
              <a:spcAft>
                <a:spcPts val="0"/>
              </a:spcAft>
              <a:buSzPts val="1050"/>
              <a:buChar char="●"/>
            </a:pPr>
            <a:endParaRPr sz="1050"/>
          </a:p>
        </p:txBody>
      </p:sp>
      <p:sp>
        <p:nvSpPr>
          <p:cNvPr id="213" name="Google Shape;213;p27"/>
          <p:cNvSpPr txBox="1"/>
          <p:nvPr/>
        </p:nvSpPr>
        <p:spPr>
          <a:xfrm>
            <a:off x="4484050" y="4131406"/>
            <a:ext cx="3936000" cy="773400"/>
          </a:xfrm>
          <a:prstGeom prst="rect">
            <a:avLst/>
          </a:prstGeom>
          <a:solidFill>
            <a:schemeClr val="accent3"/>
          </a:solidFill>
          <a:ln>
            <a:noFill/>
          </a:ln>
        </p:spPr>
        <p:txBody>
          <a:bodyPr spcFirstLastPara="1" wrap="square" lIns="45700" tIns="45700" rIns="45700" bIns="45700" anchor="ctr" anchorCtr="0">
            <a:noAutofit/>
          </a:bodyPr>
          <a:lstStyle/>
          <a:p>
            <a:pPr marL="457200" marR="0" lvl="0" indent="0" algn="l" rtl="0">
              <a:lnSpc>
                <a:spcPct val="100000"/>
              </a:lnSpc>
              <a:spcBef>
                <a:spcPts val="0"/>
              </a:spcBef>
              <a:spcAft>
                <a:spcPts val="0"/>
              </a:spcAft>
              <a:buNone/>
            </a:pPr>
            <a:endParaRPr sz="1050"/>
          </a:p>
        </p:txBody>
      </p:sp>
      <p:sp>
        <p:nvSpPr>
          <p:cNvPr id="2" name="Google Shape;91;p14">
            <a:extLst>
              <a:ext uri="{FF2B5EF4-FFF2-40B4-BE49-F238E27FC236}">
                <a16:creationId xmlns:a16="http://schemas.microsoft.com/office/drawing/2014/main" id="{8C2CE72E-59BE-E46E-9B04-920C5352E491}"/>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85E56E29-47CD-1A77-7712-ECB7B562EAFB}"/>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8"/>
          <p:cNvSpPr txBox="1">
            <a:spLocks noGrp="1"/>
          </p:cNvSpPr>
          <p:nvPr>
            <p:ph type="body" idx="1"/>
          </p:nvPr>
        </p:nvSpPr>
        <p:spPr>
          <a:xfrm>
            <a:off x="2709800" y="2344050"/>
            <a:ext cx="5277600" cy="4554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US"/>
              <a:t>4. Décryptage et justification du scénario privilégié</a:t>
            </a:r>
            <a:endParaRPr/>
          </a:p>
          <a:p>
            <a:pPr marL="0" lvl="0" indent="0" algn="l" rtl="0">
              <a:spcBef>
                <a:spcPts val="0"/>
              </a:spcBef>
              <a:spcAft>
                <a:spcPts val="0"/>
              </a:spcAft>
              <a:buNone/>
            </a:pPr>
            <a:r>
              <a:rPr lang="en-US" sz="3000" b="0" i="1"/>
              <a:t>[Scénario privilégié]</a:t>
            </a:r>
            <a:endParaRPr sz="3000" b="0" i="1"/>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9"/>
          <p:cNvSpPr txBox="1"/>
          <p:nvPr/>
        </p:nvSpPr>
        <p:spPr>
          <a:xfrm>
            <a:off x="2600446" y="209550"/>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Besoins en constructions neuves pour le scénario privilégié "🟣 Accélération"</a:t>
            </a:r>
            <a:endParaRPr sz="1200" i="1">
              <a:solidFill>
                <a:srgbClr val="262626"/>
              </a:solidFill>
            </a:endParaRPr>
          </a:p>
        </p:txBody>
      </p:sp>
      <p:sp>
        <p:nvSpPr>
          <p:cNvPr id="226" name="Google Shape;226;p29"/>
          <p:cNvSpPr txBox="1"/>
          <p:nvPr/>
        </p:nvSpPr>
        <p:spPr>
          <a:xfrm>
            <a:off x="2600446" y="1047750"/>
            <a:ext cx="6267300" cy="2616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1100" i="1">
                <a:solidFill>
                  <a:srgbClr val="262626"/>
                </a:solidFill>
              </a:rPr>
              <a:t>Calendrier 2021 - 2040</a:t>
            </a:r>
            <a:endParaRPr sz="200" i="1">
              <a:solidFill>
                <a:srgbClr val="262626"/>
              </a:solidFill>
            </a:endParaRPr>
          </a:p>
        </p:txBody>
      </p:sp>
      <p:sp>
        <p:nvSpPr>
          <p:cNvPr id="227" name="Google Shape;227;p29"/>
          <p:cNvSpPr/>
          <p:nvPr/>
        </p:nvSpPr>
        <p:spPr>
          <a:xfrm>
            <a:off x="2154625" y="1826100"/>
            <a:ext cx="2170800" cy="2425500"/>
          </a:xfrm>
          <a:prstGeom prst="rect">
            <a:avLst/>
          </a:prstGeom>
          <a:solidFill>
            <a:schemeClr val="accent3"/>
          </a:solidFill>
          <a:ln>
            <a:noFill/>
          </a:ln>
        </p:spPr>
        <p:txBody>
          <a:bodyPr spcFirstLastPara="1" wrap="square" lIns="102650" tIns="51300" rIns="102650" bIns="51300" anchor="t" anchorCtr="0">
            <a:noAutofit/>
          </a:bodyPr>
          <a:lstStyle/>
          <a:p>
            <a:pPr marL="0" lvl="0" indent="0" algn="ctr" rtl="0">
              <a:lnSpc>
                <a:spcPct val="115000"/>
              </a:lnSpc>
              <a:spcBef>
                <a:spcPts val="1347"/>
              </a:spcBef>
              <a:spcAft>
                <a:spcPts val="0"/>
              </a:spcAft>
              <a:buClr>
                <a:schemeClr val="dk1"/>
              </a:buClr>
              <a:buSzPts val="1235"/>
              <a:buFont typeface="Arial"/>
              <a:buNone/>
            </a:pPr>
            <a:r>
              <a:rPr lang="en-US" sz="1447" b="1" u="sng">
                <a:solidFill>
                  <a:schemeClr val="dk1"/>
                </a:solidFill>
              </a:rPr>
              <a:t>Phase 1: 2021-[début doc -1]</a:t>
            </a:r>
            <a:endParaRPr sz="1447" b="1" u="sng">
              <a:solidFill>
                <a:schemeClr val="dk2"/>
              </a:solidFill>
            </a:endParaRPr>
          </a:p>
          <a:p>
            <a:pPr marL="256660" lvl="0" indent="-213884" algn="l" rtl="0">
              <a:lnSpc>
                <a:spcPct val="115000"/>
              </a:lnSpc>
              <a:spcBef>
                <a:spcPts val="1347"/>
              </a:spcBef>
              <a:spcAft>
                <a:spcPts val="0"/>
              </a:spcAft>
              <a:buClr>
                <a:schemeClr val="dk1"/>
              </a:buClr>
              <a:buSzPts val="1347"/>
              <a:buChar char="●"/>
            </a:pPr>
            <a:r>
              <a:rPr lang="en-US" sz="1347" b="1">
                <a:solidFill>
                  <a:schemeClr val="dk1"/>
                </a:solidFill>
              </a:rPr>
              <a:t>XXX-XXX logements/an</a:t>
            </a:r>
            <a:endParaRPr sz="1347" b="1">
              <a:solidFill>
                <a:schemeClr val="dk1"/>
              </a:solidFill>
            </a:endParaRPr>
          </a:p>
          <a:p>
            <a:pPr marL="0" lvl="0" indent="0" algn="l" rtl="0">
              <a:lnSpc>
                <a:spcPct val="115000"/>
              </a:lnSpc>
              <a:spcBef>
                <a:spcPts val="1347"/>
              </a:spcBef>
              <a:spcAft>
                <a:spcPts val="1347"/>
              </a:spcAft>
              <a:buNone/>
            </a:pPr>
            <a:endParaRPr sz="1347">
              <a:solidFill>
                <a:schemeClr val="lt1"/>
              </a:solidFill>
            </a:endParaRPr>
          </a:p>
        </p:txBody>
      </p:sp>
      <p:sp>
        <p:nvSpPr>
          <p:cNvPr id="228" name="Google Shape;228;p29"/>
          <p:cNvSpPr/>
          <p:nvPr/>
        </p:nvSpPr>
        <p:spPr>
          <a:xfrm>
            <a:off x="4458532" y="1826100"/>
            <a:ext cx="2170800" cy="2425500"/>
          </a:xfrm>
          <a:prstGeom prst="rect">
            <a:avLst/>
          </a:prstGeom>
          <a:solidFill>
            <a:schemeClr val="accent3"/>
          </a:solidFill>
          <a:ln>
            <a:noFill/>
          </a:ln>
        </p:spPr>
        <p:txBody>
          <a:bodyPr spcFirstLastPara="1" wrap="square" lIns="102650" tIns="51300" rIns="102650" bIns="51300" anchor="t" anchorCtr="0">
            <a:noAutofit/>
          </a:bodyPr>
          <a:lstStyle/>
          <a:p>
            <a:pPr marL="0" lvl="0" indent="0" algn="ctr" rtl="0">
              <a:lnSpc>
                <a:spcPct val="115000"/>
              </a:lnSpc>
              <a:spcBef>
                <a:spcPts val="1347"/>
              </a:spcBef>
              <a:spcAft>
                <a:spcPts val="0"/>
              </a:spcAft>
              <a:buNone/>
            </a:pPr>
            <a:r>
              <a:rPr lang="en-US" sz="1447" b="1" u="sng">
                <a:solidFill>
                  <a:schemeClr val="dk1"/>
                </a:solidFill>
              </a:rPr>
              <a:t>Phase 2 (début doc-fin doc)</a:t>
            </a:r>
            <a:r>
              <a:rPr lang="en-US" sz="1447" b="1">
                <a:solidFill>
                  <a:schemeClr val="dk1"/>
                </a:solidFill>
              </a:rPr>
              <a:t> : </a:t>
            </a:r>
            <a:r>
              <a:rPr lang="en-US" sz="1447" b="1">
                <a:solidFill>
                  <a:schemeClr val="dk2"/>
                </a:solidFill>
              </a:rPr>
              <a:t>Période </a:t>
            </a:r>
            <a:r>
              <a:rPr lang="en-US" sz="1447" b="1" i="1">
                <a:solidFill>
                  <a:schemeClr val="dk2"/>
                </a:solidFill>
              </a:rPr>
              <a:t>document</a:t>
            </a:r>
            <a:endParaRPr sz="1447" b="1" i="1">
              <a:solidFill>
                <a:schemeClr val="dk2"/>
              </a:solidFill>
            </a:endParaRPr>
          </a:p>
          <a:p>
            <a:pPr marL="256660" marR="0" lvl="0" indent="-213884" algn="l" rtl="0">
              <a:lnSpc>
                <a:spcPct val="115000"/>
              </a:lnSpc>
              <a:spcBef>
                <a:spcPts val="1347"/>
              </a:spcBef>
              <a:spcAft>
                <a:spcPts val="0"/>
              </a:spcAft>
              <a:buClr>
                <a:schemeClr val="dk1"/>
              </a:buClr>
              <a:buSzPts val="1347"/>
              <a:buChar char="●"/>
            </a:pPr>
            <a:r>
              <a:rPr lang="en-US" sz="1347" b="1">
                <a:solidFill>
                  <a:schemeClr val="dk1"/>
                </a:solidFill>
              </a:rPr>
              <a:t>XXX logements/an en moyenne</a:t>
            </a:r>
            <a:r>
              <a:rPr lang="en-US" sz="1347">
                <a:solidFill>
                  <a:schemeClr val="dk1"/>
                </a:solidFill>
              </a:rPr>
              <a:t> (XXX total)</a:t>
            </a:r>
            <a:endParaRPr sz="1347">
              <a:solidFill>
                <a:schemeClr val="dk1"/>
              </a:solidFill>
            </a:endParaRPr>
          </a:p>
          <a:p>
            <a:pPr marL="0" marR="0" lvl="0" indent="0" algn="l" rtl="0">
              <a:lnSpc>
                <a:spcPct val="115000"/>
              </a:lnSpc>
              <a:spcBef>
                <a:spcPts val="1347"/>
              </a:spcBef>
              <a:spcAft>
                <a:spcPts val="1347"/>
              </a:spcAft>
              <a:buNone/>
            </a:pPr>
            <a:endParaRPr sz="1571">
              <a:solidFill>
                <a:schemeClr val="lt1"/>
              </a:solidFill>
              <a:latin typeface="Calibri"/>
              <a:ea typeface="Calibri"/>
              <a:cs typeface="Calibri"/>
              <a:sym typeface="Calibri"/>
            </a:endParaRPr>
          </a:p>
        </p:txBody>
      </p:sp>
      <p:sp>
        <p:nvSpPr>
          <p:cNvPr id="229" name="Google Shape;229;p29"/>
          <p:cNvSpPr/>
          <p:nvPr/>
        </p:nvSpPr>
        <p:spPr>
          <a:xfrm>
            <a:off x="6762438" y="1826100"/>
            <a:ext cx="2299800" cy="2425500"/>
          </a:xfrm>
          <a:prstGeom prst="homePlate">
            <a:avLst>
              <a:gd name="adj" fmla="val 20342"/>
            </a:avLst>
          </a:prstGeom>
          <a:solidFill>
            <a:schemeClr val="accent3"/>
          </a:solidFill>
          <a:ln>
            <a:noFill/>
          </a:ln>
        </p:spPr>
        <p:txBody>
          <a:bodyPr spcFirstLastPara="1" wrap="square" lIns="102650" tIns="51300" rIns="102650" bIns="51300" anchor="t" anchorCtr="0">
            <a:noAutofit/>
          </a:bodyPr>
          <a:lstStyle/>
          <a:p>
            <a:pPr marL="0" lvl="0" indent="0" algn="ctr" rtl="0">
              <a:lnSpc>
                <a:spcPct val="115000"/>
              </a:lnSpc>
              <a:spcBef>
                <a:spcPts val="1347"/>
              </a:spcBef>
              <a:spcAft>
                <a:spcPts val="0"/>
              </a:spcAft>
              <a:buNone/>
            </a:pPr>
            <a:r>
              <a:rPr lang="en-US" sz="1447" b="1" u="sng">
                <a:solidFill>
                  <a:schemeClr val="dk1"/>
                </a:solidFill>
              </a:rPr>
              <a:t>Phase 3 (fin doc + 1-horizon de projection)</a:t>
            </a:r>
            <a:endParaRPr sz="1447" b="1" u="sng">
              <a:solidFill>
                <a:schemeClr val="dk2"/>
              </a:solidFill>
            </a:endParaRPr>
          </a:p>
          <a:p>
            <a:pPr marL="256660" marR="0" lvl="0" indent="-213884" algn="l" rtl="0">
              <a:lnSpc>
                <a:spcPct val="115000"/>
              </a:lnSpc>
              <a:spcBef>
                <a:spcPts val="1347"/>
              </a:spcBef>
              <a:spcAft>
                <a:spcPts val="0"/>
              </a:spcAft>
              <a:buClr>
                <a:schemeClr val="dk1"/>
              </a:buClr>
              <a:buSzPts val="1347"/>
              <a:buChar char="●"/>
            </a:pPr>
            <a:r>
              <a:rPr lang="en-US" sz="1347" b="1">
                <a:solidFill>
                  <a:schemeClr val="dk1"/>
                </a:solidFill>
              </a:rPr>
              <a:t>XXX-XXX logements/an</a:t>
            </a:r>
            <a:endParaRPr sz="1347">
              <a:solidFill>
                <a:schemeClr val="dk1"/>
              </a:solidFill>
            </a:endParaRPr>
          </a:p>
        </p:txBody>
      </p:sp>
      <p:sp>
        <p:nvSpPr>
          <p:cNvPr id="2" name="Google Shape;91;p14">
            <a:extLst>
              <a:ext uri="{FF2B5EF4-FFF2-40B4-BE49-F238E27FC236}">
                <a16:creationId xmlns:a16="http://schemas.microsoft.com/office/drawing/2014/main" id="{2DC7526D-6B9B-4C44-BC2B-4B9E1F063A2A}"/>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D7E01CD0-A680-66E3-34A1-070911F4C8BC}"/>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0"/>
          <p:cNvSpPr txBox="1"/>
          <p:nvPr/>
        </p:nvSpPr>
        <p:spPr>
          <a:xfrm>
            <a:off x="2600446" y="209550"/>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Besoins en constructions neuves pour le scénario privilégié "🟣 Accélération"</a:t>
            </a:r>
            <a:endParaRPr sz="1200" i="1">
              <a:solidFill>
                <a:srgbClr val="262626"/>
              </a:solidFill>
            </a:endParaRPr>
          </a:p>
        </p:txBody>
      </p:sp>
      <p:pic>
        <p:nvPicPr>
          <p:cNvPr id="237" name="Google Shape;237;p30"/>
          <p:cNvPicPr preferRelativeResize="0">
            <a:picLocks noGrp="1"/>
          </p:cNvPicPr>
          <p:nvPr>
            <p:ph type="body" idx="4294967295"/>
          </p:nvPr>
        </p:nvPicPr>
        <p:blipFill rotWithShape="1">
          <a:blip r:embed="rId3">
            <a:alphaModFix/>
          </a:blip>
          <a:srcRect t="11394"/>
          <a:stretch/>
        </p:blipFill>
        <p:spPr>
          <a:xfrm>
            <a:off x="2600450" y="1584525"/>
            <a:ext cx="5829900" cy="3229500"/>
          </a:xfrm>
          <a:prstGeom prst="rect">
            <a:avLst/>
          </a:prstGeom>
          <a:noFill/>
          <a:ln>
            <a:noFill/>
          </a:ln>
        </p:spPr>
      </p:pic>
      <p:sp>
        <p:nvSpPr>
          <p:cNvPr id="238" name="Google Shape;238;p30"/>
          <p:cNvSpPr/>
          <p:nvPr/>
        </p:nvSpPr>
        <p:spPr>
          <a:xfrm>
            <a:off x="6450575" y="4190575"/>
            <a:ext cx="369300" cy="108000"/>
          </a:xfrm>
          <a:prstGeom prst="roundRect">
            <a:avLst>
              <a:gd name="adj" fmla="val 1666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17C0CCF1-B135-A847-D40F-FA20F716AE22}"/>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29085CBC-BCF0-7D6A-3549-0FCE42A0F7AE}"/>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1"/>
          <p:cNvSpPr txBox="1"/>
          <p:nvPr/>
        </p:nvSpPr>
        <p:spPr>
          <a:xfrm>
            <a:off x="2600446" y="209550"/>
            <a:ext cx="6267300" cy="831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Répartition des besoins pour le scénario privilégié "🟣  Accélération"</a:t>
            </a:r>
            <a:endParaRPr sz="1200" i="1">
              <a:solidFill>
                <a:srgbClr val="262626"/>
              </a:solidFill>
            </a:endParaRPr>
          </a:p>
        </p:txBody>
      </p:sp>
      <p:sp>
        <p:nvSpPr>
          <p:cNvPr id="246" name="Google Shape;246;p31"/>
          <p:cNvSpPr txBox="1"/>
          <p:nvPr/>
        </p:nvSpPr>
        <p:spPr>
          <a:xfrm>
            <a:off x="2600446" y="1017925"/>
            <a:ext cx="6267300" cy="430800"/>
          </a:xfrm>
          <a:prstGeom prst="rect">
            <a:avLst/>
          </a:prstGeom>
          <a:noFill/>
          <a:ln>
            <a:noFill/>
          </a:ln>
        </p:spPr>
        <p:txBody>
          <a:bodyPr spcFirstLastPara="1" wrap="square" lIns="45700" tIns="45700" rIns="45700" bIns="45700" anchor="t" anchorCtr="0">
            <a:spAutoFit/>
          </a:bodyPr>
          <a:lstStyle/>
          <a:p>
            <a:pPr marL="0" lvl="0" indent="0" algn="l" rtl="0">
              <a:spcBef>
                <a:spcPts val="0"/>
              </a:spcBef>
              <a:spcAft>
                <a:spcPts val="0"/>
              </a:spcAft>
              <a:buClr>
                <a:srgbClr val="262626"/>
              </a:buClr>
              <a:buSzPts val="2400"/>
              <a:buFont typeface="Arial"/>
              <a:buNone/>
            </a:pPr>
            <a:r>
              <a:rPr lang="en-US" sz="1100" i="1">
                <a:solidFill>
                  <a:srgbClr val="262626"/>
                </a:solidFill>
              </a:rPr>
              <a:t>Calendrier 2021 - 2040</a:t>
            </a:r>
            <a:endParaRPr sz="100" i="1">
              <a:solidFill>
                <a:srgbClr val="262626"/>
              </a:solidFill>
            </a:endParaRPr>
          </a:p>
          <a:p>
            <a:pPr marL="0" marR="0" lvl="0" indent="0" algn="l" rtl="0">
              <a:lnSpc>
                <a:spcPct val="100000"/>
              </a:lnSpc>
              <a:spcBef>
                <a:spcPts val="0"/>
              </a:spcBef>
              <a:spcAft>
                <a:spcPts val="0"/>
              </a:spcAft>
              <a:buClr>
                <a:srgbClr val="262626"/>
              </a:buClr>
              <a:buSzPts val="2400"/>
              <a:buFont typeface="Arial"/>
              <a:buNone/>
            </a:pPr>
            <a:r>
              <a:rPr lang="en-US" sz="1100" i="1">
                <a:solidFill>
                  <a:srgbClr val="262626"/>
                </a:solidFill>
              </a:rPr>
              <a:t>D'où viennent les XXX logements neufs ?</a:t>
            </a:r>
            <a:endParaRPr sz="100" i="1">
              <a:solidFill>
                <a:srgbClr val="262626"/>
              </a:solidFill>
            </a:endParaRPr>
          </a:p>
        </p:txBody>
      </p:sp>
      <p:graphicFrame>
        <p:nvGraphicFramePr>
          <p:cNvPr id="247" name="Google Shape;247;p31"/>
          <p:cNvGraphicFramePr/>
          <p:nvPr/>
        </p:nvGraphicFramePr>
        <p:xfrm>
          <a:off x="2889150" y="1481625"/>
          <a:ext cx="6191100" cy="3613475"/>
        </p:xfrm>
        <a:graphic>
          <a:graphicData uri="http://schemas.openxmlformats.org/drawingml/2006/table">
            <a:tbl>
              <a:tblPr>
                <a:noFill/>
                <a:tableStyleId>{8782ED91-6AAA-4FC9-A8D7-22FAF3BB82A8}</a:tableStyleId>
              </a:tblPr>
              <a:tblGrid>
                <a:gridCol w="1895925">
                  <a:extLst>
                    <a:ext uri="{9D8B030D-6E8A-4147-A177-3AD203B41FA5}">
                      <a16:colId xmlns:a16="http://schemas.microsoft.com/office/drawing/2014/main" val="20000"/>
                    </a:ext>
                  </a:extLst>
                </a:gridCol>
                <a:gridCol w="972550">
                  <a:extLst>
                    <a:ext uri="{9D8B030D-6E8A-4147-A177-3AD203B41FA5}">
                      <a16:colId xmlns:a16="http://schemas.microsoft.com/office/drawing/2014/main" val="20001"/>
                    </a:ext>
                  </a:extLst>
                </a:gridCol>
                <a:gridCol w="412500">
                  <a:extLst>
                    <a:ext uri="{9D8B030D-6E8A-4147-A177-3AD203B41FA5}">
                      <a16:colId xmlns:a16="http://schemas.microsoft.com/office/drawing/2014/main" val="20002"/>
                    </a:ext>
                  </a:extLst>
                </a:gridCol>
                <a:gridCol w="2910125">
                  <a:extLst>
                    <a:ext uri="{9D8B030D-6E8A-4147-A177-3AD203B41FA5}">
                      <a16:colId xmlns:a16="http://schemas.microsoft.com/office/drawing/2014/main" val="20003"/>
                    </a:ext>
                  </a:extLst>
                </a:gridCol>
              </a:tblGrid>
              <a:tr h="469575">
                <a:tc>
                  <a:txBody>
                    <a:bodyPr/>
                    <a:lstStyle/>
                    <a:p>
                      <a:pPr marL="0" lvl="0" indent="0" algn="l" rtl="0">
                        <a:lnSpc>
                          <a:spcPct val="115000"/>
                        </a:lnSpc>
                        <a:spcBef>
                          <a:spcPts val="0"/>
                        </a:spcBef>
                        <a:spcAft>
                          <a:spcPts val="0"/>
                        </a:spcAft>
                        <a:buNone/>
                      </a:pPr>
                      <a:r>
                        <a:rPr lang="en-US" sz="1200" b="1"/>
                        <a:t>Composante</a:t>
                      </a:r>
                      <a:endParaRPr sz="1200" b="1"/>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chemeClr val="accent6"/>
                    </a:solidFill>
                  </a:tcPr>
                </a:tc>
                <a:tc>
                  <a:txBody>
                    <a:bodyPr/>
                    <a:lstStyle/>
                    <a:p>
                      <a:pPr marL="0" lvl="0" indent="0" algn="l" rtl="0">
                        <a:lnSpc>
                          <a:spcPct val="115000"/>
                        </a:lnSpc>
                        <a:spcBef>
                          <a:spcPts val="0"/>
                        </a:spcBef>
                        <a:spcAft>
                          <a:spcPts val="0"/>
                        </a:spcAft>
                        <a:buNone/>
                      </a:pPr>
                      <a:r>
                        <a:rPr lang="en-US" sz="1200" b="1"/>
                        <a:t>Logements</a:t>
                      </a:r>
                      <a:endParaRPr sz="1200" b="1"/>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chemeClr val="accent6"/>
                    </a:solidFill>
                  </a:tcPr>
                </a:tc>
                <a:tc>
                  <a:txBody>
                    <a:bodyPr/>
                    <a:lstStyle/>
                    <a:p>
                      <a:pPr marL="0" lvl="0" indent="0" algn="l" rtl="0">
                        <a:lnSpc>
                          <a:spcPct val="115000"/>
                        </a:lnSpc>
                        <a:spcBef>
                          <a:spcPts val="0"/>
                        </a:spcBef>
                        <a:spcAft>
                          <a:spcPts val="0"/>
                        </a:spcAft>
                        <a:buNone/>
                      </a:pPr>
                      <a:r>
                        <a:rPr lang="en-US" sz="1200" b="1"/>
                        <a:t>%</a:t>
                      </a:r>
                      <a:endParaRPr sz="1200" b="1"/>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chemeClr val="accent6"/>
                    </a:solidFill>
                  </a:tcPr>
                </a:tc>
                <a:tc>
                  <a:txBody>
                    <a:bodyPr/>
                    <a:lstStyle/>
                    <a:p>
                      <a:pPr marL="0" lvl="0" indent="0" algn="l" rtl="0">
                        <a:lnSpc>
                          <a:spcPct val="115000"/>
                        </a:lnSpc>
                        <a:spcBef>
                          <a:spcPts val="0"/>
                        </a:spcBef>
                        <a:spcAft>
                          <a:spcPts val="0"/>
                        </a:spcAft>
                        <a:buNone/>
                      </a:pPr>
                      <a:r>
                        <a:rPr lang="en-US" sz="1200" b="1"/>
                        <a:t>Explication</a:t>
                      </a:r>
                      <a:endParaRPr sz="1200" b="1"/>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chemeClr val="accent6"/>
                    </a:solidFill>
                  </a:tcPr>
                </a:tc>
                <a:extLst>
                  <a:ext uri="{0D108BD9-81ED-4DB2-BD59-A6C34878D82A}">
                    <a16:rowId xmlns:a16="http://schemas.microsoft.com/office/drawing/2014/main" val="10000"/>
                  </a:ext>
                </a:extLst>
              </a:tr>
              <a:tr h="335000">
                <a:tc>
                  <a:txBody>
                    <a:bodyPr/>
                    <a:lstStyle/>
                    <a:p>
                      <a:pPr marL="0" lvl="0" indent="0" algn="l" rtl="0">
                        <a:lnSpc>
                          <a:spcPct val="115000"/>
                        </a:lnSpc>
                        <a:spcBef>
                          <a:spcPts val="0"/>
                        </a:spcBef>
                        <a:spcAft>
                          <a:spcPts val="0"/>
                        </a:spcAft>
                        <a:buNone/>
                      </a:pPr>
                      <a:r>
                        <a:rPr lang="en-US" sz="1200"/>
                        <a:t>👥 Nouveaux ménages</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ctr"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ctr" rtl="0">
                        <a:lnSpc>
                          <a:spcPct val="115000"/>
                        </a:lnSpc>
                        <a:spcBef>
                          <a:spcPts val="0"/>
                        </a:spcBef>
                        <a:spcAft>
                          <a:spcPts val="0"/>
                        </a:spcAft>
                        <a:buNone/>
                      </a:pPr>
                      <a:r>
                        <a:rPr lang="en-US" sz="1200"/>
                        <a:t>X %</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l" rtl="0">
                        <a:lnSpc>
                          <a:spcPct val="115000"/>
                        </a:lnSpc>
                        <a:spcBef>
                          <a:spcPts val="0"/>
                        </a:spcBef>
                        <a:spcAft>
                          <a:spcPts val="0"/>
                        </a:spcAft>
                        <a:buNone/>
                      </a:pPr>
                      <a:r>
                        <a:rPr lang="en-US" sz="1200"/>
                        <a:t>Croissance du nombre de ménages</a:t>
                      </a:r>
                      <a:endParaRPr sz="1200"/>
                    </a:p>
                  </a:txBody>
                  <a:tcPr marL="91425" marR="91425" marT="19050" marB="19050" anchor="ctr">
                    <a:lnL w="9525" cap="flat" cmpd="sng">
                      <a:solidFill>
                        <a:srgbClr val="CCCCCC">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extLst>
                  <a:ext uri="{0D108BD9-81ED-4DB2-BD59-A6C34878D82A}">
                    <a16:rowId xmlns:a16="http://schemas.microsoft.com/office/drawing/2014/main" val="10001"/>
                  </a:ext>
                </a:extLst>
              </a:tr>
              <a:tr h="335000">
                <a:tc>
                  <a:txBody>
                    <a:bodyPr/>
                    <a:lstStyle/>
                    <a:p>
                      <a:pPr marL="0" lvl="0" indent="0" algn="l" rtl="0">
                        <a:lnSpc>
                          <a:spcPct val="115000"/>
                        </a:lnSpc>
                        <a:spcBef>
                          <a:spcPts val="0"/>
                        </a:spcBef>
                        <a:spcAft>
                          <a:spcPts val="0"/>
                        </a:spcAft>
                        <a:buNone/>
                      </a:pPr>
                      <a:r>
                        <a:rPr lang="en-US" sz="1200"/>
                        <a:t>🏠 Fluidité du marché</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ctr"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ctr" rtl="0">
                        <a:lnSpc>
                          <a:spcPct val="115000"/>
                        </a:lnSpc>
                        <a:spcBef>
                          <a:spcPts val="0"/>
                        </a:spcBef>
                        <a:spcAft>
                          <a:spcPts val="0"/>
                        </a:spcAft>
                        <a:buNone/>
                      </a:pPr>
                      <a:r>
                        <a:rPr lang="en-US" sz="1200"/>
                        <a:t>X %</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l" rtl="0">
                        <a:lnSpc>
                          <a:spcPct val="115000"/>
                        </a:lnSpc>
                        <a:spcBef>
                          <a:spcPts val="0"/>
                        </a:spcBef>
                        <a:spcAft>
                          <a:spcPts val="0"/>
                        </a:spcAft>
                        <a:buNone/>
                      </a:pPr>
                      <a:r>
                        <a:rPr lang="en-US" sz="1200"/>
                        <a:t>Rotation normale des logements</a:t>
                      </a:r>
                      <a:endParaRPr sz="1200"/>
                    </a:p>
                  </a:txBody>
                  <a:tcPr marL="91425" marR="91425" marT="19050" marB="19050" anchor="ctr">
                    <a:lnL w="9525" cap="flat" cmpd="sng">
                      <a:solidFill>
                        <a:srgbClr val="CCCCCC">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extLst>
                  <a:ext uri="{0D108BD9-81ED-4DB2-BD59-A6C34878D82A}">
                    <a16:rowId xmlns:a16="http://schemas.microsoft.com/office/drawing/2014/main" val="10002"/>
                  </a:ext>
                </a:extLst>
              </a:tr>
              <a:tr h="618475">
                <a:tc>
                  <a:txBody>
                    <a:bodyPr/>
                    <a:lstStyle/>
                    <a:p>
                      <a:pPr marL="0" lvl="0" indent="0" algn="l" rtl="0">
                        <a:lnSpc>
                          <a:spcPct val="115000"/>
                        </a:lnSpc>
                        <a:spcBef>
                          <a:spcPts val="0"/>
                        </a:spcBef>
                        <a:spcAft>
                          <a:spcPts val="0"/>
                        </a:spcAft>
                        <a:buNone/>
                      </a:pPr>
                      <a:r>
                        <a:rPr lang="en-US" sz="1200"/>
                        <a:t>🏘️ Résidences secondaires</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ctr"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ctr" rtl="0">
                        <a:lnSpc>
                          <a:spcPct val="115000"/>
                        </a:lnSpc>
                        <a:spcBef>
                          <a:spcPts val="0"/>
                        </a:spcBef>
                        <a:spcAft>
                          <a:spcPts val="0"/>
                        </a:spcAft>
                        <a:buNone/>
                      </a:pPr>
                      <a:r>
                        <a:rPr lang="en-US" sz="1200"/>
                        <a:t>X %</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tc>
                  <a:txBody>
                    <a:bodyPr/>
                    <a:lstStyle/>
                    <a:p>
                      <a:pPr marL="0" lvl="0" indent="0" algn="l" rtl="0">
                        <a:lnSpc>
                          <a:spcPct val="115000"/>
                        </a:lnSpc>
                        <a:spcBef>
                          <a:spcPts val="0"/>
                        </a:spcBef>
                        <a:spcAft>
                          <a:spcPts val="0"/>
                        </a:spcAft>
                        <a:buNone/>
                      </a:pPr>
                      <a:r>
                        <a:rPr lang="en-US" sz="1200"/>
                        <a:t>Évolution du parc secondaire</a:t>
                      </a:r>
                      <a:endParaRPr sz="1200"/>
                    </a:p>
                  </a:txBody>
                  <a:tcPr marL="91425" marR="91425" marT="19050" marB="19050" anchor="ctr">
                    <a:lnL w="9525" cap="flat" cmpd="sng">
                      <a:solidFill>
                        <a:srgbClr val="CCCCCC">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CED1FF"/>
                    </a:solidFill>
                  </a:tcPr>
                </a:tc>
                <a:extLst>
                  <a:ext uri="{0D108BD9-81ED-4DB2-BD59-A6C34878D82A}">
                    <a16:rowId xmlns:a16="http://schemas.microsoft.com/office/drawing/2014/main" val="10003"/>
                  </a:ext>
                </a:extLst>
              </a:tr>
              <a:tr h="618475">
                <a:tc>
                  <a:txBody>
                    <a:bodyPr/>
                    <a:lstStyle/>
                    <a:p>
                      <a:pPr marL="0" lvl="0" indent="0" algn="l" rtl="0">
                        <a:lnSpc>
                          <a:spcPct val="115000"/>
                        </a:lnSpc>
                        <a:spcBef>
                          <a:spcPts val="0"/>
                        </a:spcBef>
                        <a:spcAft>
                          <a:spcPts val="0"/>
                        </a:spcAft>
                        <a:buNone/>
                      </a:pPr>
                      <a:r>
                        <a:rPr lang="en-US" sz="1200"/>
                        <a:t>🔄 Remobilisation vacants</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0"/>
                        </a:spcAft>
                        <a:buNone/>
                      </a:pP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tc>
                  <a:txBody>
                    <a:bodyPr/>
                    <a:lstStyle/>
                    <a:p>
                      <a:pPr marL="0" lvl="0" indent="0" algn="l" rtl="0">
                        <a:lnSpc>
                          <a:spcPct val="115000"/>
                        </a:lnSpc>
                        <a:spcBef>
                          <a:spcPts val="0"/>
                        </a:spcBef>
                        <a:spcAft>
                          <a:spcPts val="0"/>
                        </a:spcAft>
                        <a:buNone/>
                      </a:pPr>
                      <a:r>
                        <a:rPr lang="en-US" sz="1200"/>
                        <a:t>Retour sur le marché de logements vacants</a:t>
                      </a:r>
                      <a:endParaRPr sz="1200"/>
                    </a:p>
                  </a:txBody>
                  <a:tcPr marL="91425" marR="91425" marT="19050" marB="19050" anchor="ctr">
                    <a:lnL w="9525" cap="flat" cmpd="sng">
                      <a:solidFill>
                        <a:srgbClr val="CCCCCC">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extLst>
                  <a:ext uri="{0D108BD9-81ED-4DB2-BD59-A6C34878D82A}">
                    <a16:rowId xmlns:a16="http://schemas.microsoft.com/office/drawing/2014/main" val="10004"/>
                  </a:ext>
                </a:extLst>
              </a:tr>
              <a:tr h="618475">
                <a:tc>
                  <a:txBody>
                    <a:bodyPr/>
                    <a:lstStyle/>
                    <a:p>
                      <a:pPr marL="0" lvl="0" indent="0" algn="l" rtl="0">
                        <a:lnSpc>
                          <a:spcPct val="115000"/>
                        </a:lnSpc>
                        <a:spcBef>
                          <a:spcPts val="0"/>
                        </a:spcBef>
                        <a:spcAft>
                          <a:spcPts val="0"/>
                        </a:spcAft>
                        <a:buNone/>
                      </a:pPr>
                      <a:r>
                        <a:rPr lang="en-US" sz="1200"/>
                        <a:t>🏗️ Renouvellement urbain</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tc>
                  <a:txBody>
                    <a:bodyPr/>
                    <a:lstStyle/>
                    <a:p>
                      <a:pPr marL="0" lvl="0" indent="0" algn="ctr" rtl="0">
                        <a:lnSpc>
                          <a:spcPct val="115000"/>
                        </a:lnSpc>
                        <a:spcBef>
                          <a:spcPts val="0"/>
                        </a:spcBef>
                        <a:spcAft>
                          <a:spcPts val="0"/>
                        </a:spcAft>
                        <a:buNone/>
                      </a:pP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tc>
                  <a:txBody>
                    <a:bodyPr/>
                    <a:lstStyle/>
                    <a:p>
                      <a:pPr marL="0" lvl="0" indent="0" algn="l" rtl="0">
                        <a:lnSpc>
                          <a:spcPct val="115000"/>
                        </a:lnSpc>
                        <a:spcBef>
                          <a:spcPts val="0"/>
                        </a:spcBef>
                        <a:spcAft>
                          <a:spcPts val="0"/>
                        </a:spcAft>
                        <a:buNone/>
                      </a:pPr>
                      <a:r>
                        <a:rPr lang="en-US" sz="1200"/>
                        <a:t>[Créations] &gt; [démolitions] dans le parc</a:t>
                      </a:r>
                      <a:endParaRPr sz="1200"/>
                    </a:p>
                  </a:txBody>
                  <a:tcPr marL="91425" marR="91425" marT="19050" marB="19050" anchor="ctr">
                    <a:lnL w="9525" cap="flat" cmpd="sng">
                      <a:solidFill>
                        <a:srgbClr val="CCCCCC">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solidFill>
                      <a:srgbClr val="D9EAD3"/>
                    </a:solidFill>
                  </a:tcPr>
                </a:tc>
                <a:extLst>
                  <a:ext uri="{0D108BD9-81ED-4DB2-BD59-A6C34878D82A}">
                    <a16:rowId xmlns:a16="http://schemas.microsoft.com/office/drawing/2014/main" val="10005"/>
                  </a:ext>
                </a:extLst>
              </a:tr>
              <a:tr h="618475">
                <a:tc>
                  <a:txBody>
                    <a:bodyPr/>
                    <a:lstStyle/>
                    <a:p>
                      <a:pPr marL="0" lvl="0" indent="0" algn="l" rtl="0">
                        <a:lnSpc>
                          <a:spcPct val="115000"/>
                        </a:lnSpc>
                        <a:spcBef>
                          <a:spcPts val="0"/>
                        </a:spcBef>
                        <a:spcAft>
                          <a:spcPts val="0"/>
                        </a:spcAft>
                        <a:buNone/>
                      </a:pPr>
                      <a:r>
                        <a:rPr lang="en-US" sz="1200"/>
                        <a:t>Constructions neuves </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gridSpan="3">
                  <a:txBody>
                    <a:bodyPr/>
                    <a:lstStyle/>
                    <a:p>
                      <a:pPr marL="0" lvl="0" indent="0" algn="ctr" rtl="0">
                        <a:lnSpc>
                          <a:spcPct val="115000"/>
                        </a:lnSpc>
                        <a:spcBef>
                          <a:spcPts val="0"/>
                        </a:spcBef>
                        <a:spcAft>
                          <a:spcPts val="0"/>
                        </a:spcAft>
                        <a:buNone/>
                      </a:pPr>
                      <a:r>
                        <a:rPr lang="en-US" sz="1200" b="1"/>
                        <a:t>XXX logements neufs à produire</a:t>
                      </a:r>
                      <a:endParaRPr sz="1200" b="1"/>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48" name="Google Shape;248;p31"/>
          <p:cNvSpPr txBox="1"/>
          <p:nvPr/>
        </p:nvSpPr>
        <p:spPr>
          <a:xfrm>
            <a:off x="219975" y="1782450"/>
            <a:ext cx="1625700" cy="2280300"/>
          </a:xfrm>
          <a:prstGeom prst="rect">
            <a:avLst/>
          </a:prstGeom>
          <a:solidFill>
            <a:schemeClr val="accent3"/>
          </a:solid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en-US" sz="1100" b="1">
                <a:solidFill>
                  <a:schemeClr val="dk1"/>
                </a:solidFill>
              </a:rPr>
              <a:t>💡 Messages clés</a:t>
            </a:r>
            <a:endParaRPr sz="1100" b="1">
              <a:solidFill>
                <a:schemeClr val="dk1"/>
              </a:solidFill>
            </a:endParaRPr>
          </a:p>
          <a:p>
            <a:pPr marL="171450" lvl="0" indent="-177800" algn="l" rtl="0">
              <a:lnSpc>
                <a:spcPct val="115000"/>
              </a:lnSpc>
              <a:spcBef>
                <a:spcPts val="1200"/>
              </a:spcBef>
              <a:spcAft>
                <a:spcPts val="0"/>
              </a:spcAft>
              <a:buClr>
                <a:schemeClr val="dk1"/>
              </a:buClr>
              <a:buSzPts val="1000"/>
              <a:buChar char="●"/>
            </a:pPr>
            <a:r>
              <a:rPr lang="en-US" sz="1000" b="1">
                <a:solidFill>
                  <a:schemeClr val="dk1"/>
                </a:solidFill>
              </a:rPr>
              <a:t>X% des besoins = démographie</a:t>
            </a:r>
            <a:r>
              <a:rPr lang="en-US" sz="1000">
                <a:solidFill>
                  <a:schemeClr val="dk1"/>
                </a:solidFill>
              </a:rPr>
              <a:t> : c'est le moteur principal</a:t>
            </a:r>
            <a:endParaRPr sz="1000">
              <a:solidFill>
                <a:schemeClr val="dk1"/>
              </a:solidFill>
            </a:endParaRPr>
          </a:p>
          <a:p>
            <a:pPr marL="171450" lvl="0" indent="-177800" algn="l" rtl="0">
              <a:lnSpc>
                <a:spcPct val="115000"/>
              </a:lnSpc>
              <a:spcBef>
                <a:spcPts val="0"/>
              </a:spcBef>
              <a:spcAft>
                <a:spcPts val="0"/>
              </a:spcAft>
              <a:buClr>
                <a:schemeClr val="dk1"/>
              </a:buClr>
              <a:buSzPts val="1000"/>
              <a:buChar char="●"/>
            </a:pPr>
            <a:r>
              <a:rPr lang="en-US" sz="1000" b="1">
                <a:solidFill>
                  <a:schemeClr val="dk1"/>
                </a:solidFill>
              </a:rPr>
              <a:t>Renouvellement urbain positif</a:t>
            </a:r>
            <a:r>
              <a:rPr lang="en-US" sz="1000">
                <a:solidFill>
                  <a:schemeClr val="dk1"/>
                </a:solidFill>
              </a:rPr>
              <a:t> : le parc se densifie naturellement</a:t>
            </a:r>
            <a:endParaRPr sz="1000">
              <a:solidFill>
                <a:schemeClr val="dk1"/>
              </a:solidFill>
            </a:endParaRPr>
          </a:p>
          <a:p>
            <a:pPr marL="171450" lvl="0" indent="-177800" algn="l" rtl="0">
              <a:lnSpc>
                <a:spcPct val="115000"/>
              </a:lnSpc>
              <a:spcBef>
                <a:spcPts val="0"/>
              </a:spcBef>
              <a:spcAft>
                <a:spcPts val="0"/>
              </a:spcAft>
              <a:buClr>
                <a:schemeClr val="dk1"/>
              </a:buClr>
              <a:buSzPts val="1000"/>
              <a:buChar char="●"/>
            </a:pPr>
            <a:r>
              <a:rPr lang="en-US" sz="1000" b="1">
                <a:solidFill>
                  <a:schemeClr val="dk1"/>
                </a:solidFill>
              </a:rPr>
              <a:t>Vacance mobilisable</a:t>
            </a:r>
            <a:r>
              <a:rPr lang="en-US" sz="1000">
                <a:solidFill>
                  <a:schemeClr val="dk1"/>
                </a:solidFill>
              </a:rPr>
              <a:t> : gisement limité mais réel</a:t>
            </a:r>
            <a:endParaRPr sz="1000">
              <a:solidFill>
                <a:schemeClr val="dk1"/>
              </a:solidFill>
            </a:endParaRPr>
          </a:p>
        </p:txBody>
      </p:sp>
      <p:sp>
        <p:nvSpPr>
          <p:cNvPr id="249" name="Google Shape;249;p31"/>
          <p:cNvSpPr/>
          <p:nvPr/>
        </p:nvSpPr>
        <p:spPr>
          <a:xfrm rot="-5400000">
            <a:off x="1632500" y="2371650"/>
            <a:ext cx="15786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200" b="1">
                <a:solidFill>
                  <a:srgbClr val="000091"/>
                </a:solidFill>
                <a:latin typeface="Calibri"/>
                <a:ea typeface="Calibri"/>
                <a:cs typeface="Calibri"/>
                <a:sym typeface="Calibri"/>
              </a:rPr>
              <a:t>Besoin en logements supplémentaires</a:t>
            </a:r>
            <a:endParaRPr sz="1200" b="1">
              <a:solidFill>
                <a:srgbClr val="000091"/>
              </a:solidFill>
              <a:latin typeface="Calibri"/>
              <a:ea typeface="Calibri"/>
              <a:cs typeface="Calibri"/>
              <a:sym typeface="Calibri"/>
            </a:endParaRPr>
          </a:p>
        </p:txBody>
      </p:sp>
      <p:sp>
        <p:nvSpPr>
          <p:cNvPr id="250" name="Google Shape;250;p31"/>
          <p:cNvSpPr/>
          <p:nvPr/>
        </p:nvSpPr>
        <p:spPr>
          <a:xfrm rot="-5400000">
            <a:off x="1808888" y="3773850"/>
            <a:ext cx="12258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200" b="1">
                <a:solidFill>
                  <a:srgbClr val="000091"/>
                </a:solidFill>
                <a:latin typeface="Calibri"/>
                <a:ea typeface="Calibri"/>
                <a:cs typeface="Calibri"/>
                <a:sym typeface="Calibri"/>
              </a:rPr>
              <a:t>Optimisation du parc existant</a:t>
            </a:r>
            <a:endParaRPr sz="1200" b="1">
              <a:solidFill>
                <a:srgbClr val="00009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44F4D7C8-38AE-18D3-FDBD-1D3F57FE5F49}"/>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756038B3-CDFA-ADB2-1177-B275553DFB04}"/>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2"/>
          <p:cNvSpPr txBox="1"/>
          <p:nvPr/>
        </p:nvSpPr>
        <p:spPr>
          <a:xfrm>
            <a:off x="2600446" y="209550"/>
            <a:ext cx="6267300" cy="461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Résorption du mal-logement</a:t>
            </a:r>
            <a:endParaRPr sz="1200" i="1">
              <a:solidFill>
                <a:srgbClr val="262626"/>
              </a:solidFill>
            </a:endParaRPr>
          </a:p>
        </p:txBody>
      </p:sp>
      <p:sp>
        <p:nvSpPr>
          <p:cNvPr id="258" name="Google Shape;258;p32"/>
          <p:cNvSpPr txBox="1"/>
          <p:nvPr/>
        </p:nvSpPr>
        <p:spPr>
          <a:xfrm>
            <a:off x="2600446" y="666750"/>
            <a:ext cx="6267300" cy="4002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000" i="1">
                <a:solidFill>
                  <a:srgbClr val="262626"/>
                </a:solidFill>
              </a:rPr>
              <a:t>Objectif : XXX logements pour régler XXXX situations</a:t>
            </a:r>
            <a:endParaRPr sz="800" i="1">
              <a:solidFill>
                <a:srgbClr val="262626"/>
              </a:solidFill>
            </a:endParaRPr>
          </a:p>
        </p:txBody>
      </p:sp>
      <p:graphicFrame>
        <p:nvGraphicFramePr>
          <p:cNvPr id="259" name="Google Shape;259;p32"/>
          <p:cNvGraphicFramePr/>
          <p:nvPr/>
        </p:nvGraphicFramePr>
        <p:xfrm>
          <a:off x="2633713" y="1214913"/>
          <a:ext cx="6267275" cy="2530900"/>
        </p:xfrm>
        <a:graphic>
          <a:graphicData uri="http://schemas.openxmlformats.org/drawingml/2006/table">
            <a:tbl>
              <a:tblPr>
                <a:noFill/>
                <a:tableStyleId>{8782ED91-6AAA-4FC9-A8D7-22FAF3BB82A8}</a:tableStyleId>
              </a:tblPr>
              <a:tblGrid>
                <a:gridCol w="2722900">
                  <a:extLst>
                    <a:ext uri="{9D8B030D-6E8A-4147-A177-3AD203B41FA5}">
                      <a16:colId xmlns:a16="http://schemas.microsoft.com/office/drawing/2014/main" val="20000"/>
                    </a:ext>
                  </a:extLst>
                </a:gridCol>
                <a:gridCol w="2257300">
                  <a:extLst>
                    <a:ext uri="{9D8B030D-6E8A-4147-A177-3AD203B41FA5}">
                      <a16:colId xmlns:a16="http://schemas.microsoft.com/office/drawing/2014/main" val="20001"/>
                    </a:ext>
                  </a:extLst>
                </a:gridCol>
                <a:gridCol w="1287075">
                  <a:extLst>
                    <a:ext uri="{9D8B030D-6E8A-4147-A177-3AD203B41FA5}">
                      <a16:colId xmlns:a16="http://schemas.microsoft.com/office/drawing/2014/main" val="20002"/>
                    </a:ext>
                  </a:extLst>
                </a:gridCol>
              </a:tblGrid>
              <a:tr h="414025">
                <a:tc>
                  <a:txBody>
                    <a:bodyPr/>
                    <a:lstStyle/>
                    <a:p>
                      <a:pPr marL="0" lvl="0" indent="0" algn="l" rtl="0">
                        <a:lnSpc>
                          <a:spcPct val="115000"/>
                        </a:lnSpc>
                        <a:spcBef>
                          <a:spcPts val="0"/>
                        </a:spcBef>
                        <a:spcAft>
                          <a:spcPts val="0"/>
                        </a:spcAft>
                        <a:buNone/>
                      </a:pPr>
                      <a:r>
                        <a:rPr lang="en-US" sz="1200" b="1">
                          <a:solidFill>
                            <a:schemeClr val="dk2"/>
                          </a:solidFill>
                        </a:rPr>
                        <a:t>Situation</a:t>
                      </a:r>
                      <a:endParaRPr sz="1200" b="1">
                        <a:solidFill>
                          <a:schemeClr val="dk2"/>
                        </a:solidFill>
                      </a:endParaRPr>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b="1">
                          <a:solidFill>
                            <a:schemeClr val="dk2"/>
                          </a:solidFill>
                        </a:rPr>
                        <a:t>Ménages concernés</a:t>
                      </a:r>
                      <a:endParaRPr sz="1200" b="1">
                        <a:solidFill>
                          <a:schemeClr val="dk2"/>
                        </a:solidFill>
                      </a:endParaRPr>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b="1">
                          <a:solidFill>
                            <a:schemeClr val="dk2"/>
                          </a:solidFill>
                        </a:rPr>
                        <a:t>% du total</a:t>
                      </a:r>
                      <a:endParaRPr sz="1200" b="1">
                        <a:solidFill>
                          <a:schemeClr val="dk2"/>
                        </a:solidFill>
                      </a:endParaRPr>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rgbClr val="CCCCCC">
                          <a:alpha val="0"/>
                        </a:srgbClr>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0"/>
                  </a:ext>
                </a:extLst>
              </a:tr>
              <a:tr h="437400">
                <a:tc>
                  <a:txBody>
                    <a:bodyPr/>
                    <a:lstStyle/>
                    <a:p>
                      <a:pPr marL="0" lvl="0" indent="0" algn="l" rtl="0">
                        <a:lnSpc>
                          <a:spcPct val="115000"/>
                        </a:lnSpc>
                        <a:spcBef>
                          <a:spcPts val="0"/>
                        </a:spcBef>
                        <a:spcAft>
                          <a:spcPts val="0"/>
                        </a:spcAft>
                        <a:buNone/>
                      </a:pPr>
                      <a:r>
                        <a:rPr lang="en-US" sz="1200"/>
                        <a:t>🏠 Hébergés</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414025">
                <a:tc>
                  <a:txBody>
                    <a:bodyPr/>
                    <a:lstStyle/>
                    <a:p>
                      <a:pPr marL="0" lvl="0" indent="0" algn="l" rtl="0">
                        <a:lnSpc>
                          <a:spcPct val="115000"/>
                        </a:lnSpc>
                        <a:spcBef>
                          <a:spcPts val="0"/>
                        </a:spcBef>
                        <a:spcAft>
                          <a:spcPts val="0"/>
                        </a:spcAft>
                        <a:buNone/>
                      </a:pPr>
                      <a:r>
                        <a:rPr lang="en-US" sz="1200"/>
                        <a:t>🚫 Hors logement</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437400">
                <a:tc>
                  <a:txBody>
                    <a:bodyPr/>
                    <a:lstStyle/>
                    <a:p>
                      <a:pPr marL="0" lvl="0" indent="0" algn="l" rtl="0">
                        <a:lnSpc>
                          <a:spcPct val="115000"/>
                        </a:lnSpc>
                        <a:spcBef>
                          <a:spcPts val="0"/>
                        </a:spcBef>
                        <a:spcAft>
                          <a:spcPts val="0"/>
                        </a:spcAft>
                        <a:buNone/>
                      </a:pPr>
                      <a:r>
                        <a:rPr lang="en-US" sz="1200"/>
                        <a:t>💰 Inadéquation financière</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414025">
                <a:tc>
                  <a:txBody>
                    <a:bodyPr/>
                    <a:lstStyle/>
                    <a:p>
                      <a:pPr marL="0" lvl="0" indent="0" algn="l" rtl="0">
                        <a:lnSpc>
                          <a:spcPct val="115000"/>
                        </a:lnSpc>
                        <a:spcBef>
                          <a:spcPts val="0"/>
                        </a:spcBef>
                        <a:spcAft>
                          <a:spcPts val="0"/>
                        </a:spcAft>
                        <a:buNone/>
                      </a:pPr>
                      <a:r>
                        <a:rPr lang="en-US" sz="1200"/>
                        <a:t>🔧 Inadéquation physique</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414025">
                <a:tc>
                  <a:txBody>
                    <a:bodyPr/>
                    <a:lstStyle/>
                    <a:p>
                      <a:pPr marL="0" lvl="0" indent="0" algn="l" rtl="0">
                        <a:lnSpc>
                          <a:spcPct val="115000"/>
                        </a:lnSpc>
                        <a:spcBef>
                          <a:spcPts val="0"/>
                        </a:spcBef>
                        <a:spcAft>
                          <a:spcPts val="0"/>
                        </a:spcAft>
                        <a:buNone/>
                      </a:pPr>
                      <a:r>
                        <a:rPr lang="en-US" sz="1200"/>
                        <a:t>⚠️ Mauvaise qualité</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XXX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US" sz="1200"/>
                        <a:t>X%</a:t>
                      </a:r>
                      <a:endParaRPr sz="1200"/>
                    </a:p>
                  </a:txBody>
                  <a:tcPr marL="28575" marR="28575" marT="19050" marB="19050" anchor="ctr">
                    <a:lnL w="9525" cap="flat" cmpd="sng">
                      <a:solidFill>
                        <a:srgbClr val="CCCCCC">
                          <a:alpha val="0"/>
                        </a:srgbClr>
                      </a:solidFill>
                      <a:prstDash val="solid"/>
                      <a:round/>
                      <a:headEnd type="none" w="sm" len="sm"/>
                      <a:tailEnd type="none" w="sm" len="sm"/>
                    </a:lnL>
                    <a:lnR w="9525" cap="flat" cmpd="sng">
                      <a:solidFill>
                        <a:srgbClr val="CCCCCC">
                          <a:alpha val="0"/>
                        </a:srgbClr>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rgbClr val="CCCCCC">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260" name="Google Shape;260;p32"/>
          <p:cNvSpPr txBox="1"/>
          <p:nvPr/>
        </p:nvSpPr>
        <p:spPr>
          <a:xfrm>
            <a:off x="2600438" y="3870450"/>
            <a:ext cx="6267300" cy="1049400"/>
          </a:xfrm>
          <a:prstGeom prst="rect">
            <a:avLst/>
          </a:prstGeom>
          <a:solidFill>
            <a:schemeClr val="accent3"/>
          </a:solid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US" sz="1100" b="1">
                <a:solidFill>
                  <a:schemeClr val="dk1"/>
                </a:solidFill>
              </a:rPr>
              <a:t>🎯 Stratégie de résorption</a:t>
            </a:r>
            <a:endParaRPr sz="1100" b="1">
              <a:solidFill>
                <a:schemeClr val="dk1"/>
              </a:solidFill>
            </a:endParaRPr>
          </a:p>
          <a:p>
            <a:pPr marL="228600" lvl="0" indent="-184150" algn="l" rtl="0">
              <a:lnSpc>
                <a:spcPct val="115000"/>
              </a:lnSpc>
              <a:spcBef>
                <a:spcPts val="1200"/>
              </a:spcBef>
              <a:spcAft>
                <a:spcPts val="0"/>
              </a:spcAft>
              <a:buClr>
                <a:schemeClr val="dk1"/>
              </a:buClr>
              <a:buSzPts val="1100"/>
              <a:buChar char="●"/>
            </a:pPr>
            <a:r>
              <a:rPr lang="en-US" sz="1100" b="1">
                <a:solidFill>
                  <a:schemeClr val="dk1"/>
                </a:solidFill>
              </a:rPr>
              <a:t>Objectif</a:t>
            </a:r>
            <a:r>
              <a:rPr lang="en-US" sz="1100">
                <a:solidFill>
                  <a:schemeClr val="dk1"/>
                </a:solidFill>
              </a:rPr>
              <a:t> : résorption complète d'ici</a:t>
            </a:r>
            <a:r>
              <a:rPr lang="en-US" sz="1100" b="1">
                <a:solidFill>
                  <a:schemeClr val="dk1"/>
                </a:solidFill>
              </a:rPr>
              <a:t> xxx</a:t>
            </a:r>
            <a:endParaRPr sz="1100" b="1">
              <a:solidFill>
                <a:schemeClr val="dk1"/>
              </a:solidFill>
            </a:endParaRPr>
          </a:p>
          <a:p>
            <a:pPr marL="228600" lvl="0" indent="-184150" algn="l" rtl="0">
              <a:lnSpc>
                <a:spcPct val="115000"/>
              </a:lnSpc>
              <a:spcBef>
                <a:spcPts val="0"/>
              </a:spcBef>
              <a:spcAft>
                <a:spcPts val="0"/>
              </a:spcAft>
              <a:buClr>
                <a:schemeClr val="dk1"/>
              </a:buClr>
              <a:buSzPts val="1100"/>
              <a:buChar char="●"/>
            </a:pPr>
            <a:r>
              <a:rPr lang="en-US" sz="1100" b="1">
                <a:solidFill>
                  <a:schemeClr val="dk1"/>
                </a:solidFill>
              </a:rPr>
              <a:t>Impact Document d’urbanisme</a:t>
            </a:r>
            <a:r>
              <a:rPr lang="en-US" sz="1100">
                <a:solidFill>
                  <a:schemeClr val="dk1"/>
                </a:solidFill>
              </a:rPr>
              <a:t>: XXX logements dédiés sur [début]-[fin]</a:t>
            </a:r>
            <a:endParaRPr sz="1100">
              <a:solidFill>
                <a:schemeClr val="dk1"/>
              </a:solidFill>
            </a:endParaRPr>
          </a:p>
          <a:p>
            <a:pPr marL="228600" lvl="0" indent="-184150" algn="l" rtl="0">
              <a:lnSpc>
                <a:spcPct val="115000"/>
              </a:lnSpc>
              <a:spcBef>
                <a:spcPts val="0"/>
              </a:spcBef>
              <a:spcAft>
                <a:spcPts val="0"/>
              </a:spcAft>
              <a:buClr>
                <a:schemeClr val="dk1"/>
              </a:buClr>
              <a:buSzPts val="1100"/>
              <a:buChar char="●"/>
            </a:pPr>
            <a:r>
              <a:rPr lang="en-US" sz="1100" b="1">
                <a:solidFill>
                  <a:schemeClr val="dk1"/>
                </a:solidFill>
              </a:rPr>
              <a:t>Publics prioritaires </a:t>
            </a:r>
            <a:r>
              <a:rPr lang="en-US" sz="1100">
                <a:solidFill>
                  <a:schemeClr val="dk1"/>
                </a:solidFill>
              </a:rPr>
              <a:t>: personnes hébergées (tiers, famille) et sans logement (X% des cas)</a:t>
            </a:r>
            <a:endParaRPr sz="1100">
              <a:solidFill>
                <a:schemeClr val="dk1"/>
              </a:solidFill>
            </a:endParaRPr>
          </a:p>
        </p:txBody>
      </p:sp>
      <p:sp>
        <p:nvSpPr>
          <p:cNvPr id="4" name="Google Shape;91;p14">
            <a:extLst>
              <a:ext uri="{FF2B5EF4-FFF2-40B4-BE49-F238E27FC236}">
                <a16:creationId xmlns:a16="http://schemas.microsoft.com/office/drawing/2014/main" id="{F74E27FA-3884-9AF9-4EB5-CE1330A51D18}"/>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5" name="Google Shape;92;p14">
            <a:extLst>
              <a:ext uri="{FF2B5EF4-FFF2-40B4-BE49-F238E27FC236}">
                <a16:creationId xmlns:a16="http://schemas.microsoft.com/office/drawing/2014/main" id="{03F9F405-CE2A-A9C4-0EEB-1499F5F332F8}"/>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33"/>
          <p:cNvSpPr txBox="1"/>
          <p:nvPr/>
        </p:nvSpPr>
        <p:spPr>
          <a:xfrm>
            <a:off x="2600446" y="209550"/>
            <a:ext cx="6267300" cy="4617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Mobilisation des logements vacants</a:t>
            </a:r>
            <a:endParaRPr sz="1200" i="1">
              <a:solidFill>
                <a:srgbClr val="262626"/>
              </a:solidFill>
            </a:endParaRPr>
          </a:p>
        </p:txBody>
      </p:sp>
      <p:sp>
        <p:nvSpPr>
          <p:cNvPr id="268" name="Google Shape;268;p33"/>
          <p:cNvSpPr txBox="1"/>
          <p:nvPr/>
        </p:nvSpPr>
        <p:spPr>
          <a:xfrm>
            <a:off x="99150" y="1835725"/>
            <a:ext cx="1924500" cy="2240100"/>
          </a:xfrm>
          <a:prstGeom prst="rect">
            <a:avLst/>
          </a:prstGeom>
          <a:solidFill>
            <a:schemeClr val="accent3"/>
          </a:solidFill>
          <a:ln>
            <a:noFill/>
          </a:ln>
        </p:spPr>
        <p:txBody>
          <a:bodyPr spcFirstLastPara="1" wrap="square" lIns="91425" tIns="91425" rIns="91425" bIns="91425" anchor="t" anchorCtr="0">
            <a:noAutofit/>
          </a:bodyPr>
          <a:lstStyle/>
          <a:p>
            <a:pPr marL="285750" lvl="0" indent="-184150" algn="l" rtl="0">
              <a:lnSpc>
                <a:spcPct val="115000"/>
              </a:lnSpc>
              <a:spcBef>
                <a:spcPts val="1200"/>
              </a:spcBef>
              <a:spcAft>
                <a:spcPts val="0"/>
              </a:spcAft>
              <a:buClr>
                <a:schemeClr val="dk1"/>
              </a:buClr>
              <a:buSzPts val="1100"/>
              <a:buChar char="●"/>
            </a:pPr>
            <a:r>
              <a:rPr lang="en-US" sz="1100" b="1">
                <a:solidFill>
                  <a:schemeClr val="dk1"/>
                </a:solidFill>
              </a:rPr>
              <a:t>Situation actuelle : [Volume arrondi au 100près]</a:t>
            </a:r>
            <a:br>
              <a:rPr lang="en-US" sz="1100" b="1">
                <a:solidFill>
                  <a:schemeClr val="dk1"/>
                </a:solidFill>
              </a:rPr>
            </a:br>
            <a:endParaRPr sz="1100" b="1">
              <a:solidFill>
                <a:schemeClr val="dk1"/>
              </a:solidFill>
            </a:endParaRPr>
          </a:p>
          <a:p>
            <a:pPr marL="285750" lvl="0" indent="-184150" algn="l" rtl="0">
              <a:lnSpc>
                <a:spcPct val="115000"/>
              </a:lnSpc>
              <a:spcBef>
                <a:spcPts val="0"/>
              </a:spcBef>
              <a:spcAft>
                <a:spcPts val="0"/>
              </a:spcAft>
              <a:buClr>
                <a:schemeClr val="dk1"/>
              </a:buClr>
              <a:buSzPts val="1100"/>
              <a:buChar char="●"/>
            </a:pPr>
            <a:r>
              <a:rPr lang="en-US" sz="1100" b="1">
                <a:solidFill>
                  <a:schemeClr val="dk1"/>
                </a:solidFill>
              </a:rPr>
              <a:t>Objectif [horizon de projection] :</a:t>
            </a:r>
            <a:r>
              <a:rPr lang="en-US" sz="1100">
                <a:solidFill>
                  <a:schemeClr val="dk1"/>
                </a:solidFill>
              </a:rPr>
              <a:t>  ([évolution en point])</a:t>
            </a:r>
            <a:br>
              <a:rPr lang="en-US" sz="1100">
                <a:solidFill>
                  <a:schemeClr val="dk1"/>
                </a:solidFill>
              </a:rPr>
            </a:br>
            <a:endParaRPr sz="1100">
              <a:solidFill>
                <a:schemeClr val="dk1"/>
              </a:solidFill>
            </a:endParaRPr>
          </a:p>
          <a:p>
            <a:pPr marL="285750" lvl="0" indent="-184150" algn="l" rtl="0">
              <a:lnSpc>
                <a:spcPct val="115000"/>
              </a:lnSpc>
              <a:spcBef>
                <a:spcPts val="0"/>
              </a:spcBef>
              <a:spcAft>
                <a:spcPts val="0"/>
              </a:spcAft>
              <a:buClr>
                <a:schemeClr val="dk1"/>
              </a:buClr>
              <a:buSzPts val="1100"/>
              <a:buChar char="●"/>
            </a:pPr>
            <a:r>
              <a:rPr lang="en-US" sz="1100">
                <a:solidFill>
                  <a:schemeClr val="dk1"/>
                </a:solidFill>
              </a:rPr>
              <a:t>Résultat : [nombre de logements à remobiliser]</a:t>
            </a:r>
            <a:endParaRPr sz="1100">
              <a:solidFill>
                <a:schemeClr val="dk1"/>
              </a:solidFill>
            </a:endParaRPr>
          </a:p>
        </p:txBody>
      </p:sp>
      <p:sp>
        <p:nvSpPr>
          <p:cNvPr id="269" name="Google Shape;269;p33"/>
          <p:cNvSpPr txBox="1"/>
          <p:nvPr/>
        </p:nvSpPr>
        <p:spPr>
          <a:xfrm flipH="1">
            <a:off x="2600450" y="4046550"/>
            <a:ext cx="6171600" cy="1038000"/>
          </a:xfrm>
          <a:prstGeom prst="rect">
            <a:avLst/>
          </a:prstGeom>
          <a:solidFill>
            <a:schemeClr val="accent3"/>
          </a:solid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US" sz="1100" b="1">
                <a:solidFill>
                  <a:schemeClr val="dk1"/>
                </a:solidFill>
              </a:rPr>
              <a:t>Pour aller plus loin : </a:t>
            </a:r>
            <a:r>
              <a:rPr lang="en-US" sz="1100" b="1" u="sng">
                <a:solidFill>
                  <a:schemeClr val="hlink"/>
                </a:solidFill>
                <a:hlinkClick r:id="rId3"/>
              </a:rPr>
              <a:t>ZéroLogementVacant</a:t>
            </a:r>
            <a:endParaRPr sz="1100" b="1">
              <a:solidFill>
                <a:schemeClr val="dk1"/>
              </a:solidFill>
            </a:endParaRPr>
          </a:p>
          <a:p>
            <a:pPr marL="0" lvl="0" indent="0" algn="l" rtl="0">
              <a:lnSpc>
                <a:spcPct val="115000"/>
              </a:lnSpc>
              <a:spcBef>
                <a:spcPts val="1200"/>
              </a:spcBef>
              <a:spcAft>
                <a:spcPts val="0"/>
              </a:spcAft>
              <a:buNone/>
            </a:pPr>
            <a:r>
              <a:rPr lang="en-US" sz="1100">
                <a:solidFill>
                  <a:schemeClr val="dk1"/>
                </a:solidFill>
              </a:rPr>
              <a:t>La plateforme permet aux collectivités de repérer les logements vacants actuels et potentiels et d'accompagner leurs propriétaires dans la sortie de la vacance ou la rénovation de leurs logements via de nombreuses ressources et fonctionnalités.</a:t>
            </a:r>
            <a:endParaRPr sz="1100">
              <a:solidFill>
                <a:schemeClr val="dk1"/>
              </a:solidFill>
            </a:endParaRPr>
          </a:p>
          <a:p>
            <a:pPr marL="0" lvl="0" indent="0" algn="l" rtl="0">
              <a:lnSpc>
                <a:spcPct val="115000"/>
              </a:lnSpc>
              <a:spcBef>
                <a:spcPts val="1200"/>
              </a:spcBef>
              <a:spcAft>
                <a:spcPts val="1200"/>
              </a:spcAft>
              <a:buNone/>
            </a:pPr>
            <a:endParaRPr sz="1100">
              <a:solidFill>
                <a:schemeClr val="dk1"/>
              </a:solidFill>
            </a:endParaRPr>
          </a:p>
        </p:txBody>
      </p:sp>
      <p:sp>
        <p:nvSpPr>
          <p:cNvPr id="2" name="Google Shape;91;p14">
            <a:extLst>
              <a:ext uri="{FF2B5EF4-FFF2-40B4-BE49-F238E27FC236}">
                <a16:creationId xmlns:a16="http://schemas.microsoft.com/office/drawing/2014/main" id="{D3A3D5ED-DC9C-5E63-9EB1-FE944CCEFB23}"/>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A0BEA2D8-DE5C-EB54-5E9F-94CEC846B55B}"/>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4"/>
          <p:cNvSpPr txBox="1"/>
          <p:nvPr/>
        </p:nvSpPr>
        <p:spPr>
          <a:xfrm>
            <a:off x="2600446" y="209550"/>
            <a:ext cx="6267300" cy="10158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Indicateurs : évolution de la population et de la composition des ménages</a:t>
            </a:r>
            <a:endParaRPr sz="2400" b="1">
              <a:solidFill>
                <a:srgbClr val="262626"/>
              </a:solidFill>
            </a:endParaRPr>
          </a:p>
          <a:p>
            <a:pPr marL="0" marR="0" lvl="0" indent="0" algn="l" rtl="0">
              <a:lnSpc>
                <a:spcPct val="100000"/>
              </a:lnSpc>
              <a:spcBef>
                <a:spcPts val="0"/>
              </a:spcBef>
              <a:spcAft>
                <a:spcPts val="0"/>
              </a:spcAft>
              <a:buClr>
                <a:srgbClr val="262626"/>
              </a:buClr>
              <a:buSzPts val="2400"/>
              <a:buFont typeface="Arial"/>
              <a:buNone/>
            </a:pPr>
            <a:endParaRPr sz="1200" i="1">
              <a:solidFill>
                <a:srgbClr val="262626"/>
              </a:solidFill>
            </a:endParaRPr>
          </a:p>
        </p:txBody>
      </p:sp>
      <p:sp>
        <p:nvSpPr>
          <p:cNvPr id="277" name="Google Shape;277;p34"/>
          <p:cNvSpPr txBox="1"/>
          <p:nvPr/>
        </p:nvSpPr>
        <p:spPr>
          <a:xfrm>
            <a:off x="2600450" y="1723825"/>
            <a:ext cx="2224200" cy="3079500"/>
          </a:xfrm>
          <a:prstGeom prst="rect">
            <a:avLst/>
          </a:prstGeom>
          <a:solidFill>
            <a:schemeClr val="accent3"/>
          </a:solidFill>
          <a:ln>
            <a:noFill/>
          </a:ln>
        </p:spPr>
        <p:txBody>
          <a:bodyPr spcFirstLastPara="1" wrap="square" lIns="45700" tIns="45700" rIns="45700" bIns="45700" anchor="t" anchorCtr="0">
            <a:noAutofit/>
          </a:bodyPr>
          <a:lstStyle/>
          <a:p>
            <a:pPr marL="0" lvl="0" indent="0" algn="l" rtl="0">
              <a:lnSpc>
                <a:spcPct val="115000"/>
              </a:lnSpc>
              <a:spcBef>
                <a:spcPts val="1200"/>
              </a:spcBef>
              <a:spcAft>
                <a:spcPts val="0"/>
              </a:spcAft>
              <a:buNone/>
            </a:pPr>
            <a:r>
              <a:rPr lang="en-US" sz="1200" b="1">
                <a:solidFill>
                  <a:schemeClr val="dk2"/>
                </a:solidFill>
              </a:rPr>
              <a:t>📉 Évolution continue de la population</a:t>
            </a:r>
            <a:endParaRPr sz="1200" b="1">
              <a:solidFill>
                <a:schemeClr val="dk2"/>
              </a:solidFill>
            </a:endParaRPr>
          </a:p>
          <a:p>
            <a:pPr marL="457200" lvl="0" indent="-298450" algn="l" rtl="0">
              <a:lnSpc>
                <a:spcPct val="115000"/>
              </a:lnSpc>
              <a:spcBef>
                <a:spcPts val="1200"/>
              </a:spcBef>
              <a:spcAft>
                <a:spcPts val="0"/>
              </a:spcAft>
              <a:buClr>
                <a:schemeClr val="dk1"/>
              </a:buClr>
              <a:buSzPts val="1100"/>
              <a:buChar char="●"/>
            </a:pPr>
            <a:r>
              <a:rPr lang="en-US" sz="1100" b="1">
                <a:solidFill>
                  <a:schemeClr val="dk1"/>
                </a:solidFill>
              </a:rPr>
              <a:t>2021</a:t>
            </a:r>
            <a:r>
              <a:rPr lang="en-US" sz="1100">
                <a:solidFill>
                  <a:schemeClr val="dk1"/>
                </a:solidFill>
              </a:rPr>
              <a:t> : xxx personnes/ménage</a:t>
            </a:r>
            <a:br>
              <a:rPr lang="en-US" sz="1100">
                <a:solidFill>
                  <a:schemeClr val="dk1"/>
                </a:solidFill>
              </a:rPr>
            </a:br>
            <a:endParaRPr sz="1100">
              <a:solidFill>
                <a:schemeClr val="dk1"/>
              </a:solidFill>
            </a:endParaRPr>
          </a:p>
          <a:p>
            <a:pPr marL="457200" lvl="0" indent="-298450" algn="l" rtl="0">
              <a:lnSpc>
                <a:spcPct val="115000"/>
              </a:lnSpc>
              <a:spcBef>
                <a:spcPts val="0"/>
              </a:spcBef>
              <a:spcAft>
                <a:spcPts val="0"/>
              </a:spcAft>
              <a:buClr>
                <a:schemeClr val="dk1"/>
              </a:buClr>
              <a:buSzPts val="1100"/>
              <a:buChar char="●"/>
            </a:pPr>
            <a:r>
              <a:rPr lang="en-US" sz="1100" b="1">
                <a:solidFill>
                  <a:schemeClr val="dk1"/>
                </a:solidFill>
              </a:rPr>
              <a:t>2028</a:t>
            </a:r>
            <a:r>
              <a:rPr lang="en-US" sz="1100">
                <a:solidFill>
                  <a:schemeClr val="dk1"/>
                </a:solidFill>
              </a:rPr>
              <a:t> : xxx  personnes/ménage</a:t>
            </a:r>
            <a:br>
              <a:rPr lang="en-US" sz="1100">
                <a:solidFill>
                  <a:schemeClr val="dk1"/>
                </a:solidFill>
              </a:rPr>
            </a:br>
            <a:endParaRPr sz="1100">
              <a:solidFill>
                <a:schemeClr val="dk1"/>
              </a:solidFill>
            </a:endParaRPr>
          </a:p>
          <a:p>
            <a:pPr marL="457200" lvl="0" indent="-298450" algn="l" rtl="0">
              <a:lnSpc>
                <a:spcPct val="115000"/>
              </a:lnSpc>
              <a:spcBef>
                <a:spcPts val="0"/>
              </a:spcBef>
              <a:spcAft>
                <a:spcPts val="0"/>
              </a:spcAft>
              <a:buClr>
                <a:schemeClr val="dk1"/>
              </a:buClr>
              <a:buSzPts val="1100"/>
              <a:buChar char="●"/>
            </a:pPr>
            <a:r>
              <a:rPr lang="en-US" sz="1100" b="1">
                <a:solidFill>
                  <a:schemeClr val="dk1"/>
                </a:solidFill>
              </a:rPr>
              <a:t>2034</a:t>
            </a:r>
            <a:r>
              <a:rPr lang="en-US" sz="1100">
                <a:solidFill>
                  <a:schemeClr val="dk1"/>
                </a:solidFill>
              </a:rPr>
              <a:t> : xxx  personnes/ménage</a:t>
            </a:r>
            <a:br>
              <a:rPr lang="en-US" sz="1100">
                <a:solidFill>
                  <a:schemeClr val="dk1"/>
                </a:solidFill>
              </a:rPr>
            </a:br>
            <a:endParaRPr sz="1100">
              <a:solidFill>
                <a:schemeClr val="dk1"/>
              </a:solidFill>
            </a:endParaRPr>
          </a:p>
          <a:p>
            <a:pPr marL="457200" lvl="0" indent="-298450" algn="l" rtl="0">
              <a:lnSpc>
                <a:spcPct val="115000"/>
              </a:lnSpc>
              <a:spcBef>
                <a:spcPts val="0"/>
              </a:spcBef>
              <a:spcAft>
                <a:spcPts val="0"/>
              </a:spcAft>
              <a:buClr>
                <a:schemeClr val="dk1"/>
              </a:buClr>
              <a:buSzPts val="1100"/>
              <a:buChar char="●"/>
            </a:pPr>
            <a:r>
              <a:rPr lang="en-US" sz="1100" b="1">
                <a:solidFill>
                  <a:schemeClr val="dk1"/>
                </a:solidFill>
              </a:rPr>
              <a:t>2040</a:t>
            </a:r>
            <a:r>
              <a:rPr lang="en-US" sz="1100">
                <a:solidFill>
                  <a:schemeClr val="dk1"/>
                </a:solidFill>
              </a:rPr>
              <a:t> : xxx personnes/ménage</a:t>
            </a:r>
            <a:endParaRPr sz="1100" b="1">
              <a:solidFill>
                <a:schemeClr val="dk2"/>
              </a:solidFill>
            </a:endParaRPr>
          </a:p>
        </p:txBody>
      </p:sp>
      <p:sp>
        <p:nvSpPr>
          <p:cNvPr id="278" name="Google Shape;278;p34"/>
          <p:cNvSpPr txBox="1"/>
          <p:nvPr/>
        </p:nvSpPr>
        <p:spPr>
          <a:xfrm>
            <a:off x="5235450" y="1723825"/>
            <a:ext cx="3313500" cy="3079500"/>
          </a:xfrm>
          <a:prstGeom prst="rect">
            <a:avLst/>
          </a:prstGeom>
          <a:solidFill>
            <a:schemeClr val="accent3"/>
          </a:solidFill>
          <a:ln>
            <a:noFill/>
          </a:ln>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US" sz="1200" b="1">
                <a:solidFill>
                  <a:schemeClr val="dk2"/>
                </a:solidFill>
              </a:rPr>
              <a:t>📈 Deux typologies en forte croissance</a:t>
            </a:r>
            <a:endParaRPr sz="1200" b="1">
              <a:solidFill>
                <a:schemeClr val="dk2"/>
              </a:solidFill>
            </a:endParaRPr>
          </a:p>
          <a:p>
            <a:pPr marL="0" lvl="0" indent="0" algn="l" rtl="0">
              <a:lnSpc>
                <a:spcPct val="115000"/>
              </a:lnSpc>
              <a:spcBef>
                <a:spcPts val="1200"/>
              </a:spcBef>
              <a:spcAft>
                <a:spcPts val="0"/>
              </a:spcAft>
              <a:buNone/>
            </a:pPr>
            <a:r>
              <a:rPr lang="en-US" sz="1100" b="1">
                <a:solidFill>
                  <a:schemeClr val="dk1"/>
                </a:solidFill>
              </a:rPr>
              <a:t>👤 Personnes seules : +30% d'ici 2040</a:t>
            </a:r>
            <a:endParaRPr sz="1100" b="1">
              <a:solidFill>
                <a:schemeClr val="dk1"/>
              </a:solidFill>
            </a:endParaRPr>
          </a:p>
          <a:p>
            <a:pPr marL="228600" lvl="0" indent="-184150" algn="l" rtl="0">
              <a:lnSpc>
                <a:spcPct val="115000"/>
              </a:lnSpc>
              <a:spcBef>
                <a:spcPts val="1200"/>
              </a:spcBef>
              <a:spcAft>
                <a:spcPts val="0"/>
              </a:spcAft>
              <a:buClr>
                <a:schemeClr val="dk1"/>
              </a:buClr>
              <a:buSzPts val="1100"/>
              <a:buChar char="●"/>
            </a:pPr>
            <a:r>
              <a:rPr lang="en-US" sz="1100" b="1">
                <a:solidFill>
                  <a:schemeClr val="dk1"/>
                </a:solidFill>
              </a:rPr>
              <a:t>2021-2040</a:t>
            </a:r>
            <a:r>
              <a:rPr lang="en-US" sz="1100">
                <a:solidFill>
                  <a:schemeClr val="dk1"/>
                </a:solidFill>
              </a:rPr>
              <a:t> : xxx → xxx ménages</a:t>
            </a:r>
            <a:endParaRPr sz="1100">
              <a:solidFill>
                <a:schemeClr val="dk1"/>
              </a:solidFill>
            </a:endParaRPr>
          </a:p>
          <a:p>
            <a:pPr marL="228600" lvl="0" indent="-184150" algn="l" rtl="0">
              <a:lnSpc>
                <a:spcPct val="115000"/>
              </a:lnSpc>
              <a:spcBef>
                <a:spcPts val="0"/>
              </a:spcBef>
              <a:spcAft>
                <a:spcPts val="0"/>
              </a:spcAft>
              <a:buClr>
                <a:schemeClr val="dk1"/>
              </a:buClr>
              <a:buSzPts val="1100"/>
              <a:buChar char="●"/>
            </a:pPr>
            <a:r>
              <a:rPr lang="en-US" sz="1100" b="1" i="1">
                <a:solidFill>
                  <a:schemeClr val="dk1"/>
                </a:solidFill>
              </a:rPr>
              <a:t>doc </a:t>
            </a:r>
            <a:r>
              <a:rPr lang="en-US" sz="1100" b="1">
                <a:solidFill>
                  <a:schemeClr val="dk1"/>
                </a:solidFill>
              </a:rPr>
              <a:t>2028-2034</a:t>
            </a:r>
            <a:r>
              <a:rPr lang="en-US" sz="1100">
                <a:solidFill>
                  <a:schemeClr val="dk1"/>
                </a:solidFill>
              </a:rPr>
              <a:t> : xxx → xxx </a:t>
            </a:r>
            <a:r>
              <a:rPr lang="en-US" sz="1100" i="1">
                <a:solidFill>
                  <a:schemeClr val="dk1"/>
                </a:solidFill>
              </a:rPr>
              <a:t>(+X%)</a:t>
            </a:r>
            <a:br>
              <a:rPr lang="en-US" sz="1100" i="1">
                <a:solidFill>
                  <a:schemeClr val="dk1"/>
                </a:solidFill>
              </a:rPr>
            </a:br>
            <a:br>
              <a:rPr lang="en-US" sz="1100" i="1">
                <a:solidFill>
                  <a:schemeClr val="dk1"/>
                </a:solidFill>
              </a:rPr>
            </a:br>
            <a:r>
              <a:rPr lang="en-US" sz="1100" i="1">
                <a:solidFill>
                  <a:schemeClr val="dk1"/>
                </a:solidFill>
              </a:rPr>
              <a:t>→ </a:t>
            </a:r>
            <a:r>
              <a:rPr lang="en-US" sz="1100" b="1">
                <a:solidFill>
                  <a:schemeClr val="dk1"/>
                </a:solidFill>
              </a:rPr>
              <a:t>Profils concernés :</a:t>
            </a:r>
            <a:endParaRPr sz="1100" b="1">
              <a:solidFill>
                <a:schemeClr val="dk1"/>
              </a:solidFill>
            </a:endParaRPr>
          </a:p>
          <a:p>
            <a:pPr marL="228600" marR="0" lvl="0" indent="-184150" algn="l" rtl="0">
              <a:lnSpc>
                <a:spcPct val="115000"/>
              </a:lnSpc>
              <a:spcBef>
                <a:spcPts val="0"/>
              </a:spcBef>
              <a:spcAft>
                <a:spcPts val="0"/>
              </a:spcAft>
              <a:buClr>
                <a:schemeClr val="dk1"/>
              </a:buClr>
              <a:buSzPts val="1100"/>
              <a:buChar char="●"/>
            </a:pPr>
            <a:r>
              <a:rPr lang="en-US" sz="1100" b="1">
                <a:solidFill>
                  <a:schemeClr val="dk1"/>
                </a:solidFill>
              </a:rPr>
              <a:t>Jeunes adultes</a:t>
            </a:r>
            <a:r>
              <a:rPr lang="en-US" sz="1100">
                <a:solidFill>
                  <a:schemeClr val="dk1"/>
                </a:solidFill>
              </a:rPr>
              <a:t> (+xxx des 18-29 ans)</a:t>
            </a:r>
            <a:endParaRPr sz="1100">
              <a:solidFill>
                <a:schemeClr val="dk1"/>
              </a:solidFill>
            </a:endParaRPr>
          </a:p>
          <a:p>
            <a:pPr marL="228600" marR="0" lvl="0" indent="-184150" algn="l" rtl="0">
              <a:lnSpc>
                <a:spcPct val="115000"/>
              </a:lnSpc>
              <a:spcBef>
                <a:spcPts val="0"/>
              </a:spcBef>
              <a:spcAft>
                <a:spcPts val="0"/>
              </a:spcAft>
              <a:buClr>
                <a:schemeClr val="dk1"/>
              </a:buClr>
              <a:buSzPts val="1100"/>
              <a:buChar char="●"/>
            </a:pPr>
            <a:r>
              <a:rPr lang="en-US" sz="1100" b="1">
                <a:solidFill>
                  <a:schemeClr val="dk1"/>
                </a:solidFill>
              </a:rPr>
              <a:t>Seniors</a:t>
            </a:r>
            <a:r>
              <a:rPr lang="en-US" sz="1100">
                <a:solidFill>
                  <a:schemeClr val="dk1"/>
                </a:solidFill>
              </a:rPr>
              <a:t> (+xxx des +65 ans)</a:t>
            </a:r>
            <a:br>
              <a:rPr lang="en-US" sz="1100">
                <a:solidFill>
                  <a:schemeClr val="dk1"/>
                </a:solidFill>
              </a:rPr>
            </a:br>
            <a:endParaRPr sz="1100">
              <a:solidFill>
                <a:schemeClr val="dk1"/>
              </a:solidFill>
            </a:endParaRPr>
          </a:p>
          <a:p>
            <a:pPr marL="0" lvl="0" indent="0" algn="l" rtl="0">
              <a:lnSpc>
                <a:spcPct val="115000"/>
              </a:lnSpc>
              <a:spcBef>
                <a:spcPts val="1200"/>
              </a:spcBef>
              <a:spcAft>
                <a:spcPts val="0"/>
              </a:spcAft>
              <a:buNone/>
            </a:pPr>
            <a:r>
              <a:rPr lang="en-US" sz="1100" b="1">
                <a:solidFill>
                  <a:schemeClr val="dk1"/>
                </a:solidFill>
              </a:rPr>
              <a:t>👩‍👧 Familles monoparentales : +24% d'ici 2040</a:t>
            </a:r>
            <a:endParaRPr sz="1100" b="1">
              <a:solidFill>
                <a:schemeClr val="dk1"/>
              </a:solidFill>
            </a:endParaRPr>
          </a:p>
          <a:p>
            <a:pPr marL="228600" marR="0" lvl="0" indent="-184150" algn="l" rtl="0">
              <a:lnSpc>
                <a:spcPct val="115000"/>
              </a:lnSpc>
              <a:spcBef>
                <a:spcPts val="1200"/>
              </a:spcBef>
              <a:spcAft>
                <a:spcPts val="0"/>
              </a:spcAft>
              <a:buClr>
                <a:schemeClr val="dk1"/>
              </a:buClr>
              <a:buSzPts val="1100"/>
              <a:buChar char="●"/>
            </a:pPr>
            <a:r>
              <a:rPr lang="en-US" sz="1100" b="1">
                <a:solidFill>
                  <a:schemeClr val="dk1"/>
                </a:solidFill>
              </a:rPr>
              <a:t>2021-2040</a:t>
            </a:r>
            <a:r>
              <a:rPr lang="en-US" sz="1100">
                <a:solidFill>
                  <a:schemeClr val="dk1"/>
                </a:solidFill>
              </a:rPr>
              <a:t> : xxx → xxx ménages</a:t>
            </a:r>
            <a:endParaRPr sz="1100">
              <a:solidFill>
                <a:schemeClr val="dk1"/>
              </a:solidFill>
            </a:endParaRPr>
          </a:p>
          <a:p>
            <a:pPr marL="228600" marR="0" lvl="0" indent="-184150" algn="l" rtl="0">
              <a:lnSpc>
                <a:spcPct val="115000"/>
              </a:lnSpc>
              <a:spcBef>
                <a:spcPts val="0"/>
              </a:spcBef>
              <a:spcAft>
                <a:spcPts val="0"/>
              </a:spcAft>
              <a:buClr>
                <a:schemeClr val="dk1"/>
              </a:buClr>
              <a:buSzPts val="1100"/>
              <a:buChar char="●"/>
            </a:pPr>
            <a:r>
              <a:rPr lang="en-US" sz="1100" b="1" i="1">
                <a:solidFill>
                  <a:schemeClr val="dk1"/>
                </a:solidFill>
              </a:rPr>
              <a:t>doc </a:t>
            </a:r>
            <a:r>
              <a:rPr lang="en-US" sz="1100" b="1">
                <a:solidFill>
                  <a:schemeClr val="dk1"/>
                </a:solidFill>
              </a:rPr>
              <a:t>2028-2034</a:t>
            </a:r>
            <a:r>
              <a:rPr lang="en-US" sz="1100">
                <a:solidFill>
                  <a:schemeClr val="dk1"/>
                </a:solidFill>
              </a:rPr>
              <a:t> : xxx → xxx </a:t>
            </a:r>
            <a:r>
              <a:rPr lang="en-US" sz="1100" i="1">
                <a:solidFill>
                  <a:schemeClr val="dk1"/>
                </a:solidFill>
              </a:rPr>
              <a:t>(+X%)</a:t>
            </a:r>
            <a:endParaRPr sz="1100">
              <a:solidFill>
                <a:schemeClr val="dk1"/>
              </a:solidFill>
            </a:endParaRPr>
          </a:p>
        </p:txBody>
      </p:sp>
      <p:sp>
        <p:nvSpPr>
          <p:cNvPr id="279" name="Google Shape;279;p34"/>
          <p:cNvSpPr/>
          <p:nvPr/>
        </p:nvSpPr>
        <p:spPr>
          <a:xfrm>
            <a:off x="6366250" y="1266575"/>
            <a:ext cx="2501400" cy="1210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solidFill>
                  <a:schemeClr val="lt1"/>
                </a:solidFill>
                <a:latin typeface="Calibri"/>
                <a:ea typeface="Calibri"/>
                <a:cs typeface="Calibri"/>
                <a:sym typeface="Calibri"/>
              </a:rPr>
              <a:t>Ne pas automatiser dans un premier temps</a:t>
            </a: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14C3687D-EB15-5126-ADAF-DA16FFB90D53}"/>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B3843203-D3C5-65DB-E499-F3D428D629B4}"/>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5"/>
          <p:cNvSpPr txBox="1"/>
          <p:nvPr/>
        </p:nvSpPr>
        <p:spPr>
          <a:xfrm>
            <a:off x="2600446" y="209550"/>
            <a:ext cx="6267300" cy="10158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Indicateurs : évolution de la population (scénario </a:t>
            </a:r>
            <a:r>
              <a:rPr lang="en-US" sz="2400" b="1" i="1">
                <a:solidFill>
                  <a:srgbClr val="262626"/>
                </a:solidFill>
              </a:rPr>
              <a:t>xxxxx </a:t>
            </a:r>
            <a:r>
              <a:rPr lang="en-US" sz="2400" b="1">
                <a:solidFill>
                  <a:srgbClr val="262626"/>
                </a:solidFill>
              </a:rPr>
              <a:t>de l’INSEE)</a:t>
            </a:r>
            <a:endParaRPr sz="2400" b="1">
              <a:solidFill>
                <a:srgbClr val="262626"/>
              </a:solidFill>
            </a:endParaRPr>
          </a:p>
          <a:p>
            <a:pPr marL="0" marR="0" lvl="0" indent="0" algn="l" rtl="0">
              <a:lnSpc>
                <a:spcPct val="100000"/>
              </a:lnSpc>
              <a:spcBef>
                <a:spcPts val="0"/>
              </a:spcBef>
              <a:spcAft>
                <a:spcPts val="0"/>
              </a:spcAft>
              <a:buClr>
                <a:srgbClr val="262626"/>
              </a:buClr>
              <a:buSzPts val="2400"/>
              <a:buFont typeface="Arial"/>
              <a:buNone/>
            </a:pPr>
            <a:endParaRPr sz="1200" i="1">
              <a:solidFill>
                <a:srgbClr val="262626"/>
              </a:solidFill>
            </a:endParaRPr>
          </a:p>
        </p:txBody>
      </p:sp>
      <p:sp>
        <p:nvSpPr>
          <p:cNvPr id="287" name="Google Shape;287;p35"/>
          <p:cNvSpPr txBox="1"/>
          <p:nvPr/>
        </p:nvSpPr>
        <p:spPr>
          <a:xfrm>
            <a:off x="2600446" y="1047750"/>
            <a:ext cx="6267300" cy="708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000" i="1">
                <a:solidFill>
                  <a:srgbClr val="262626"/>
                </a:solidFill>
              </a:rPr>
              <a:t>Vieillissement de la population = enjeu majeur pour l'adaptation de l'offre de logement</a:t>
            </a:r>
            <a:endParaRPr sz="800" i="1">
              <a:solidFill>
                <a:srgbClr val="262626"/>
              </a:solidFill>
            </a:endParaRPr>
          </a:p>
        </p:txBody>
      </p:sp>
      <p:sp>
        <p:nvSpPr>
          <p:cNvPr id="288" name="Google Shape;288;p35"/>
          <p:cNvSpPr txBox="1"/>
          <p:nvPr/>
        </p:nvSpPr>
        <p:spPr>
          <a:xfrm>
            <a:off x="2600450" y="1952425"/>
            <a:ext cx="2531700" cy="3019200"/>
          </a:xfrm>
          <a:prstGeom prst="rect">
            <a:avLst/>
          </a:prstGeom>
          <a:solidFill>
            <a:schemeClr val="accent3"/>
          </a:solidFill>
          <a:ln>
            <a:noFill/>
          </a:ln>
        </p:spPr>
        <p:txBody>
          <a:bodyPr spcFirstLastPara="1" wrap="square" lIns="45700" tIns="45700" rIns="45700" bIns="45700" anchor="t" anchorCtr="0">
            <a:spAutoFit/>
          </a:bodyPr>
          <a:lstStyle/>
          <a:p>
            <a:pPr marL="0" lvl="0" indent="0" algn="l" rtl="0">
              <a:lnSpc>
                <a:spcPct val="115000"/>
              </a:lnSpc>
              <a:spcBef>
                <a:spcPts val="1200"/>
              </a:spcBef>
              <a:spcAft>
                <a:spcPts val="0"/>
              </a:spcAft>
              <a:buNone/>
            </a:pPr>
            <a:r>
              <a:rPr lang="en-US" sz="1100" b="1">
                <a:solidFill>
                  <a:schemeClr val="dk2"/>
                </a:solidFill>
              </a:rPr>
              <a:t>🔄 Transformation de la pyramide des âges</a:t>
            </a:r>
            <a:endParaRPr sz="1100" b="1">
              <a:solidFill>
                <a:schemeClr val="dk2"/>
              </a:solidFill>
            </a:endParaRPr>
          </a:p>
          <a:p>
            <a:pPr marL="0" lvl="0" indent="0" algn="l" rtl="0">
              <a:lnSpc>
                <a:spcPct val="115000"/>
              </a:lnSpc>
              <a:spcBef>
                <a:spcPts val="1200"/>
              </a:spcBef>
              <a:spcAft>
                <a:spcPts val="0"/>
              </a:spcAft>
              <a:buNone/>
            </a:pPr>
            <a:r>
              <a:rPr lang="en-US" sz="1100" b="1">
                <a:solidFill>
                  <a:schemeClr val="dk1"/>
                </a:solidFill>
              </a:rPr>
              <a:t>📉 Baisse des jeunes (-18 ans)</a:t>
            </a:r>
            <a:endParaRPr sz="1100"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US" sz="1100" b="1">
                <a:solidFill>
                  <a:schemeClr val="dk1"/>
                </a:solidFill>
              </a:rPr>
              <a:t>2021</a:t>
            </a:r>
            <a:r>
              <a:rPr lang="en-US" sz="1100">
                <a:solidFill>
                  <a:schemeClr val="dk1"/>
                </a:solidFill>
              </a:rPr>
              <a:t> : XXX → </a:t>
            </a:r>
            <a:r>
              <a:rPr lang="en-US" sz="1100" b="1">
                <a:solidFill>
                  <a:schemeClr val="dk1"/>
                </a:solidFill>
              </a:rPr>
              <a:t>2040</a:t>
            </a:r>
            <a:r>
              <a:rPr lang="en-US" sz="1100">
                <a:solidFill>
                  <a:schemeClr val="dk1"/>
                </a:solidFill>
              </a:rPr>
              <a:t> : XXX </a:t>
            </a:r>
            <a:r>
              <a:rPr lang="en-US" sz="1100" i="1">
                <a:solidFill>
                  <a:schemeClr val="dk1"/>
                </a:solidFill>
              </a:rPr>
              <a:t>(-X%)</a:t>
            </a:r>
            <a:endParaRPr sz="1100" i="1">
              <a:solidFill>
                <a:schemeClr val="dk1"/>
              </a:solidFill>
            </a:endParaRPr>
          </a:p>
          <a:p>
            <a:pPr marL="457200" lvl="0" indent="-298450" algn="l" rtl="0">
              <a:lnSpc>
                <a:spcPct val="115000"/>
              </a:lnSpc>
              <a:spcBef>
                <a:spcPts val="0"/>
              </a:spcBef>
              <a:spcAft>
                <a:spcPts val="0"/>
              </a:spcAft>
              <a:buClr>
                <a:schemeClr val="dk1"/>
              </a:buClr>
              <a:buSzPts val="1100"/>
              <a:buChar char="●"/>
            </a:pPr>
            <a:r>
              <a:rPr lang="en-US" sz="1100" b="1">
                <a:solidFill>
                  <a:schemeClr val="dk1"/>
                </a:solidFill>
              </a:rPr>
              <a:t>PLH 2028-2034</a:t>
            </a:r>
            <a:r>
              <a:rPr lang="en-US" sz="1100">
                <a:solidFill>
                  <a:schemeClr val="dk1"/>
                </a:solidFill>
              </a:rPr>
              <a:t> : XXX  → XXX  </a:t>
            </a:r>
            <a:r>
              <a:rPr lang="en-US" sz="1100" i="1">
                <a:solidFill>
                  <a:schemeClr val="dk1"/>
                </a:solidFill>
              </a:rPr>
              <a:t>(-X%)</a:t>
            </a:r>
            <a:endParaRPr sz="1100" i="1">
              <a:solidFill>
                <a:schemeClr val="dk1"/>
              </a:solidFill>
            </a:endParaRPr>
          </a:p>
          <a:p>
            <a:pPr marL="0" lvl="0" indent="0" algn="l" rtl="0">
              <a:lnSpc>
                <a:spcPct val="115000"/>
              </a:lnSpc>
              <a:spcBef>
                <a:spcPts val="1200"/>
              </a:spcBef>
              <a:spcAft>
                <a:spcPts val="0"/>
              </a:spcAft>
              <a:buNone/>
            </a:pPr>
            <a:r>
              <a:rPr lang="en-US" sz="1100" b="1">
                <a:solidFill>
                  <a:schemeClr val="dk1"/>
                </a:solidFill>
              </a:rPr>
              <a:t>📈 Explosion des seniors (+65 ans)</a:t>
            </a:r>
            <a:endParaRPr sz="1100" b="1">
              <a:solidFill>
                <a:schemeClr val="dk1"/>
              </a:solidFill>
            </a:endParaRPr>
          </a:p>
          <a:p>
            <a:pPr marL="457200" lvl="0" indent="-298450" algn="l" rtl="0">
              <a:lnSpc>
                <a:spcPct val="115000"/>
              </a:lnSpc>
              <a:spcBef>
                <a:spcPts val="1200"/>
              </a:spcBef>
              <a:spcAft>
                <a:spcPts val="0"/>
              </a:spcAft>
              <a:buClr>
                <a:schemeClr val="dk1"/>
              </a:buClr>
              <a:buSzPts val="1100"/>
              <a:buChar char="●"/>
            </a:pPr>
            <a:r>
              <a:rPr lang="en-US" sz="1100" b="1">
                <a:solidFill>
                  <a:schemeClr val="dk1"/>
                </a:solidFill>
              </a:rPr>
              <a:t>2021</a:t>
            </a:r>
            <a:r>
              <a:rPr lang="en-US" sz="1100">
                <a:solidFill>
                  <a:schemeClr val="dk1"/>
                </a:solidFill>
              </a:rPr>
              <a:t> : XXX  → </a:t>
            </a:r>
            <a:r>
              <a:rPr lang="en-US" sz="1100" b="1">
                <a:solidFill>
                  <a:schemeClr val="dk1"/>
                </a:solidFill>
              </a:rPr>
              <a:t>2040</a:t>
            </a:r>
            <a:r>
              <a:rPr lang="en-US" sz="1100">
                <a:solidFill>
                  <a:schemeClr val="dk1"/>
                </a:solidFill>
              </a:rPr>
              <a:t> : XXX  </a:t>
            </a:r>
            <a:r>
              <a:rPr lang="en-US" sz="1100" i="1">
                <a:solidFill>
                  <a:schemeClr val="dk1"/>
                </a:solidFill>
              </a:rPr>
              <a:t>(+X%)</a:t>
            </a:r>
            <a:endParaRPr sz="1100" i="1">
              <a:solidFill>
                <a:schemeClr val="dk1"/>
              </a:solidFill>
            </a:endParaRPr>
          </a:p>
          <a:p>
            <a:pPr marL="457200" lvl="0" indent="-298450" algn="l" rtl="0">
              <a:lnSpc>
                <a:spcPct val="115000"/>
              </a:lnSpc>
              <a:spcBef>
                <a:spcPts val="0"/>
              </a:spcBef>
              <a:spcAft>
                <a:spcPts val="0"/>
              </a:spcAft>
              <a:buClr>
                <a:schemeClr val="dk1"/>
              </a:buClr>
              <a:buSzPts val="1100"/>
              <a:buChar char="●"/>
            </a:pPr>
            <a:r>
              <a:rPr lang="en-US" sz="1100" b="1">
                <a:solidFill>
                  <a:schemeClr val="dk1"/>
                </a:solidFill>
              </a:rPr>
              <a:t>PLH 2028-2034</a:t>
            </a:r>
            <a:r>
              <a:rPr lang="en-US" sz="1100">
                <a:solidFill>
                  <a:schemeClr val="dk1"/>
                </a:solidFill>
              </a:rPr>
              <a:t> : XXX  → XXX  </a:t>
            </a:r>
            <a:r>
              <a:rPr lang="en-US" sz="1100" i="1">
                <a:solidFill>
                  <a:schemeClr val="dk1"/>
                </a:solidFill>
              </a:rPr>
              <a:t>(+X%)</a:t>
            </a:r>
            <a:endParaRPr sz="1200" b="1">
              <a:solidFill>
                <a:schemeClr val="dk2"/>
              </a:solidFill>
            </a:endParaRPr>
          </a:p>
        </p:txBody>
      </p:sp>
      <p:grpSp>
        <p:nvGrpSpPr>
          <p:cNvPr id="289" name="Google Shape;289;p35"/>
          <p:cNvGrpSpPr/>
          <p:nvPr/>
        </p:nvGrpSpPr>
        <p:grpSpPr>
          <a:xfrm rot="-5400000">
            <a:off x="5370860" y="1974957"/>
            <a:ext cx="145231" cy="266236"/>
            <a:chOff x="-1" y="0"/>
            <a:chExt cx="190917" cy="349988"/>
          </a:xfrm>
        </p:grpSpPr>
        <p:sp>
          <p:nvSpPr>
            <p:cNvPr id="290" name="Google Shape;290;p35"/>
            <p:cNvSpPr/>
            <p:nvPr/>
          </p:nvSpPr>
          <p:spPr>
            <a:xfrm>
              <a:off x="-1" y="241556"/>
              <a:ext cx="113778" cy="108432"/>
            </a:xfrm>
            <a:custGeom>
              <a:avLst/>
              <a:gdLst/>
              <a:ahLst/>
              <a:cxnLst/>
              <a:rect l="l" t="t" r="r" b="b"/>
              <a:pathLst>
                <a:path w="21600" h="21600" extrusionOk="0">
                  <a:moveTo>
                    <a:pt x="2459" y="0"/>
                  </a:moveTo>
                  <a:lnTo>
                    <a:pt x="1534" y="189"/>
                  </a:lnTo>
                  <a:lnTo>
                    <a:pt x="722" y="757"/>
                  </a:lnTo>
                  <a:lnTo>
                    <a:pt x="180" y="1612"/>
                  </a:lnTo>
                  <a:lnTo>
                    <a:pt x="0" y="2584"/>
                  </a:lnTo>
                  <a:lnTo>
                    <a:pt x="180" y="3555"/>
                  </a:lnTo>
                  <a:lnTo>
                    <a:pt x="722" y="4407"/>
                  </a:lnTo>
                  <a:lnTo>
                    <a:pt x="16382" y="20844"/>
                  </a:lnTo>
                  <a:lnTo>
                    <a:pt x="17197" y="21411"/>
                  </a:lnTo>
                  <a:lnTo>
                    <a:pt x="18124" y="21600"/>
                  </a:lnTo>
                  <a:lnTo>
                    <a:pt x="19049" y="21411"/>
                  </a:lnTo>
                  <a:lnTo>
                    <a:pt x="19861" y="20844"/>
                  </a:lnTo>
                  <a:lnTo>
                    <a:pt x="21600" y="19018"/>
                  </a:lnTo>
                  <a:lnTo>
                    <a:pt x="15662" y="19018"/>
                  </a:lnTo>
                  <a:lnTo>
                    <a:pt x="15662" y="12780"/>
                  </a:lnTo>
                  <a:lnTo>
                    <a:pt x="4200" y="757"/>
                  </a:lnTo>
                  <a:lnTo>
                    <a:pt x="3385" y="189"/>
                  </a:lnTo>
                  <a:lnTo>
                    <a:pt x="2459" y="0"/>
                  </a:lnTo>
                  <a:close/>
                </a:path>
              </a:pathLst>
            </a:custGeom>
            <a:solidFill>
              <a:schemeClr val="dk2"/>
            </a:solidFill>
            <a:ln>
              <a:noFill/>
            </a:ln>
          </p:spPr>
          <p:txBody>
            <a:bodyPr spcFirstLastPara="1" wrap="square" lIns="45700" tIns="45700" rIns="45700" bIns="45700" anchor="t" anchorCtr="0">
              <a:noAutofit/>
            </a:bodyPr>
            <a:lstStyle/>
            <a:p>
              <a:pPr marL="0" marR="0" lvl="0" indent="0" algn="l" rtl="0">
                <a:lnSpc>
                  <a:spcPct val="100000"/>
                </a:lnSpc>
                <a:spcBef>
                  <a:spcPts val="0"/>
                </a:spcBef>
                <a:spcAft>
                  <a:spcPts val="0"/>
                </a:spcAft>
                <a:buClr>
                  <a:srgbClr val="000000"/>
                </a:buClr>
                <a:buSzPts val="700"/>
                <a:buFont typeface="Calibri"/>
                <a:buNone/>
              </a:pPr>
              <a:endParaRPr sz="700" b="0" i="0" u="none" strike="noStrike" cap="none">
                <a:solidFill>
                  <a:srgbClr val="000000"/>
                </a:solidFill>
                <a:latin typeface="Calibri"/>
                <a:ea typeface="Calibri"/>
                <a:cs typeface="Calibri"/>
                <a:sym typeface="Calibri"/>
              </a:endParaRPr>
            </a:p>
          </p:txBody>
        </p:sp>
        <p:sp>
          <p:nvSpPr>
            <p:cNvPr id="291" name="Google Shape;291;p35"/>
            <p:cNvSpPr/>
            <p:nvPr/>
          </p:nvSpPr>
          <p:spPr>
            <a:xfrm>
              <a:off x="108404" y="241556"/>
              <a:ext cx="82512" cy="95472"/>
            </a:xfrm>
            <a:custGeom>
              <a:avLst/>
              <a:gdLst/>
              <a:ahLst/>
              <a:cxnLst/>
              <a:rect l="l" t="t" r="r" b="b"/>
              <a:pathLst>
                <a:path w="21600" h="21600" extrusionOk="0">
                  <a:moveTo>
                    <a:pt x="18209" y="0"/>
                  </a:moveTo>
                  <a:lnTo>
                    <a:pt x="16931" y="215"/>
                  </a:lnTo>
                  <a:lnTo>
                    <a:pt x="15807" y="860"/>
                  </a:lnTo>
                  <a:lnTo>
                    <a:pt x="6" y="14515"/>
                  </a:lnTo>
                  <a:lnTo>
                    <a:pt x="0" y="21600"/>
                  </a:lnTo>
                  <a:lnTo>
                    <a:pt x="1405" y="21600"/>
                  </a:lnTo>
                  <a:lnTo>
                    <a:pt x="20605" y="5006"/>
                  </a:lnTo>
                  <a:lnTo>
                    <a:pt x="21351" y="4038"/>
                  </a:lnTo>
                  <a:lnTo>
                    <a:pt x="21600" y="2935"/>
                  </a:lnTo>
                  <a:lnTo>
                    <a:pt x="21351" y="1831"/>
                  </a:lnTo>
                  <a:lnTo>
                    <a:pt x="20605" y="860"/>
                  </a:lnTo>
                  <a:lnTo>
                    <a:pt x="19485" y="215"/>
                  </a:lnTo>
                  <a:lnTo>
                    <a:pt x="18209" y="0"/>
                  </a:lnTo>
                  <a:close/>
                </a:path>
              </a:pathLst>
            </a:custGeom>
            <a:solidFill>
              <a:schemeClr val="dk2"/>
            </a:solidFill>
            <a:ln>
              <a:noFill/>
            </a:ln>
          </p:spPr>
          <p:txBody>
            <a:bodyPr spcFirstLastPara="1" wrap="square" lIns="45700" tIns="45700" rIns="45700" bIns="45700" anchor="t" anchorCtr="0">
              <a:noAutofit/>
            </a:bodyPr>
            <a:lstStyle/>
            <a:p>
              <a:pPr marL="0" marR="0" lvl="0" indent="0" algn="l" rtl="0">
                <a:lnSpc>
                  <a:spcPct val="100000"/>
                </a:lnSpc>
                <a:spcBef>
                  <a:spcPts val="0"/>
                </a:spcBef>
                <a:spcAft>
                  <a:spcPts val="0"/>
                </a:spcAft>
                <a:buClr>
                  <a:srgbClr val="000000"/>
                </a:buClr>
                <a:buSzPts val="700"/>
                <a:buFont typeface="Calibri"/>
                <a:buNone/>
              </a:pPr>
              <a:endParaRPr sz="700" b="0" i="0" u="none" strike="noStrike" cap="none">
                <a:solidFill>
                  <a:srgbClr val="000000"/>
                </a:solidFill>
                <a:latin typeface="Calibri"/>
                <a:ea typeface="Calibri"/>
                <a:cs typeface="Calibri"/>
                <a:sym typeface="Calibri"/>
              </a:endParaRPr>
            </a:p>
          </p:txBody>
        </p:sp>
        <p:sp>
          <p:nvSpPr>
            <p:cNvPr id="292" name="Google Shape;292;p35"/>
            <p:cNvSpPr/>
            <p:nvPr/>
          </p:nvSpPr>
          <p:spPr>
            <a:xfrm>
              <a:off x="82493" y="0"/>
              <a:ext cx="25920" cy="318654"/>
            </a:xfrm>
            <a:custGeom>
              <a:avLst/>
              <a:gdLst/>
              <a:ahLst/>
              <a:cxnLst/>
              <a:rect l="l" t="t" r="r" b="b"/>
              <a:pathLst>
                <a:path w="21600" h="21600" extrusionOk="0">
                  <a:moveTo>
                    <a:pt x="21600" y="0"/>
                  </a:moveTo>
                  <a:lnTo>
                    <a:pt x="0" y="0"/>
                  </a:lnTo>
                  <a:lnTo>
                    <a:pt x="18" y="20723"/>
                  </a:lnTo>
                  <a:lnTo>
                    <a:pt x="10811" y="21600"/>
                  </a:lnTo>
                  <a:lnTo>
                    <a:pt x="21600" y="20723"/>
                  </a:lnTo>
                  <a:lnTo>
                    <a:pt x="21600" y="0"/>
                  </a:lnTo>
                  <a:close/>
                </a:path>
              </a:pathLst>
            </a:custGeom>
            <a:solidFill>
              <a:schemeClr val="dk2"/>
            </a:solidFill>
            <a:ln>
              <a:noFill/>
            </a:ln>
          </p:spPr>
          <p:txBody>
            <a:bodyPr spcFirstLastPara="1" wrap="square" lIns="45700" tIns="45700" rIns="45700" bIns="45700" anchor="t" anchorCtr="0">
              <a:noAutofit/>
            </a:bodyPr>
            <a:lstStyle/>
            <a:p>
              <a:pPr marL="0" marR="0" lvl="0" indent="0" algn="l" rtl="0">
                <a:lnSpc>
                  <a:spcPct val="100000"/>
                </a:lnSpc>
                <a:spcBef>
                  <a:spcPts val="0"/>
                </a:spcBef>
                <a:spcAft>
                  <a:spcPts val="0"/>
                </a:spcAft>
                <a:buClr>
                  <a:srgbClr val="000000"/>
                </a:buClr>
                <a:buSzPts val="700"/>
                <a:buFont typeface="Calibri"/>
                <a:buNone/>
              </a:pPr>
              <a:endParaRPr sz="700" b="0" i="0" u="none" strike="noStrike" cap="none">
                <a:solidFill>
                  <a:srgbClr val="000000"/>
                </a:solidFill>
                <a:latin typeface="Calibri"/>
                <a:ea typeface="Calibri"/>
                <a:cs typeface="Calibri"/>
                <a:sym typeface="Calibri"/>
              </a:endParaRPr>
            </a:p>
          </p:txBody>
        </p:sp>
        <p:sp>
          <p:nvSpPr>
            <p:cNvPr id="293" name="Google Shape;293;p35"/>
            <p:cNvSpPr/>
            <p:nvPr/>
          </p:nvSpPr>
          <p:spPr>
            <a:xfrm>
              <a:off x="82493" y="305706"/>
              <a:ext cx="25920" cy="31320"/>
            </a:xfrm>
            <a:custGeom>
              <a:avLst/>
              <a:gdLst/>
              <a:ahLst/>
              <a:cxnLst/>
              <a:rect l="l" t="t" r="r" b="b"/>
              <a:pathLst>
                <a:path w="21600" h="21600" extrusionOk="0">
                  <a:moveTo>
                    <a:pt x="0" y="0"/>
                  </a:moveTo>
                  <a:lnTo>
                    <a:pt x="0" y="21600"/>
                  </a:lnTo>
                  <a:lnTo>
                    <a:pt x="21600" y="21600"/>
                  </a:lnTo>
                  <a:lnTo>
                    <a:pt x="21600" y="8943"/>
                  </a:lnTo>
                  <a:lnTo>
                    <a:pt x="10811" y="8943"/>
                  </a:lnTo>
                  <a:lnTo>
                    <a:pt x="0" y="0"/>
                  </a:lnTo>
                  <a:close/>
                  <a:moveTo>
                    <a:pt x="21600" y="15"/>
                  </a:moveTo>
                  <a:lnTo>
                    <a:pt x="10811" y="8943"/>
                  </a:lnTo>
                  <a:lnTo>
                    <a:pt x="21600" y="8943"/>
                  </a:lnTo>
                  <a:lnTo>
                    <a:pt x="21600" y="15"/>
                  </a:lnTo>
                  <a:close/>
                </a:path>
              </a:pathLst>
            </a:custGeom>
            <a:solidFill>
              <a:schemeClr val="dk2"/>
            </a:solidFill>
            <a:ln>
              <a:noFill/>
            </a:ln>
          </p:spPr>
          <p:txBody>
            <a:bodyPr spcFirstLastPara="1" wrap="square" lIns="45700" tIns="45700" rIns="45700" bIns="45700" anchor="t" anchorCtr="0">
              <a:noAutofit/>
            </a:bodyPr>
            <a:lstStyle/>
            <a:p>
              <a:pPr marL="0" marR="0" lvl="0" indent="0" algn="l" rtl="0">
                <a:lnSpc>
                  <a:spcPct val="100000"/>
                </a:lnSpc>
                <a:spcBef>
                  <a:spcPts val="0"/>
                </a:spcBef>
                <a:spcAft>
                  <a:spcPts val="0"/>
                </a:spcAft>
                <a:buClr>
                  <a:srgbClr val="000000"/>
                </a:buClr>
                <a:buSzPts val="700"/>
                <a:buFont typeface="Calibri"/>
                <a:buNone/>
              </a:pPr>
              <a:endParaRPr sz="700" b="0" i="0" u="none" strike="noStrike" cap="none">
                <a:solidFill>
                  <a:srgbClr val="000000"/>
                </a:solidFill>
                <a:latin typeface="Calibri"/>
                <a:ea typeface="Calibri"/>
                <a:cs typeface="Calibri"/>
                <a:sym typeface="Calibri"/>
              </a:endParaRPr>
            </a:p>
          </p:txBody>
        </p:sp>
      </p:grpSp>
      <p:sp>
        <p:nvSpPr>
          <p:cNvPr id="294" name="Google Shape;294;p35"/>
          <p:cNvSpPr txBox="1"/>
          <p:nvPr/>
        </p:nvSpPr>
        <p:spPr>
          <a:xfrm>
            <a:off x="5914025" y="1943325"/>
            <a:ext cx="2953800" cy="804900"/>
          </a:xfrm>
          <a:prstGeom prst="rect">
            <a:avLst/>
          </a:prstGeom>
          <a:solidFill>
            <a:schemeClr val="accent3"/>
          </a:solidFill>
          <a:ln>
            <a:noFill/>
          </a:ln>
        </p:spPr>
        <p:txBody>
          <a:bodyPr spcFirstLastPara="1" wrap="square" lIns="45700" tIns="45700" rIns="45700" bIns="45700" anchor="t" anchorCtr="0">
            <a:spAutoFit/>
          </a:bodyPr>
          <a:lstStyle/>
          <a:p>
            <a:pPr marL="0" lvl="0" indent="0" algn="l" rtl="0">
              <a:lnSpc>
                <a:spcPct val="115000"/>
              </a:lnSpc>
              <a:spcBef>
                <a:spcPts val="1200"/>
              </a:spcBef>
              <a:spcAft>
                <a:spcPts val="0"/>
              </a:spcAft>
              <a:buNone/>
            </a:pPr>
            <a:r>
              <a:rPr lang="en-US" sz="1100" b="1">
                <a:solidFill>
                  <a:schemeClr val="dk2"/>
                </a:solidFill>
              </a:rPr>
              <a:t>🏠 Implications pour le logement</a:t>
            </a:r>
            <a:endParaRPr sz="1100" b="1">
              <a:solidFill>
                <a:schemeClr val="dk2"/>
              </a:solidFill>
            </a:endParaRPr>
          </a:p>
          <a:p>
            <a:pPr marL="457200" lvl="0" indent="-298450" algn="l" rtl="0">
              <a:lnSpc>
                <a:spcPct val="115000"/>
              </a:lnSpc>
              <a:spcBef>
                <a:spcPts val="1200"/>
              </a:spcBef>
              <a:spcAft>
                <a:spcPts val="0"/>
              </a:spcAft>
              <a:buClr>
                <a:schemeClr val="dk1"/>
              </a:buClr>
              <a:buSzPts val="1100"/>
              <a:buChar char="●"/>
            </a:pPr>
            <a:r>
              <a:rPr lang="en-US" sz="1100" b="1">
                <a:solidFill>
                  <a:schemeClr val="dk1"/>
                </a:solidFill>
              </a:rPr>
              <a:t>{Analyse}</a:t>
            </a:r>
            <a:endParaRPr sz="1100" b="1">
              <a:solidFill>
                <a:schemeClr val="dk1"/>
              </a:solidFill>
            </a:endParaRPr>
          </a:p>
          <a:p>
            <a:pPr marL="457200" lvl="0" indent="-298450" algn="l" rtl="0">
              <a:lnSpc>
                <a:spcPct val="115000"/>
              </a:lnSpc>
              <a:spcBef>
                <a:spcPts val="0"/>
              </a:spcBef>
              <a:spcAft>
                <a:spcPts val="0"/>
              </a:spcAft>
              <a:buClr>
                <a:schemeClr val="dk1"/>
              </a:buClr>
              <a:buSzPts val="1100"/>
              <a:buChar char="●"/>
            </a:pPr>
            <a:r>
              <a:rPr lang="en-US" sz="1100" b="1">
                <a:solidFill>
                  <a:schemeClr val="dk1"/>
                </a:solidFill>
              </a:rPr>
              <a:t>{Analyse}</a:t>
            </a:r>
            <a:endParaRPr sz="1100" b="1">
              <a:solidFill>
                <a:schemeClr val="dk1"/>
              </a:solidFill>
            </a:endParaRPr>
          </a:p>
        </p:txBody>
      </p:sp>
      <p:sp>
        <p:nvSpPr>
          <p:cNvPr id="295" name="Google Shape;295;p35"/>
          <p:cNvSpPr/>
          <p:nvPr/>
        </p:nvSpPr>
        <p:spPr>
          <a:xfrm>
            <a:off x="2615600" y="3321875"/>
            <a:ext cx="2501400" cy="1210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solidFill>
                  <a:schemeClr val="lt1"/>
                </a:solidFill>
                <a:latin typeface="Calibri"/>
                <a:ea typeface="Calibri"/>
                <a:cs typeface="Calibri"/>
                <a:sym typeface="Calibri"/>
              </a:rPr>
              <a:t>Ne pas automatiser dans un premier temps</a:t>
            </a: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5B2E0224-6C35-77A4-9742-D2886C19CFD9}"/>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3176A229-AFA4-EBD8-BE94-E8521F11ED57}"/>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pic>
        <p:nvPicPr>
          <p:cNvPr id="302" name="Google Shape;302;p36"/>
          <p:cNvPicPr preferRelativeResize="0"/>
          <p:nvPr/>
        </p:nvPicPr>
        <p:blipFill rotWithShape="1">
          <a:blip r:embed="rId3">
            <a:alphaModFix/>
          </a:blip>
          <a:srcRect t="10770"/>
          <a:stretch/>
        </p:blipFill>
        <p:spPr>
          <a:xfrm>
            <a:off x="3084098" y="1745801"/>
            <a:ext cx="5713525" cy="3144977"/>
          </a:xfrm>
          <a:prstGeom prst="rect">
            <a:avLst/>
          </a:prstGeom>
          <a:noFill/>
          <a:ln>
            <a:noFill/>
          </a:ln>
        </p:spPr>
      </p:pic>
      <p:sp>
        <p:nvSpPr>
          <p:cNvPr id="303" name="Google Shape;303;p36"/>
          <p:cNvSpPr txBox="1"/>
          <p:nvPr/>
        </p:nvSpPr>
        <p:spPr>
          <a:xfrm>
            <a:off x="2600446" y="209550"/>
            <a:ext cx="6267300" cy="10158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Indicateurs : évolution de la population (scénario </a:t>
            </a:r>
            <a:r>
              <a:rPr lang="en-US" sz="2400" b="1" i="1">
                <a:solidFill>
                  <a:srgbClr val="262626"/>
                </a:solidFill>
              </a:rPr>
              <a:t>xxxxx </a:t>
            </a:r>
            <a:r>
              <a:rPr lang="en-US" sz="2400" b="1">
                <a:solidFill>
                  <a:srgbClr val="262626"/>
                </a:solidFill>
              </a:rPr>
              <a:t>de l’INSEE)</a:t>
            </a:r>
            <a:endParaRPr sz="2400" b="1">
              <a:solidFill>
                <a:srgbClr val="262626"/>
              </a:solidFill>
            </a:endParaRPr>
          </a:p>
          <a:p>
            <a:pPr marL="0" marR="0" lvl="0" indent="0" algn="l" rtl="0">
              <a:lnSpc>
                <a:spcPct val="100000"/>
              </a:lnSpc>
              <a:spcBef>
                <a:spcPts val="0"/>
              </a:spcBef>
              <a:spcAft>
                <a:spcPts val="0"/>
              </a:spcAft>
              <a:buClr>
                <a:srgbClr val="262626"/>
              </a:buClr>
              <a:buSzPts val="2400"/>
              <a:buFont typeface="Arial"/>
              <a:buNone/>
            </a:pPr>
            <a:endParaRPr sz="1200" i="1">
              <a:solidFill>
                <a:srgbClr val="262626"/>
              </a:solidFill>
            </a:endParaRPr>
          </a:p>
        </p:txBody>
      </p:sp>
      <p:sp>
        <p:nvSpPr>
          <p:cNvPr id="304" name="Google Shape;304;p36"/>
          <p:cNvSpPr txBox="1"/>
          <p:nvPr/>
        </p:nvSpPr>
        <p:spPr>
          <a:xfrm>
            <a:off x="2600446" y="1047750"/>
            <a:ext cx="6267300" cy="4926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1300" i="1">
                <a:solidFill>
                  <a:srgbClr val="262626"/>
                </a:solidFill>
              </a:rPr>
              <a:t>Vieillissement de la population = enjeu majeur pour l'adaptation de l'offre de logement</a:t>
            </a:r>
            <a:endParaRPr sz="100" i="1">
              <a:solidFill>
                <a:srgbClr val="262626"/>
              </a:solidFill>
            </a:endParaRPr>
          </a:p>
        </p:txBody>
      </p:sp>
      <p:sp>
        <p:nvSpPr>
          <p:cNvPr id="305" name="Google Shape;305;p36"/>
          <p:cNvSpPr txBox="1"/>
          <p:nvPr/>
        </p:nvSpPr>
        <p:spPr>
          <a:xfrm>
            <a:off x="2600450" y="4834200"/>
            <a:ext cx="6370200" cy="276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200" i="1">
                <a:solidFill>
                  <a:srgbClr val="000000"/>
                </a:solidFill>
                <a:latin typeface="Arial"/>
                <a:ea typeface="Arial"/>
                <a:cs typeface="Arial"/>
                <a:sym typeface="Arial"/>
              </a:rPr>
              <a:t>Evolution de la population par groupe d’âge</a:t>
            </a:r>
            <a:endParaRPr sz="1200" i="1">
              <a:solidFill>
                <a:srgbClr val="000000"/>
              </a:solidFill>
              <a:latin typeface="Arial"/>
              <a:ea typeface="Arial"/>
              <a:cs typeface="Arial"/>
              <a:sym typeface="Arial"/>
            </a:endParaRPr>
          </a:p>
        </p:txBody>
      </p:sp>
      <p:sp>
        <p:nvSpPr>
          <p:cNvPr id="308" name="Google Shape;308;p36"/>
          <p:cNvSpPr/>
          <p:nvPr/>
        </p:nvSpPr>
        <p:spPr>
          <a:xfrm>
            <a:off x="4173675" y="2898650"/>
            <a:ext cx="2501400" cy="1210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solidFill>
                  <a:schemeClr val="lt1"/>
                </a:solidFill>
                <a:latin typeface="Calibri"/>
                <a:ea typeface="Calibri"/>
                <a:cs typeface="Calibri"/>
                <a:sym typeface="Calibri"/>
              </a:rPr>
              <a:t>Ne pas automatiser dans un premier temps</a:t>
            </a: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A3DF835C-068C-E6D7-0D54-1275FE769F4D}"/>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FE242365-6F8F-FC07-EF92-2BA7DAE670A0}"/>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pic>
        <p:nvPicPr>
          <p:cNvPr id="313" name="Google Shape;313;p37"/>
          <p:cNvPicPr preferRelativeResize="0">
            <a:picLocks noGrp="1"/>
          </p:cNvPicPr>
          <p:nvPr>
            <p:ph type="body" idx="4294967295"/>
          </p:nvPr>
        </p:nvPicPr>
        <p:blipFill rotWithShape="1">
          <a:blip r:embed="rId3">
            <a:alphaModFix/>
          </a:blip>
          <a:srcRect/>
          <a:stretch/>
        </p:blipFill>
        <p:spPr>
          <a:xfrm>
            <a:off x="2955038" y="1519175"/>
            <a:ext cx="5558100" cy="3432300"/>
          </a:xfrm>
          <a:prstGeom prst="rect">
            <a:avLst/>
          </a:prstGeom>
          <a:noFill/>
          <a:ln>
            <a:noFill/>
          </a:ln>
        </p:spPr>
      </p:pic>
      <p:sp>
        <p:nvSpPr>
          <p:cNvPr id="314" name="Google Shape;314;p37"/>
          <p:cNvSpPr txBox="1"/>
          <p:nvPr/>
        </p:nvSpPr>
        <p:spPr>
          <a:xfrm>
            <a:off x="2600446" y="209550"/>
            <a:ext cx="6267300" cy="6465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Indicateurs : évolution de la population</a:t>
            </a:r>
            <a:endParaRPr sz="2400" b="1">
              <a:solidFill>
                <a:srgbClr val="262626"/>
              </a:solidFill>
            </a:endParaRPr>
          </a:p>
          <a:p>
            <a:pPr marL="0" marR="0" lvl="0" indent="0" algn="l" rtl="0">
              <a:lnSpc>
                <a:spcPct val="100000"/>
              </a:lnSpc>
              <a:spcBef>
                <a:spcPts val="0"/>
              </a:spcBef>
              <a:spcAft>
                <a:spcPts val="0"/>
              </a:spcAft>
              <a:buClr>
                <a:srgbClr val="262626"/>
              </a:buClr>
              <a:buSzPts val="2400"/>
              <a:buFont typeface="Arial"/>
              <a:buNone/>
            </a:pPr>
            <a:endParaRPr sz="1200" i="1">
              <a:solidFill>
                <a:srgbClr val="262626"/>
              </a:solidFill>
            </a:endParaRPr>
          </a:p>
        </p:txBody>
      </p:sp>
      <p:sp>
        <p:nvSpPr>
          <p:cNvPr id="315" name="Google Shape;315;p37"/>
          <p:cNvSpPr/>
          <p:nvPr/>
        </p:nvSpPr>
        <p:spPr>
          <a:xfrm>
            <a:off x="4721050" y="1713425"/>
            <a:ext cx="729600" cy="189300"/>
          </a:xfrm>
          <a:prstGeom prst="roundRect">
            <a:avLst>
              <a:gd name="adj" fmla="val 1666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Calibri"/>
              <a:ea typeface="Calibri"/>
              <a:cs typeface="Calibri"/>
              <a:sym typeface="Calibri"/>
            </a:endParaRPr>
          </a:p>
        </p:txBody>
      </p:sp>
      <p:sp>
        <p:nvSpPr>
          <p:cNvPr id="316" name="Google Shape;316;p37"/>
          <p:cNvSpPr/>
          <p:nvPr/>
        </p:nvSpPr>
        <p:spPr>
          <a:xfrm>
            <a:off x="7900100" y="3181000"/>
            <a:ext cx="532200" cy="135900"/>
          </a:xfrm>
          <a:prstGeom prst="roundRect">
            <a:avLst>
              <a:gd name="adj" fmla="val 16667"/>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Calibri"/>
              <a:ea typeface="Calibri"/>
              <a:cs typeface="Calibri"/>
              <a:sym typeface="Calibri"/>
            </a:endParaRPr>
          </a:p>
        </p:txBody>
      </p:sp>
      <p:sp>
        <p:nvSpPr>
          <p:cNvPr id="319" name="Google Shape;319;p37"/>
          <p:cNvSpPr/>
          <p:nvPr/>
        </p:nvSpPr>
        <p:spPr>
          <a:xfrm>
            <a:off x="4173675" y="2898650"/>
            <a:ext cx="2501400" cy="1210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solidFill>
                  <a:schemeClr val="lt1"/>
                </a:solidFill>
                <a:latin typeface="Calibri"/>
                <a:ea typeface="Calibri"/>
                <a:cs typeface="Calibri"/>
                <a:sym typeface="Calibri"/>
              </a:rPr>
              <a:t>Ne pas automatiser dans un premier temps</a:t>
            </a: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F9E17D01-A28F-816A-0E30-BDF02D5698CE}"/>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CE18EDAE-706B-AD17-CC53-42F824CA3B28}"/>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38"/>
          <p:cNvSpPr txBox="1"/>
          <p:nvPr/>
        </p:nvSpPr>
        <p:spPr>
          <a:xfrm>
            <a:off x="2600446" y="209550"/>
            <a:ext cx="6267300" cy="6465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400" b="1">
                <a:solidFill>
                  <a:srgbClr val="262626"/>
                </a:solidFill>
              </a:rPr>
              <a:t>Indicateurs : évolution de la population</a:t>
            </a:r>
            <a:endParaRPr sz="2400" b="1">
              <a:solidFill>
                <a:srgbClr val="262626"/>
              </a:solidFill>
            </a:endParaRPr>
          </a:p>
          <a:p>
            <a:pPr marL="0" marR="0" lvl="0" indent="0" algn="l" rtl="0">
              <a:lnSpc>
                <a:spcPct val="100000"/>
              </a:lnSpc>
              <a:spcBef>
                <a:spcPts val="0"/>
              </a:spcBef>
              <a:spcAft>
                <a:spcPts val="0"/>
              </a:spcAft>
              <a:buClr>
                <a:srgbClr val="262626"/>
              </a:buClr>
              <a:buSzPts val="2400"/>
              <a:buFont typeface="Arial"/>
              <a:buNone/>
            </a:pPr>
            <a:endParaRPr sz="1200" i="1">
              <a:solidFill>
                <a:srgbClr val="262626"/>
              </a:solidFill>
            </a:endParaRPr>
          </a:p>
        </p:txBody>
      </p:sp>
      <p:pic>
        <p:nvPicPr>
          <p:cNvPr id="325" name="Google Shape;325;p38"/>
          <p:cNvPicPr preferRelativeResize="0">
            <a:picLocks noGrp="1"/>
          </p:cNvPicPr>
          <p:nvPr>
            <p:ph type="body" idx="4294967295"/>
          </p:nvPr>
        </p:nvPicPr>
        <p:blipFill rotWithShape="1">
          <a:blip r:embed="rId3">
            <a:alphaModFix/>
          </a:blip>
          <a:srcRect/>
          <a:stretch/>
        </p:blipFill>
        <p:spPr>
          <a:xfrm>
            <a:off x="2600449" y="1248924"/>
            <a:ext cx="6032700" cy="3721500"/>
          </a:xfrm>
          <a:prstGeom prst="rect">
            <a:avLst/>
          </a:prstGeom>
          <a:noFill/>
          <a:ln>
            <a:noFill/>
          </a:ln>
        </p:spPr>
      </p:pic>
      <p:sp>
        <p:nvSpPr>
          <p:cNvPr id="326" name="Google Shape;326;p38"/>
          <p:cNvSpPr txBox="1"/>
          <p:nvPr/>
        </p:nvSpPr>
        <p:spPr>
          <a:xfrm>
            <a:off x="2600446" y="742950"/>
            <a:ext cx="6267300" cy="4002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262626"/>
              </a:buClr>
              <a:buSzPts val="2400"/>
              <a:buFont typeface="Arial"/>
              <a:buNone/>
            </a:pPr>
            <a:r>
              <a:rPr lang="en-US" sz="2000" i="1">
                <a:solidFill>
                  <a:srgbClr val="262626"/>
                </a:solidFill>
              </a:rPr>
              <a:t>Pyramide des âges</a:t>
            </a:r>
            <a:endParaRPr sz="800" i="1">
              <a:solidFill>
                <a:srgbClr val="262626"/>
              </a:solidFill>
            </a:endParaRPr>
          </a:p>
        </p:txBody>
      </p:sp>
      <p:sp>
        <p:nvSpPr>
          <p:cNvPr id="329" name="Google Shape;329;p38"/>
          <p:cNvSpPr/>
          <p:nvPr/>
        </p:nvSpPr>
        <p:spPr>
          <a:xfrm>
            <a:off x="4173675" y="2898650"/>
            <a:ext cx="2501400" cy="1210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solidFill>
                  <a:schemeClr val="lt1"/>
                </a:solidFill>
                <a:latin typeface="Calibri"/>
                <a:ea typeface="Calibri"/>
                <a:cs typeface="Calibri"/>
                <a:sym typeface="Calibri"/>
              </a:rPr>
              <a:t>Ne pas automatiser dans un premier temps</a:t>
            </a:r>
            <a:endParaRPr>
              <a:solidFill>
                <a:schemeClr val="lt1"/>
              </a:solidFill>
              <a:latin typeface="Calibri"/>
              <a:ea typeface="Calibri"/>
              <a:cs typeface="Calibri"/>
              <a:sym typeface="Calibri"/>
            </a:endParaRPr>
          </a:p>
        </p:txBody>
      </p:sp>
      <p:sp>
        <p:nvSpPr>
          <p:cNvPr id="2" name="Google Shape;91;p14">
            <a:extLst>
              <a:ext uri="{FF2B5EF4-FFF2-40B4-BE49-F238E27FC236}">
                <a16:creationId xmlns:a16="http://schemas.microsoft.com/office/drawing/2014/main" id="{2B22ED0F-6294-F128-33CA-ACCC3E8D4952}"/>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4C5C2906-50DD-9DE8-E37A-68E2A07C7AD7}"/>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9"/>
          <p:cNvSpPr txBox="1">
            <a:spLocks noGrp="1"/>
          </p:cNvSpPr>
          <p:nvPr>
            <p:ph type="body" idx="1"/>
          </p:nvPr>
        </p:nvSpPr>
        <p:spPr>
          <a:xfrm>
            <a:off x="2709800" y="2344050"/>
            <a:ext cx="5277600" cy="4554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US"/>
              <a:t>Conclusion</a:t>
            </a:r>
            <a:endParaRPr sz="3000" b="0" i="1"/>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2" name="Google Shape;91;p14">
            <a:extLst>
              <a:ext uri="{FF2B5EF4-FFF2-40B4-BE49-F238E27FC236}">
                <a16:creationId xmlns:a16="http://schemas.microsoft.com/office/drawing/2014/main" id="{528815B0-67C5-E4C2-5A31-1ABF1020DC61}"/>
              </a:ext>
            </a:extLst>
          </p:cNvPr>
          <p:cNvSpPr txBox="1">
            <a:spLocks/>
          </p:cNvSpPr>
          <p:nvPr/>
        </p:nvSpPr>
        <p:spPr>
          <a:xfrm>
            <a:off x="355025" y="484524"/>
            <a:ext cx="1535700" cy="34634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i="1"/>
              <a:t>EPCI {{layoutEpciName}} / BH {{layoutBassinName}}</a:t>
            </a:r>
            <a:endParaRPr lang="en-US" sz="1100" i="1" dirty="0"/>
          </a:p>
        </p:txBody>
      </p:sp>
      <p:sp>
        <p:nvSpPr>
          <p:cNvPr id="3" name="Google Shape;92;p14">
            <a:extLst>
              <a:ext uri="{FF2B5EF4-FFF2-40B4-BE49-F238E27FC236}">
                <a16:creationId xmlns:a16="http://schemas.microsoft.com/office/drawing/2014/main" id="{0CAAF03A-431F-62AF-E606-EB5963645232}"/>
              </a:ext>
            </a:extLst>
          </p:cNvPr>
          <p:cNvSpPr txBox="1">
            <a:spLocks/>
          </p:cNvSpPr>
          <p:nvPr/>
        </p:nvSpPr>
        <p:spPr>
          <a:xfrm>
            <a:off x="355025" y="1017925"/>
            <a:ext cx="1535700" cy="733054"/>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800"/>
              <a:buFont typeface="Calibri"/>
              <a:buNone/>
              <a:defRPr sz="1800" b="0" i="0" u="none" strike="noStrike" cap="none">
                <a:solidFill>
                  <a:srgbClr val="000000"/>
                </a:solidFill>
                <a:latin typeface="Calibri"/>
                <a:ea typeface="Calibri"/>
                <a:cs typeface="Calibri"/>
                <a:sym typeface="Calibri"/>
              </a:defRPr>
            </a:lvl9pPr>
          </a:lstStyle>
          <a:p>
            <a:pPr marL="0" indent="0"/>
            <a:r>
              <a:rPr lang="en-US" sz="1100"/>
              <a:t>Estimation sur la période {{layoutStart}} – {{layoutEnd}} pour le {{layoutDocumentType}}</a:t>
            </a:r>
            <a:endParaRPr lang="en-US" sz="1100" i="1"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344"/>
        <p:cNvGrpSpPr/>
        <p:nvPr/>
      </p:nvGrpSpPr>
      <p:grpSpPr>
        <a:xfrm>
          <a:off x="0" y="0"/>
          <a:ext cx="0" cy="0"/>
          <a:chOff x="0" y="0"/>
          <a:chExt cx="0" cy="0"/>
        </a:xfrm>
      </p:grpSpPr>
      <p:sp>
        <p:nvSpPr>
          <p:cNvPr id="345" name="Google Shape;345;p41"/>
          <p:cNvSpPr txBox="1"/>
          <p:nvPr/>
        </p:nvSpPr>
        <p:spPr>
          <a:xfrm>
            <a:off x="967450" y="1909950"/>
            <a:ext cx="5401200" cy="1323600"/>
          </a:xfrm>
          <a:prstGeom prst="rect">
            <a:avLst/>
          </a:prstGeom>
          <a:no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chemeClr val="lt1"/>
              </a:buClr>
              <a:buSzPts val="4900"/>
              <a:buFont typeface="Arial"/>
              <a:buNone/>
            </a:pPr>
            <a:r>
              <a:rPr lang="en-US" sz="4000">
                <a:solidFill>
                  <a:schemeClr val="lt1"/>
                </a:solidFill>
              </a:rPr>
              <a:t>Pour aller plus loin</a:t>
            </a:r>
            <a:endParaRPr sz="4000" b="1">
              <a:solidFill>
                <a:schemeClr val="lt1"/>
              </a:solidFill>
            </a:endParaRPr>
          </a:p>
          <a:p>
            <a:pPr marL="0" marR="0" lvl="0" indent="0" algn="ctr" rtl="0">
              <a:lnSpc>
                <a:spcPct val="100000"/>
              </a:lnSpc>
              <a:spcBef>
                <a:spcPts val="0"/>
              </a:spcBef>
              <a:spcAft>
                <a:spcPts val="0"/>
              </a:spcAft>
              <a:buClr>
                <a:schemeClr val="lt1"/>
              </a:buClr>
              <a:buSzPts val="4900"/>
              <a:buFont typeface="Arial"/>
              <a:buNone/>
            </a:pPr>
            <a:r>
              <a:rPr lang="en-US" sz="4000" b="1">
                <a:solidFill>
                  <a:schemeClr val="lt1"/>
                </a:solidFill>
              </a:rPr>
              <a:t>otelo.beta.gouv.fr</a:t>
            </a:r>
            <a:endParaRPr sz="4000" b="1">
              <a:solidFill>
                <a:schemeClr val="lt1"/>
              </a:solidFill>
            </a:endParaRPr>
          </a:p>
        </p:txBody>
      </p:sp>
      <p:pic>
        <p:nvPicPr>
          <p:cNvPr id="346" name="Google Shape;346;p41" title="Capture d’écran 2025-07-30 à 12.09.36.png"/>
          <p:cNvPicPr preferRelativeResize="0"/>
          <p:nvPr/>
        </p:nvPicPr>
        <p:blipFill>
          <a:blip r:embed="rId3">
            <a:alphaModFix/>
          </a:blip>
          <a:stretch>
            <a:fillRect/>
          </a:stretch>
        </p:blipFill>
        <p:spPr>
          <a:xfrm>
            <a:off x="6518975" y="478063"/>
            <a:ext cx="2263800" cy="4187376"/>
          </a:xfrm>
          <a:prstGeom prst="rect">
            <a:avLst/>
          </a:prstGeom>
          <a:noFill/>
          <a:ln>
            <a:noFill/>
          </a:ln>
          <a:effectLst>
            <a:outerShdw blurRad="57150" dist="19050" dir="5400000" algn="bl" rotWithShape="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696AF5"/>
      </a:dk2>
      <a:lt2>
        <a:srgbClr val="000091"/>
      </a:lt2>
      <a:accent1>
        <a:srgbClr val="E1000F"/>
      </a:accent1>
      <a:accent2>
        <a:srgbClr val="5393FF"/>
      </a:accent2>
      <a:accent3>
        <a:srgbClr val="F1F2FF"/>
      </a:accent3>
      <a:accent4>
        <a:srgbClr val="CED1FF"/>
      </a:accent4>
      <a:accent5>
        <a:srgbClr val="434343"/>
      </a:accent5>
      <a:accent6>
        <a:srgbClr val="E0E0E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1960</Words>
  <Application>Microsoft Macintosh PowerPoint</Application>
  <PresentationFormat>On-screen Show (16:9)</PresentationFormat>
  <Paragraphs>307</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PowerPoint Presentation</vt:lpstr>
      <vt:lpstr>Ordre du jour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Microsoft Office User</cp:lastModifiedBy>
  <cp:revision>3</cp:revision>
  <dcterms:modified xsi:type="dcterms:W3CDTF">2025-10-13T13:00:35Z</dcterms:modified>
</cp:coreProperties>
</file>